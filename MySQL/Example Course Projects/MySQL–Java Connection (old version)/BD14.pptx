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8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7" r:id="rId41"/>
    <p:sldId id="298" r:id="rId42"/>
    <p:sldId id="303" r:id="rId43"/>
    <p:sldId id="304" r:id="rId44"/>
    <p:sldId id="305" r:id="rId45"/>
    <p:sldId id="299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01" r:id="rId56"/>
    <p:sldId id="302" r:id="rId57"/>
    <p:sldId id="300" r:id="rId58"/>
    <p:sldId id="318" r:id="rId59"/>
    <p:sldId id="319" r:id="rId60"/>
    <p:sldId id="320" r:id="rId61"/>
    <p:sldId id="321" r:id="rId62"/>
    <p:sldId id="330" r:id="rId63"/>
    <p:sldId id="322" r:id="rId64"/>
    <p:sldId id="323" r:id="rId65"/>
    <p:sldId id="324" r:id="rId66"/>
    <p:sldId id="325" r:id="rId67"/>
    <p:sldId id="332" r:id="rId68"/>
    <p:sldId id="333" r:id="rId69"/>
    <p:sldId id="334" r:id="rId70"/>
    <p:sldId id="331" r:id="rId71"/>
    <p:sldId id="326" r:id="rId72"/>
    <p:sldId id="327" r:id="rId73"/>
    <p:sldId id="328" r:id="rId74"/>
    <p:sldId id="329" r:id="rId75"/>
    <p:sldId id="296" r:id="rId76"/>
    <p:sldId id="315" r:id="rId77"/>
    <p:sldId id="316" r:id="rId78"/>
    <p:sldId id="317" r:id="rId79"/>
  </p:sldIdLst>
  <p:sldSz cx="9144000" cy="6858000" type="screen4x3"/>
  <p:notesSz cx="6858000" cy="9144000"/>
  <p:defaultTextStyle>
    <a:defPPr>
      <a:defRPr lang="bg-BG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-158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31748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 smtClean="0"/>
              <a:t>Click to edit Master text styles</a:t>
            </a:r>
          </a:p>
          <a:p>
            <a:pPr lvl="1"/>
            <a:r>
              <a:rPr lang="bg-BG" altLang="bg-BG" smtClean="0"/>
              <a:t>Second level</a:t>
            </a:r>
          </a:p>
          <a:p>
            <a:pPr lvl="2"/>
            <a:r>
              <a:rPr lang="bg-BG" altLang="bg-BG" smtClean="0"/>
              <a:t>Third level</a:t>
            </a:r>
          </a:p>
          <a:p>
            <a:pPr lvl="3"/>
            <a:r>
              <a:rPr lang="bg-BG" altLang="bg-BG" smtClean="0"/>
              <a:t>Fourth level</a:t>
            </a:r>
          </a:p>
          <a:p>
            <a:pPr lvl="4"/>
            <a:r>
              <a:rPr lang="bg-BG" altLang="bg-BG" smtClean="0"/>
              <a:t>Fifth level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4EDF0E7B-D2D5-4FBD-81AD-9488075941A1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6876580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34819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34820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184 w 5184"/>
                  <a:gd name="T3" fmla="*/ 3159 h 3159"/>
                  <a:gd name="T4" fmla="*/ 5184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4821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56 w 556"/>
                  <a:gd name="T5" fmla="*/ 3159 h 3159"/>
                  <a:gd name="T6" fmla="*/ 55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34822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4823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51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51 w 251"/>
                <a:gd name="T7" fmla="*/ 12 h 12"/>
                <a:gd name="T8" fmla="*/ 251 w 251"/>
                <a:gd name="T9" fmla="*/ 0 h 12"/>
                <a:gd name="T10" fmla="*/ 251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4824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251 w 251"/>
                <a:gd name="T5" fmla="*/ 12 h 12"/>
                <a:gd name="T6" fmla="*/ 251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grpSp>
          <p:nvGrpSpPr>
            <p:cNvPr id="34825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34826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4827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4828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4829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4830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4831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</p:grpSp>
      </p:grpSp>
      <p:sp>
        <p:nvSpPr>
          <p:cNvPr id="348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bg-BG" altLang="bg-BG" noProof="0" smtClean="0"/>
              <a:t>Click to edit Master title style</a:t>
            </a:r>
          </a:p>
        </p:txBody>
      </p:sp>
      <p:sp>
        <p:nvSpPr>
          <p:cNvPr id="348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bg-BG" altLang="bg-BG" noProof="0" smtClean="0"/>
              <a:t>Click to edit Master subtitle style</a:t>
            </a:r>
          </a:p>
        </p:txBody>
      </p:sp>
      <p:sp>
        <p:nvSpPr>
          <p:cNvPr id="34834" name="Rectangle 18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Д. Гоцева</a:t>
            </a:r>
          </a:p>
        </p:txBody>
      </p:sp>
      <p:sp>
        <p:nvSpPr>
          <p:cNvPr id="34835" name="Rectangle 19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/>
              <a:t>БД-лекции</a:t>
            </a:r>
          </a:p>
        </p:txBody>
      </p:sp>
      <p:sp>
        <p:nvSpPr>
          <p:cNvPr id="3483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BD085981-E621-4847-8BA3-B7C6D8C062F7}" type="slidenum">
              <a:rPr lang="bg-BG" altLang="bg-BG"/>
              <a:pPr/>
              <a:t>‹#›</a:t>
            </a:fld>
            <a:endParaRPr lang="bg-BG" altLang="bg-B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C09D0F-34E8-459A-945F-04C883227030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06009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3C41B6-814D-42E9-86A1-EE6B60F717CF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254617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B5D584-4E6B-49FC-B1F1-F930E076002D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662958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Д. Гоцева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БД-лекции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8E0434-4C7D-4E86-9356-6D3B2F7A9F47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827991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Д. Гоцева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БД-лекции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B5DCE0-24FA-4FEC-8AB4-09B3CB2752C2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03601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Д. Гоцева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БД-лекции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DFFA61-2CB8-4F44-A61A-D1FDAAE40A37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277005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3790C-0117-4303-905E-D439DD77E2B6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328399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E4768-B3D5-45FE-9F6A-4FBBE9BE81C8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477275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744182-7C0A-4F48-875B-BE63E1EA98DE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293586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8C7003-5853-48FF-9648-BCE0B67BD7F4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860808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75438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6800" y="4114800"/>
            <a:ext cx="75438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66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3B04D9C-8CA9-412D-A630-625604773BB8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755266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981200"/>
            <a:ext cx="75438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4114800"/>
            <a:ext cx="75438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66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6B138F0-A987-4821-A2A9-8792E852CF68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405360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33795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184 w 5184"/>
                <a:gd name="T3" fmla="*/ 3159 h 3159"/>
                <a:gd name="T4" fmla="*/ 5184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3796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56 w 556"/>
                <a:gd name="T5" fmla="*/ 3159 h 3159"/>
                <a:gd name="T6" fmla="*/ 55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grpSp>
          <p:nvGrpSpPr>
            <p:cNvPr id="33797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33798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3799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3800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3801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3802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3803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3804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251 w 251"/>
                  <a:gd name="T5" fmla="*/ 12 h 12"/>
                  <a:gd name="T6" fmla="*/ 251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3805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51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51 w 251"/>
                  <a:gd name="T7" fmla="*/ 12 h 12"/>
                  <a:gd name="T8" fmla="*/ 251 w 251"/>
                  <a:gd name="T9" fmla="*/ 0 h 12"/>
                  <a:gd name="T10" fmla="*/ 251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3806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</p:grpSp>
      </p:grpSp>
      <p:sp>
        <p:nvSpPr>
          <p:cNvPr id="338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 smtClean="0"/>
              <a:t>Click to edit Master title style</a:t>
            </a:r>
          </a:p>
        </p:txBody>
      </p:sp>
      <p:sp>
        <p:nvSpPr>
          <p:cNvPr id="338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 smtClean="0"/>
              <a:t>Click to edit Master text styles</a:t>
            </a:r>
          </a:p>
          <a:p>
            <a:pPr lvl="1"/>
            <a:r>
              <a:rPr lang="bg-BG" altLang="bg-BG" smtClean="0"/>
              <a:t>Second level</a:t>
            </a:r>
          </a:p>
          <a:p>
            <a:pPr lvl="2"/>
            <a:r>
              <a:rPr lang="bg-BG" altLang="bg-BG" smtClean="0"/>
              <a:t>Third level</a:t>
            </a:r>
          </a:p>
          <a:p>
            <a:pPr lvl="3"/>
            <a:r>
              <a:rPr lang="bg-BG" altLang="bg-BG" smtClean="0"/>
              <a:t>Fourth level</a:t>
            </a:r>
          </a:p>
          <a:p>
            <a:pPr lvl="4"/>
            <a:r>
              <a:rPr lang="bg-BG" altLang="bg-BG" smtClean="0"/>
              <a:t>Fifth level</a:t>
            </a:r>
          </a:p>
        </p:txBody>
      </p:sp>
      <p:sp>
        <p:nvSpPr>
          <p:cNvPr id="338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bg-BG" altLang="bg-BG"/>
              <a:t>Д. Гоцева</a:t>
            </a:r>
          </a:p>
        </p:txBody>
      </p:sp>
      <p:sp>
        <p:nvSpPr>
          <p:cNvPr id="338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bg-BG" altLang="bg-BG"/>
              <a:t>БД-лекции</a:t>
            </a:r>
          </a:p>
        </p:txBody>
      </p:sp>
      <p:sp>
        <p:nvSpPr>
          <p:cNvPr id="338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AB1C2BCA-F982-424C-B593-547CEDC9FEB3}" type="slidenum">
              <a:rPr lang="bg-BG" altLang="bg-BG"/>
              <a:pPr/>
              <a:t>‹#›</a:t>
            </a:fld>
            <a:endParaRPr lang="bg-BG" altLang="bg-BG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dgotseva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ysql.com/products/connector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java.sun.com/j2se/1.4.2/docs/api/java/sql/Connection.html#TRANSACTION_READ_COMMITTED" TargetMode="External"/><Relationship Id="rId2" Type="http://schemas.openxmlformats.org/officeDocument/2006/relationships/hyperlink" Target="http://java.sun.com/j2se/1.4.2/docs/api/java/sql/Connection.html#TRANSACTION_NONE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java.sun.com/j2se/1.4.2/docs/api/java/sql/Connection.html#TRANSACTION_REPEATABLE_READ" TargetMode="External"/><Relationship Id="rId2" Type="http://schemas.openxmlformats.org/officeDocument/2006/relationships/hyperlink" Target="http://java.sun.com/j2se/1.4.2/docs/api/java/sql/Connection.html#TRANSACTION_READ_UNCOMMITTED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java.sun.com/j2se/1.4.2/docs/api/java/sql/Connection.html#TRANSACTION_SERIALIZABLE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pox.org/docs/1_2/jpa/sql.html" TargetMode="External"/><Relationship Id="rId2" Type="http://schemas.openxmlformats.org/officeDocument/2006/relationships/hyperlink" Target="http://www.jpox.org/docs/1_2/jpa/jpql.html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pox.org/docs/1_2/jpa/named_query.html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89FAC564-03D8-409E-8CEA-A7CEE2781A1F}" type="slidenum">
              <a:rPr lang="bg-BG" altLang="bg-BG"/>
              <a:pPr/>
              <a:t>1</a:t>
            </a:fld>
            <a:endParaRPr lang="bg-BG" altLang="bg-BG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bg-BG" altLang="bg-BG"/>
              <a:t>JDBC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altLang="bg-BG"/>
              <a:t>Доц. Д-р Даниела Гоцева</a:t>
            </a:r>
          </a:p>
          <a:p>
            <a:r>
              <a:rPr lang="en-US" altLang="bg-BG">
                <a:hlinkClick r:id="rId2"/>
              </a:rPr>
              <a:t>http://dgotseva.com</a:t>
            </a:r>
            <a:r>
              <a:rPr lang="en-US" altLang="bg-BG"/>
              <a:t> </a:t>
            </a:r>
            <a:endParaRPr lang="bg-BG" altLang="bg-B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293A3-7824-4A24-BAE9-BAFEA4124387}" type="slidenum">
              <a:rPr lang="bg-BG" altLang="bg-BG"/>
              <a:pPr/>
              <a:t>2</a:t>
            </a:fld>
            <a:endParaRPr lang="bg-BG" altLang="bg-BG"/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Въведение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 sz="2800"/>
              <a:t>JDBC API е Java API създадено да достъпва произволни таблични данни, особено данни, съхранени в релационни БД. </a:t>
            </a:r>
          </a:p>
          <a:p>
            <a:pPr>
              <a:lnSpc>
                <a:spcPct val="90000"/>
              </a:lnSpc>
            </a:pPr>
            <a:r>
              <a:rPr lang="bg-BG" altLang="bg-BG" sz="2800"/>
              <a:t>JDBC подпомага създаването на приложения на java в:</a:t>
            </a:r>
          </a:p>
          <a:p>
            <a:pPr lvl="1">
              <a:lnSpc>
                <a:spcPct val="90000"/>
              </a:lnSpc>
            </a:pPr>
            <a:r>
              <a:rPr lang="bg-BG" altLang="bg-BG" sz="2400"/>
              <a:t>Свързване с източник на данни (database)</a:t>
            </a:r>
          </a:p>
          <a:p>
            <a:pPr lvl="1">
              <a:lnSpc>
                <a:spcPct val="90000"/>
              </a:lnSpc>
            </a:pPr>
            <a:r>
              <a:rPr lang="bg-BG" altLang="bg-BG" sz="2400"/>
              <a:t>Изпращане на заявки и update на БД</a:t>
            </a:r>
          </a:p>
          <a:p>
            <a:pPr lvl="1">
              <a:lnSpc>
                <a:spcPct val="90000"/>
              </a:lnSpc>
            </a:pPr>
            <a:r>
              <a:rPr lang="bg-BG" altLang="bg-BG" sz="2400"/>
              <a:t>Извличане и обработка на резултатите от заявките към БД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73251-1CFD-4F1C-B826-FE9CF3D5EB8E}" type="slidenum">
              <a:rPr lang="bg-BG" altLang="bg-BG"/>
              <a:pPr/>
              <a:t>3</a:t>
            </a:fld>
            <a:endParaRPr lang="bg-BG" altLang="bg-BG"/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Въведение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Пример</a:t>
            </a:r>
          </a:p>
        </p:txBody>
      </p:sp>
      <p:pic>
        <p:nvPicPr>
          <p:cNvPr id="1914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708275"/>
            <a:ext cx="8243887" cy="277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6E7E1-6E34-4B8C-8433-BF6372BAB907}" type="slidenum">
              <a:rPr lang="bg-BG" altLang="bg-BG"/>
              <a:pPr/>
              <a:t>4</a:t>
            </a:fld>
            <a:endParaRPr lang="bg-BG" altLang="bg-BG"/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JDBC компоненти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bg-BG" altLang="bg-BG" sz="2400" b="1"/>
              <a:t>JDBC API — </a:t>
            </a:r>
            <a:r>
              <a:rPr lang="bg-BG" altLang="bg-BG" sz="2400"/>
              <a:t> </a:t>
            </a:r>
            <a:br>
              <a:rPr lang="bg-BG" altLang="bg-BG" sz="2400"/>
            </a:br>
            <a:r>
              <a:rPr lang="bg-BG" altLang="bg-BG" sz="2400"/>
              <a:t/>
            </a:r>
            <a:br>
              <a:rPr lang="bg-BG" altLang="bg-BG" sz="2400"/>
            </a:br>
            <a:r>
              <a:rPr lang="bg-BG" altLang="bg-BG" sz="2400"/>
              <a:t>JDBC™ API предоставя достъп до релационни данни в Java™. </a:t>
            </a:r>
            <a:br>
              <a:rPr lang="bg-BG" altLang="bg-BG" sz="2400"/>
            </a:br>
            <a:r>
              <a:rPr lang="bg-BG" altLang="bg-BG" sz="2400"/>
              <a:t/>
            </a:r>
            <a:br>
              <a:rPr lang="bg-BG" altLang="bg-BG" sz="2400"/>
            </a:br>
            <a:r>
              <a:rPr lang="bg-BG" altLang="bg-BG" sz="2400"/>
              <a:t>JDBC API е част от Java platform, която включва </a:t>
            </a:r>
            <a:r>
              <a:rPr lang="bg-BG" altLang="bg-BG" sz="2400" i="1"/>
              <a:t>Java™ Standard Edition</a:t>
            </a:r>
            <a:r>
              <a:rPr lang="bg-BG" altLang="bg-BG" sz="2400"/>
              <a:t> (Java™ SE ) и </a:t>
            </a:r>
            <a:r>
              <a:rPr lang="bg-BG" altLang="bg-BG" sz="2400" i="1"/>
              <a:t>Java™ Enterprise Edition</a:t>
            </a:r>
            <a:r>
              <a:rPr lang="bg-BG" altLang="bg-BG" sz="2400"/>
              <a:t> (Java™ EE). JDBC 4.0 API се дели на 2 пакета: java.sql и javax.sql. И двата пакета са включени в Java SE и Java EE platforms.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B2988-9A1E-422A-AD02-D2A998F77038}" type="slidenum">
              <a:rPr lang="bg-BG" altLang="bg-BG"/>
              <a:pPr/>
              <a:t>5</a:t>
            </a:fld>
            <a:endParaRPr lang="bg-BG" altLang="bg-BG"/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JDBC компоненти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bg-BG" altLang="bg-BG" sz="2400" b="1"/>
              <a:t>JDBC Driver Manager — </a:t>
            </a:r>
            <a:r>
              <a:rPr lang="bg-BG" altLang="bg-BG" sz="2400"/>
              <a:t> </a:t>
            </a:r>
            <a:br>
              <a:rPr lang="bg-BG" altLang="bg-BG" sz="2400"/>
            </a:br>
            <a:r>
              <a:rPr lang="bg-BG" altLang="bg-BG" sz="2400"/>
              <a:t/>
            </a:r>
            <a:br>
              <a:rPr lang="bg-BG" altLang="bg-BG" sz="2400"/>
            </a:br>
            <a:r>
              <a:rPr lang="bg-BG" altLang="bg-BG" sz="2400"/>
              <a:t>Класът JDBC DriverManager дефинира обектите, които могат да свържат Java приложение към JDBC driver. </a:t>
            </a:r>
            <a:br>
              <a:rPr lang="bg-BG" altLang="bg-BG" sz="2400"/>
            </a:br>
            <a:r>
              <a:rPr lang="bg-BG" altLang="bg-BG" sz="2400"/>
              <a:t/>
            </a:r>
            <a:br>
              <a:rPr lang="bg-BG" altLang="bg-BG" sz="2400"/>
            </a:br>
            <a:r>
              <a:rPr lang="bg-BG" altLang="bg-BG" sz="2400"/>
              <a:t>Пакетите javax.naming и javax.sql позволяват да се ползва DataSource object през </a:t>
            </a:r>
            <a:r>
              <a:rPr lang="bg-BG" altLang="bg-BG" sz="2400" i="1"/>
              <a:t>Java Naming and Directory Interface</a:t>
            </a:r>
            <a:r>
              <a:rPr lang="bg-BG" altLang="bg-BG" sz="2400"/>
              <a:t>™ (JNDI) услуга за връзка с data source. Препоръчва се използването на DataSource object пред стандартния механизъм за връзка.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D51A3-FB40-44EE-89D4-B09CCB516B92}" type="slidenum">
              <a:rPr lang="bg-BG" altLang="bg-BG"/>
              <a:pPr/>
              <a:t>6</a:t>
            </a:fld>
            <a:endParaRPr lang="bg-BG" altLang="bg-BG"/>
          </a:p>
        </p:txBody>
      </p:sp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JDBC компоненти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 b="1"/>
              <a:t>JDBC Test Suite  — </a:t>
            </a:r>
            <a:r>
              <a:rPr lang="bg-BG" altLang="bg-BG"/>
              <a:t> </a:t>
            </a:r>
            <a:br>
              <a:rPr lang="bg-BG" altLang="bg-BG"/>
            </a:br>
            <a:r>
              <a:rPr lang="bg-BG" altLang="bg-BG"/>
              <a:t/>
            </a:r>
            <a:br>
              <a:rPr lang="bg-BG" altLang="bg-BG"/>
            </a:br>
            <a:r>
              <a:rPr lang="bg-BG" altLang="bg-BG"/>
              <a:t>JDBC driver test suite подпомага определянето на какви JDBC drivers ще ползва приложната програма.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5D985-5556-47AA-8B8F-1709A72A544C}" type="slidenum">
              <a:rPr lang="bg-BG" altLang="bg-BG"/>
              <a:pPr/>
              <a:t>7</a:t>
            </a:fld>
            <a:endParaRPr lang="bg-BG" altLang="bg-BG"/>
          </a:p>
        </p:txBody>
      </p:sp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JDBC компоненти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bg-BG" altLang="bg-BG" sz="2800" b="1"/>
              <a:t>JDBC-ODBC Bridge — </a:t>
            </a:r>
            <a:r>
              <a:rPr lang="bg-BG" altLang="bg-BG" sz="2800"/>
              <a:t> </a:t>
            </a:r>
            <a:br>
              <a:rPr lang="bg-BG" altLang="bg-BG" sz="2800"/>
            </a:br>
            <a:r>
              <a:rPr lang="bg-BG" altLang="bg-BG" sz="2800"/>
              <a:t/>
            </a:r>
            <a:br>
              <a:rPr lang="bg-BG" altLang="bg-BG" sz="2800"/>
            </a:br>
            <a:r>
              <a:rPr lang="bg-BG" altLang="bg-BG" sz="2800"/>
              <a:t>Java Software bridge предоставя JDBC достъп през ODBC drivers. Необходимо е да се зареди ODBC binary code на всяка клиентска машина, ползваща този driver. В резултат ODBC driver е най-подходящ при корпоративни мрежи, където инсталацията на клиентски софтуер не е голям проблем или при сървърни приложения в Java three-tier architecture.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B3103-F976-4D6B-8A0C-DD76EE81F170}" type="slidenum">
              <a:rPr lang="bg-BG" altLang="bg-BG"/>
              <a:pPr/>
              <a:t>8</a:t>
            </a:fld>
            <a:endParaRPr lang="bg-BG" altLang="bg-BG"/>
          </a:p>
        </p:txBody>
      </p:sp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JDBC Architecture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 b="1" i="1"/>
              <a:t>Two-tier Architecture for Data Access</a:t>
            </a:r>
            <a:r>
              <a:rPr lang="bg-BG" altLang="bg-BG"/>
              <a:t> </a:t>
            </a:r>
          </a:p>
        </p:txBody>
      </p:sp>
      <p:pic>
        <p:nvPicPr>
          <p:cNvPr id="1966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997200"/>
            <a:ext cx="5949950" cy="272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21EA-4249-4BDD-8775-0C0C28F8F741}" type="slidenum">
              <a:rPr lang="bg-BG" altLang="bg-BG"/>
              <a:pPr/>
              <a:t>9</a:t>
            </a:fld>
            <a:endParaRPr lang="bg-BG" altLang="bg-BG"/>
          </a:p>
        </p:txBody>
      </p:sp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JDBC Architecture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 b="1" i="1"/>
              <a:t>T</a:t>
            </a:r>
            <a:r>
              <a:rPr lang="en-US" altLang="bg-BG" b="1" i="1"/>
              <a:t>hree</a:t>
            </a:r>
            <a:r>
              <a:rPr lang="bg-BG" altLang="bg-BG" b="1" i="1"/>
              <a:t>-tier Architecture for Data Access</a:t>
            </a:r>
            <a:r>
              <a:rPr lang="bg-BG" altLang="bg-BG"/>
              <a:t> </a:t>
            </a:r>
          </a:p>
        </p:txBody>
      </p:sp>
      <p:pic>
        <p:nvPicPr>
          <p:cNvPr id="1976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2708275"/>
            <a:ext cx="5472113" cy="354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E5DC7-0D65-47C4-86FA-04A379FACC17}" type="slidenum">
              <a:rPr lang="bg-BG" altLang="bg-BG"/>
              <a:pPr/>
              <a:t>10</a:t>
            </a:fld>
            <a:endParaRPr lang="bg-BG" altLang="bg-BG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Свързване с </a:t>
            </a:r>
            <a:r>
              <a:rPr lang="en-US" altLang="bg-BG"/>
              <a:t>MySQL</a:t>
            </a:r>
            <a:endParaRPr lang="bg-BG" altLang="bg-BG"/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/>
              <a:t>Изтегля се </a:t>
            </a:r>
            <a:r>
              <a:rPr lang="en-US" altLang="bg-BG"/>
              <a:t>connector/j </a:t>
            </a:r>
            <a:r>
              <a:rPr lang="bg-BG" altLang="bg-BG"/>
              <a:t>от </a:t>
            </a:r>
            <a:r>
              <a:rPr lang="bg-BG" altLang="bg-BG">
                <a:hlinkClick r:id="rId2"/>
              </a:rPr>
              <a:t>http://www.mysql.com/products/connector/</a:t>
            </a:r>
            <a:r>
              <a:rPr lang="bg-BG" altLang="bg-BG"/>
              <a:t>.</a:t>
            </a:r>
          </a:p>
          <a:p>
            <a:pPr>
              <a:lnSpc>
                <a:spcPct val="90000"/>
              </a:lnSpc>
            </a:pPr>
            <a:r>
              <a:rPr lang="bg-BG" altLang="bg-BG"/>
              <a:t>Разархивира се в </a:t>
            </a:r>
            <a:r>
              <a:rPr lang="en-US" altLang="bg-BG"/>
              <a:t>DIR</a:t>
            </a:r>
            <a:r>
              <a:rPr lang="bg-BG" altLang="bg-BG"/>
              <a:t> и се задава пътя към </a:t>
            </a:r>
            <a:r>
              <a:rPr lang="en-US" altLang="bg-BG"/>
              <a:t>DIR</a:t>
            </a:r>
            <a:r>
              <a:rPr lang="bg-BG" altLang="bg-BG"/>
              <a:t> в </a:t>
            </a:r>
            <a:r>
              <a:rPr lang="en-US" altLang="bg-BG"/>
              <a:t>CLASSPATH.</a:t>
            </a:r>
          </a:p>
          <a:p>
            <a:pPr>
              <a:lnSpc>
                <a:spcPct val="90000"/>
              </a:lnSpc>
            </a:pPr>
            <a:r>
              <a:rPr lang="bg-BG" altLang="bg-BG"/>
              <a:t>За тестване в среда </a:t>
            </a:r>
            <a:r>
              <a:rPr lang="en-US" altLang="bg-BG"/>
              <a:t>Eclipse</a:t>
            </a:r>
            <a:r>
              <a:rPr lang="bg-BG" altLang="bg-BG"/>
              <a:t> се добавя </a:t>
            </a:r>
            <a:r>
              <a:rPr lang="en-US" altLang="bg-BG"/>
              <a:t>jar</a:t>
            </a:r>
            <a:r>
              <a:rPr lang="bg-BG" altLang="bg-BG"/>
              <a:t>-а или се задава </a:t>
            </a:r>
            <a:r>
              <a:rPr lang="en-US" altLang="bg-BG"/>
              <a:t>CLASSPATH </a:t>
            </a:r>
            <a:r>
              <a:rPr lang="bg-BG" altLang="bg-BG"/>
              <a:t>на проекта.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1D736-B74C-4590-BE03-8779BC14C65A}" type="slidenum">
              <a:rPr lang="bg-BG" altLang="bg-BG"/>
              <a:pPr/>
              <a:t>11</a:t>
            </a:fld>
            <a:endParaRPr lang="bg-BG" altLang="bg-BG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Обработка на </a:t>
            </a:r>
            <a:r>
              <a:rPr lang="en-US" altLang="bg-BG"/>
              <a:t>ResultSet</a:t>
            </a:r>
            <a:endParaRPr lang="bg-BG" altLang="bg-BG"/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ResultSet </a:t>
            </a:r>
            <a:r>
              <a:rPr lang="en-US" altLang="bg-BG"/>
              <a:t>e </a:t>
            </a:r>
            <a:r>
              <a:rPr lang="bg-BG" altLang="bg-BG"/>
              <a:t>interface</a:t>
            </a:r>
            <a:r>
              <a:rPr lang="en-US" altLang="bg-BG"/>
              <a:t>, </a:t>
            </a:r>
            <a:r>
              <a:rPr lang="bg-BG" altLang="bg-BG"/>
              <a:t>предоставящ методи за извличане и обработка на резултати от заявки към БД. Обектите ResultSet имат различни характеристики и функционалност.</a:t>
            </a:r>
          </a:p>
          <a:p>
            <a:r>
              <a:rPr lang="bg-BG" altLang="bg-BG"/>
              <a:t>Характеристиките включват тип на result set, вид на result set и cursor holdability.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B855-C43F-41F1-9357-20FA7FB01801}" type="slidenum">
              <a:rPr lang="bg-BG" altLang="bg-BG"/>
              <a:pPr/>
              <a:t>12</a:t>
            </a:fld>
            <a:endParaRPr lang="bg-BG" altLang="bg-BG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Типове </a:t>
            </a:r>
            <a:r>
              <a:rPr lang="bg-BG" altLang="bg-BG" b="0"/>
              <a:t>ResultSet</a:t>
            </a:r>
            <a:r>
              <a:rPr lang="bg-BG" altLang="bg-BG"/>
              <a:t> 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bg-BG" altLang="bg-BG" sz="2400"/>
              <a:t>TYPE_FORWARD_ONLY — result set не се скролира; курсорът се мести само напред. </a:t>
            </a:r>
          </a:p>
          <a:p>
            <a:pPr marL="609600" indent="-609600">
              <a:lnSpc>
                <a:spcPct val="80000"/>
              </a:lnSpc>
            </a:pPr>
            <a:r>
              <a:rPr lang="bg-BG" altLang="bg-BG" sz="2400"/>
              <a:t>TYPE_SCROLL_INSENSITIVE — result set се скролира; курсорът му се мести в двете посоки, както и може да бъде преместен на абсолютна позиция.</a:t>
            </a:r>
            <a:r>
              <a:rPr lang="en-US" altLang="bg-BG" sz="2400"/>
              <a:t> </a:t>
            </a:r>
            <a:r>
              <a:rPr lang="bg-BG" altLang="bg-BG" sz="2400"/>
              <a:t>Промените на останалите потребители са невидими за курсора.</a:t>
            </a:r>
          </a:p>
          <a:p>
            <a:pPr marL="609600" indent="-609600">
              <a:lnSpc>
                <a:spcPct val="80000"/>
              </a:lnSpc>
            </a:pPr>
            <a:r>
              <a:rPr lang="bg-BG" altLang="bg-BG" sz="2400"/>
              <a:t>TYPE_SCROLL_SENSITIVE — result set се скролира; курсорът може да се мести в двете посоки спрямо текущата позиция и на абсолютна позиция. Промените на останалите потребители са видими за курсора.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08D1B-FACE-4B80-BA5C-0D58F0FB7E22}" type="slidenum">
              <a:rPr lang="bg-BG" altLang="bg-BG"/>
              <a:pPr/>
              <a:t>13</a:t>
            </a:fld>
            <a:endParaRPr lang="bg-BG" altLang="bg-BG"/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Вид на </a:t>
            </a:r>
            <a:r>
              <a:rPr lang="en-US" altLang="bg-BG"/>
              <a:t>ResultSet</a:t>
            </a:r>
            <a:endParaRPr lang="bg-BG" altLang="bg-BG"/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Различаваме 2 вида, според това дали е само за четене или за актуализация:</a:t>
            </a:r>
          </a:p>
          <a:p>
            <a:pPr lvl="1"/>
            <a:r>
              <a:rPr lang="bg-BG" altLang="bg-BG"/>
              <a:t>CONCUR_READ_ONLY - само за четене</a:t>
            </a:r>
          </a:p>
          <a:p>
            <a:pPr lvl="1"/>
            <a:r>
              <a:rPr lang="bg-BG" altLang="bg-BG"/>
              <a:t>CONCUR_UPDATABLE – за актуализация</a:t>
            </a:r>
          </a:p>
          <a:p>
            <a:endParaRPr lang="bg-BG" altLang="bg-BG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73BE-4FFE-46EB-A594-133982B02ED9}" type="slidenum">
              <a:rPr lang="bg-BG" altLang="bg-BG"/>
              <a:pPr/>
              <a:t>14</a:t>
            </a:fld>
            <a:endParaRPr lang="bg-BG" altLang="bg-BG"/>
          </a:p>
        </p:txBody>
      </p:sp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cursor holdability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Показва какво се случва с курсора при операция </a:t>
            </a:r>
            <a:r>
              <a:rPr lang="en-US" altLang="bg-BG"/>
              <a:t>commit:</a:t>
            </a:r>
          </a:p>
          <a:p>
            <a:pPr lvl="1"/>
            <a:r>
              <a:rPr lang="bg-BG" altLang="bg-BG"/>
              <a:t>HOLD_CURSORS_OVER_COMMIT </a:t>
            </a:r>
          </a:p>
          <a:p>
            <a:pPr lvl="1"/>
            <a:r>
              <a:rPr lang="bg-BG" altLang="bg-BG"/>
              <a:t>CLOSE_CURSORS_AT_COMMIT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6653-2D33-4DDB-AA01-E0E4E5999F9A}" type="slidenum">
              <a:rPr lang="bg-BG" altLang="bg-BG"/>
              <a:pPr/>
              <a:t>15</a:t>
            </a:fld>
            <a:endParaRPr lang="bg-BG" altLang="bg-BG"/>
          </a:p>
        </p:txBody>
      </p:sp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Използване на </a:t>
            </a:r>
            <a:r>
              <a:rPr lang="en-US" altLang="bg-BG"/>
              <a:t>ResultSet</a:t>
            </a:r>
            <a:endParaRPr lang="bg-BG" altLang="bg-BG"/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bg-BG" sz="2800"/>
              <a:t>ResultSet </a:t>
            </a:r>
            <a:r>
              <a:rPr lang="bg-BG" altLang="bg-BG" sz="2800"/>
              <a:t>се връща позициониран преди първия запис!</a:t>
            </a:r>
          </a:p>
          <a:p>
            <a:r>
              <a:rPr lang="bg-BG" altLang="bg-BG" sz="2800"/>
              <a:t>next() - връща false ако курсора се позиционира след последния ред.</a:t>
            </a:r>
          </a:p>
          <a:p>
            <a:r>
              <a:rPr lang="bg-BG" altLang="bg-BG" sz="2800"/>
              <a:t>previous() - връща false ако курсора се позиционира преди първия ред.</a:t>
            </a:r>
          </a:p>
          <a:p>
            <a:r>
              <a:rPr lang="bg-BG" altLang="bg-BG" sz="2800"/>
              <a:t>first() - връща false ако ResultSet е празен.</a:t>
            </a:r>
          </a:p>
          <a:p>
            <a:r>
              <a:rPr lang="bg-BG" altLang="bg-BG" sz="2800"/>
              <a:t>last() - връща false ако ResultSet е празен.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D04D-6BFA-455B-8036-C42C97CBBB89}" type="slidenum">
              <a:rPr lang="bg-BG" altLang="bg-BG"/>
              <a:pPr/>
              <a:t>16</a:t>
            </a:fld>
            <a:endParaRPr lang="bg-BG" altLang="bg-BG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Използване на </a:t>
            </a:r>
            <a:r>
              <a:rPr lang="en-US" altLang="bg-BG"/>
              <a:t>ResultSet</a:t>
            </a:r>
            <a:endParaRPr lang="bg-BG" altLang="bg-BG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 sz="2800"/>
              <a:t>beforeFirst() - ако ResultSet е празен, методът няма ефект.</a:t>
            </a:r>
          </a:p>
          <a:p>
            <a:pPr>
              <a:lnSpc>
                <a:spcPct val="90000"/>
              </a:lnSpc>
            </a:pPr>
            <a:r>
              <a:rPr lang="bg-BG" altLang="bg-BG" sz="2800"/>
              <a:t>afterLast() - ако ResultSet е празен, методът няма ефект.</a:t>
            </a:r>
          </a:p>
          <a:p>
            <a:pPr>
              <a:lnSpc>
                <a:spcPct val="90000"/>
              </a:lnSpc>
            </a:pPr>
            <a:r>
              <a:rPr lang="bg-BG" altLang="bg-BG" sz="2800"/>
              <a:t>relative(int rows) – относително преместване спрямо текущата позиция.</a:t>
            </a:r>
          </a:p>
          <a:p>
            <a:pPr>
              <a:lnSpc>
                <a:spcPct val="90000"/>
              </a:lnSpc>
            </a:pPr>
            <a:r>
              <a:rPr lang="bg-BG" altLang="bg-BG" sz="2800"/>
              <a:t>absolute(int row)</a:t>
            </a:r>
            <a:r>
              <a:rPr lang="en-US" altLang="bg-BG" sz="2800"/>
              <a:t> – </a:t>
            </a:r>
            <a:r>
              <a:rPr lang="bg-BG" altLang="bg-BG" sz="2800"/>
              <a:t>ако </a:t>
            </a:r>
            <a:r>
              <a:rPr lang="en-US" altLang="bg-BG" sz="2800"/>
              <a:t>row</a:t>
            </a:r>
            <a:r>
              <a:rPr lang="bg-BG" altLang="bg-BG" sz="2800"/>
              <a:t> е -1, то се преместваме на последния запис, а ако е 1 – на първия.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0FF6-E935-48A9-8051-1F4926CFE381}" type="slidenum">
              <a:rPr lang="bg-BG" altLang="bg-BG"/>
              <a:pPr/>
              <a:t>17</a:t>
            </a:fld>
            <a:endParaRPr lang="bg-BG" altLang="bg-BG"/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Използване на </a:t>
            </a:r>
            <a:r>
              <a:rPr lang="en-US" altLang="bg-BG"/>
              <a:t>getXXX()</a:t>
            </a:r>
            <a:endParaRPr lang="bg-BG" altLang="bg-BG"/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 sz="2800"/>
              <a:t>Интерфейсът ResultSet декларира getter methods (getBoolean, getLong, и т.н.) за извличане на стойността на полетата в текущия запис. Полетата могат да се достъпват по индекс или име.</a:t>
            </a:r>
          </a:p>
          <a:p>
            <a:r>
              <a:rPr lang="bg-BG" altLang="bg-BG" sz="2800"/>
              <a:t>Използването на индекси е по ефективно. Номерацията започва от 1 отляво надясно. Всяка колона може да се прочете само веднъж.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BC7D-2E7E-470D-8EDA-71A79DA5AD8B}" type="slidenum">
              <a:rPr lang="bg-BG" altLang="bg-BG"/>
              <a:pPr/>
              <a:t>18</a:t>
            </a:fld>
            <a:endParaRPr lang="bg-BG" altLang="bg-BG"/>
          </a:p>
        </p:txBody>
      </p:sp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Използване на </a:t>
            </a:r>
            <a:r>
              <a:rPr lang="en-US" altLang="bg-BG"/>
              <a:t>getXXX()</a:t>
            </a:r>
            <a:endParaRPr lang="bg-BG" altLang="bg-BG"/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 sz="2800"/>
              <a:t>Имената на колоните са case insensitive. Ако има дублиране на имената, се връща стойността на първото съвпадение.</a:t>
            </a:r>
          </a:p>
          <a:p>
            <a:pPr>
              <a:lnSpc>
                <a:spcPct val="90000"/>
              </a:lnSpc>
            </a:pPr>
            <a:r>
              <a:rPr lang="bg-BG" altLang="bg-BG" sz="2800"/>
              <a:t>За колони, които не са именовани в заявката (напр. агрегатни колони), най-добре е да се ползват индекси. Програмистът поема гаранция, че имената на колоните са уникални. В такива случаи е добре да се ползва SQL AS clause.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86CF3-6862-4454-88EE-2590B003129E}" type="slidenum">
              <a:rPr lang="bg-BG" altLang="bg-BG"/>
              <a:pPr/>
              <a:t>19</a:t>
            </a:fld>
            <a:endParaRPr lang="bg-BG" altLang="bg-BG"/>
          </a:p>
        </p:txBody>
      </p:sp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Типово съответствие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altLang="bg-BG"/>
          </a:p>
        </p:txBody>
      </p:sp>
      <p:pic>
        <p:nvPicPr>
          <p:cNvPr id="2089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00" y="2438400"/>
            <a:ext cx="92202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754F3-184D-4C02-BE43-C7E27930EF2B}" type="slidenum">
              <a:rPr lang="bg-BG" altLang="bg-BG"/>
              <a:pPr/>
              <a:t>20</a:t>
            </a:fld>
            <a:endParaRPr lang="bg-BG" altLang="bg-BG"/>
          </a:p>
        </p:txBody>
      </p:sp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/>
              <a:t>Encoding</a:t>
            </a:r>
            <a:br>
              <a:rPr lang="en-US" altLang="bg-BG"/>
            </a:br>
            <a:endParaRPr lang="bg-BG" altLang="bg-BG"/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altLang="bg-BG"/>
          </a:p>
        </p:txBody>
      </p:sp>
      <p:pic>
        <p:nvPicPr>
          <p:cNvPr id="2099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1000125"/>
            <a:ext cx="9077325" cy="585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236FA-481D-4720-99E3-C9AA038B1437}" type="slidenum">
              <a:rPr lang="bg-BG" altLang="bg-BG"/>
              <a:pPr/>
              <a:t>21</a:t>
            </a:fld>
            <a:endParaRPr lang="bg-BG" altLang="bg-BG"/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Актуализация на запис от </a:t>
            </a:r>
            <a:r>
              <a:rPr lang="en-US" altLang="bg-BG"/>
              <a:t>ResultSet</a:t>
            </a:r>
            <a:endParaRPr lang="bg-BG" altLang="bg-BG"/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 sz="2800"/>
              <a:t>Актуализацията на запис от ResultSet object е двустъпков процес. </a:t>
            </a:r>
          </a:p>
          <a:p>
            <a:pPr lvl="1"/>
            <a:r>
              <a:rPr lang="bg-BG" altLang="bg-BG" sz="2400"/>
              <a:t>Задава се нова стойност на всяка колона в </a:t>
            </a:r>
            <a:r>
              <a:rPr lang="en-US" altLang="bg-BG" sz="2400"/>
              <a:t>ResultSet</a:t>
            </a:r>
            <a:r>
              <a:rPr lang="bg-BG" altLang="bg-BG" sz="2400"/>
              <a:t>-а посредством методите update</a:t>
            </a:r>
            <a:r>
              <a:rPr lang="bg-BG" altLang="bg-BG" sz="2400" i="1"/>
              <a:t>XXX</a:t>
            </a:r>
            <a:r>
              <a:rPr lang="bg-BG" altLang="bg-BG" sz="2400"/>
              <a:t> . </a:t>
            </a:r>
          </a:p>
          <a:p>
            <a:pPr lvl="1"/>
            <a:r>
              <a:rPr lang="bg-BG" altLang="bg-BG" sz="2400"/>
              <a:t>Промените се записват в таблицата: методът updateRow записва промените върху всички колони за даден запис. </a:t>
            </a:r>
          </a:p>
          <a:p>
            <a:pPr lvl="1"/>
            <a:r>
              <a:rPr lang="bg-BG" altLang="bg-BG" sz="2400"/>
              <a:t>Промените се отказват: използва се метод cancelRowUpdates.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7A245-E983-4D09-8BDB-B3193382F537}" type="slidenum">
              <a:rPr lang="bg-BG" altLang="bg-BG"/>
              <a:pPr/>
              <a:t>22</a:t>
            </a:fld>
            <a:endParaRPr lang="bg-BG" altLang="bg-BG"/>
          </a:p>
        </p:txBody>
      </p:sp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Prepared Statements 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bg-BG" altLang="bg-BG" sz="2800"/>
              <a:t>Основната разлика между PreparedStatement и Statement обекти, е че при </a:t>
            </a:r>
            <a:r>
              <a:rPr lang="en-US" altLang="bg-BG" sz="2800"/>
              <a:t>Statement</a:t>
            </a:r>
            <a:r>
              <a:rPr lang="bg-BG" altLang="bg-BG" sz="2800"/>
              <a:t> SQL командата се дава при създаване. След това командата се изпраща на </a:t>
            </a:r>
            <a:r>
              <a:rPr lang="en-US" altLang="bg-BG" sz="2800"/>
              <a:t>DBMS</a:t>
            </a:r>
            <a:r>
              <a:rPr lang="bg-BG" altLang="bg-BG" sz="2800"/>
              <a:t>, където се компилира.</a:t>
            </a:r>
          </a:p>
          <a:p>
            <a:pPr>
              <a:lnSpc>
                <a:spcPct val="80000"/>
              </a:lnSpc>
            </a:pPr>
            <a:r>
              <a:rPr lang="bg-BG" altLang="bg-BG" sz="2800"/>
              <a:t>PreparedStatement не съдържа готов SQL оператор, а такъв който има параметри и се прекомпилира. Това означава, че когато се изпълнява PreparedStatement, DBMS само го стартира без предварителна компилация.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D9E0D-B7AD-4F81-B631-B8383681E18F}" type="slidenum">
              <a:rPr lang="bg-BG" altLang="bg-BG"/>
              <a:pPr/>
              <a:t>23</a:t>
            </a:fld>
            <a:endParaRPr lang="bg-BG" altLang="bg-BG"/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Създаване на PreparedStatement обект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altLang="bg-BG"/>
          </a:p>
        </p:txBody>
      </p:sp>
      <p:pic>
        <p:nvPicPr>
          <p:cNvPr id="2129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24175"/>
            <a:ext cx="9217025" cy="104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50B23-2A86-4871-A15A-45292D2FB67F}" type="slidenum">
              <a:rPr lang="bg-BG" altLang="bg-BG"/>
              <a:pPr/>
              <a:t>24</a:t>
            </a:fld>
            <a:endParaRPr lang="bg-BG" altLang="bg-BG"/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sz="4000"/>
              <a:t>Задаване на стойност на параметрите на </a:t>
            </a:r>
            <a:r>
              <a:rPr lang="en-US" altLang="bg-BG" sz="4000"/>
              <a:t>PreparedStatement</a:t>
            </a:r>
            <a:endParaRPr lang="bg-BG" altLang="bg-BG" sz="4000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Преди изпълнение на PreparedStatement обект трябва да се зададат стойности на параметрите. Това се постига с методи set</a:t>
            </a:r>
            <a:r>
              <a:rPr lang="bg-BG" altLang="bg-BG" i="1"/>
              <a:t>XXX,</a:t>
            </a:r>
            <a:r>
              <a:rPr lang="bg-BG" altLang="bg-BG"/>
              <a:t> дефинирани в класа PreparedStatement. </a:t>
            </a:r>
          </a:p>
        </p:txBody>
      </p:sp>
      <p:pic>
        <p:nvPicPr>
          <p:cNvPr id="2140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5013325"/>
            <a:ext cx="7199313" cy="12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226D-72D0-42FD-8B87-5ACCCDEC3665}" type="slidenum">
              <a:rPr lang="bg-BG" altLang="bg-BG"/>
              <a:pPr/>
              <a:t>25</a:t>
            </a:fld>
            <a:endParaRPr lang="bg-BG" altLang="bg-BG"/>
          </a:p>
        </p:txBody>
      </p:sp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Joins 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altLang="bg-BG"/>
          </a:p>
        </p:txBody>
      </p:sp>
      <p:pic>
        <p:nvPicPr>
          <p:cNvPr id="2150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989138"/>
            <a:ext cx="8172450" cy="3436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56106-9919-4328-958A-7CDA34B66CDF}" type="slidenum">
              <a:rPr lang="bg-BG" altLang="bg-BG"/>
              <a:pPr/>
              <a:t>26</a:t>
            </a:fld>
            <a:endParaRPr lang="bg-BG" altLang="bg-BG"/>
          </a:p>
        </p:txBody>
      </p:sp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Transactions 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transaction е множество от &gt;=1 оператори, които се изпълняват заедно като блок и или успяват всичките едновременно или пропадат едновременно.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B186F-B0FB-41AA-82C2-7F56741B5A90}" type="slidenum">
              <a:rPr lang="bg-BG" altLang="bg-BG"/>
              <a:pPr/>
              <a:t>27</a:t>
            </a:fld>
            <a:endParaRPr lang="bg-BG" altLang="bg-BG"/>
          </a:p>
        </p:txBody>
      </p:sp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 Режим Auto-commit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 sz="2800"/>
              <a:t>Когато се създава връзката с БД, тя е в auto-commit mode. Това означава, че всеки SQL оператор се третира като транзакция и автоматично се приключва веднага след изпълнението си.</a:t>
            </a:r>
          </a:p>
          <a:p>
            <a:r>
              <a:rPr lang="bg-BG" altLang="bg-BG" sz="2800"/>
              <a:t>За да се изпълнят &gt;=2 оператора в група, трябва да се забрани auto-commit mode. </a:t>
            </a:r>
          </a:p>
        </p:txBody>
      </p:sp>
      <p:pic>
        <p:nvPicPr>
          <p:cNvPr id="2170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5516563"/>
            <a:ext cx="4248150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99241-ABC1-4964-A1EB-3920BA177C89}" type="slidenum">
              <a:rPr lang="bg-BG" altLang="bg-BG"/>
              <a:pPr/>
              <a:t>28</a:t>
            </a:fld>
            <a:endParaRPr lang="bg-BG" altLang="bg-BG"/>
          </a:p>
        </p:txBody>
      </p:sp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Приключване на транзакция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981200"/>
            <a:ext cx="7543800" cy="15192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/>
              <a:t>Когато е забранен </a:t>
            </a:r>
            <a:r>
              <a:rPr lang="en-US" altLang="bg-BG"/>
              <a:t>AutoCommit</a:t>
            </a:r>
            <a:r>
              <a:rPr lang="bg-BG" altLang="bg-BG"/>
              <a:t> режим, приключването на група операции става с </a:t>
            </a:r>
            <a:r>
              <a:rPr lang="en-US" altLang="bg-BG"/>
              <a:t>commit.</a:t>
            </a:r>
            <a:endParaRPr lang="bg-BG" altLang="bg-BG"/>
          </a:p>
        </p:txBody>
      </p:sp>
      <p:pic>
        <p:nvPicPr>
          <p:cNvPr id="2181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3359150"/>
            <a:ext cx="8101012" cy="349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61E10-FEB6-4F69-AD6A-BC9ACE6CA2A1}" type="slidenum">
              <a:rPr lang="bg-BG" altLang="bg-BG"/>
              <a:pPr/>
              <a:t>29</a:t>
            </a:fld>
            <a:endParaRPr lang="bg-BG" altLang="bg-BG"/>
          </a:p>
        </p:txBody>
      </p:sp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b="0"/>
              <a:t>transaction isolation level</a:t>
            </a:r>
            <a:r>
              <a:rPr lang="bg-BG" altLang="bg-BG"/>
              <a:t> 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 sz="2800"/>
              <a:t>transaction isolation level запазва цялостта на данните в БД като предотвратява операциите по заключените от транзакцията записи.</a:t>
            </a:r>
          </a:p>
          <a:p>
            <a:r>
              <a:rPr lang="bg-BG" altLang="bg-BG" sz="2800"/>
              <a:t>Connection има getTransactionIsolation метод, който връща какво е текущото ниво на изолация. За смяна на нивото се използва setTransactionIsolation.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1B6B1-2426-488A-AEA1-4637492E7278}" type="slidenum">
              <a:rPr lang="bg-BG" altLang="bg-BG"/>
              <a:pPr/>
              <a:t>30</a:t>
            </a:fld>
            <a:endParaRPr lang="bg-BG" altLang="bg-BG"/>
          </a:p>
        </p:txBody>
      </p:sp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b="0"/>
              <a:t>transaction isolation level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 sz="2800" b="1">
                <a:hlinkClick r:id="rId2"/>
              </a:rPr>
              <a:t>TRANSACTION_NONE</a:t>
            </a:r>
            <a:r>
              <a:rPr lang="bg-BG" altLang="bg-BG" sz="2800"/>
              <a:t> - не се поддържат транзакции.</a:t>
            </a:r>
          </a:p>
          <a:p>
            <a:r>
              <a:rPr lang="bg-BG" altLang="bg-BG" sz="2800" b="1">
                <a:hlinkClick r:id="rId3"/>
              </a:rPr>
              <a:t>TRANSACTION_READ_COMMITTED</a:t>
            </a:r>
            <a:r>
              <a:rPr lang="bg-BG" altLang="bg-BG" sz="2800"/>
              <a:t> - ред, променен от една транзакция, може да бъде прочетен от друга, преди приключване на промените ("dirty read"). Ако промените се rolled back, втората транзакция ще извлече невалиден ред.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80D9A-7351-42C9-B30E-4138B58C1D64}" type="slidenum">
              <a:rPr lang="bg-BG" altLang="bg-BG"/>
              <a:pPr/>
              <a:t>31</a:t>
            </a:fld>
            <a:endParaRPr lang="bg-BG" altLang="bg-BG"/>
          </a:p>
        </p:txBody>
      </p:sp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b="0"/>
              <a:t>transaction isolation level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 sz="2400" b="1">
                <a:hlinkClick r:id="rId2"/>
              </a:rPr>
              <a:t>TRANSACTION_READ_UNCOMMITTED</a:t>
            </a:r>
            <a:r>
              <a:rPr lang="bg-BG" altLang="bg-BG" sz="2400"/>
              <a:t> - това ниво защитава транзакцията от четене на ред с uncommitted промени в него. </a:t>
            </a:r>
          </a:p>
          <a:p>
            <a:pPr>
              <a:lnSpc>
                <a:spcPct val="90000"/>
              </a:lnSpc>
            </a:pPr>
            <a:r>
              <a:rPr lang="bg-BG" altLang="bg-BG" sz="2400" b="1">
                <a:hlinkClick r:id="rId3"/>
              </a:rPr>
              <a:t>TRANSACTION_REPEATABLE_READ</a:t>
            </a:r>
            <a:r>
              <a:rPr lang="bg-BG" altLang="bg-BG" sz="2400" b="1"/>
              <a:t> </a:t>
            </a:r>
            <a:r>
              <a:rPr lang="bg-BG" altLang="bg-BG" sz="2400"/>
              <a:t>– това ниво защитава транзакция от четене на ред с uncommitted промени в него и ситуации, при които една транзакция чете ред, а друга променя ред и първата транзакция чете отново реда и получава различни стойности от първото четене ("non-repeatable read").  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55558-4F35-4F41-AD41-623C96D66AAC}" type="slidenum">
              <a:rPr lang="bg-BG" altLang="bg-BG"/>
              <a:pPr/>
              <a:t>32</a:t>
            </a:fld>
            <a:endParaRPr lang="bg-BG" altLang="bg-BG"/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b="0"/>
              <a:t>transaction isolation level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 sz="2400" b="1">
                <a:hlinkClick r:id="rId2"/>
              </a:rPr>
              <a:t>TRANSACTION_SERIALIZABLE</a:t>
            </a:r>
            <a:r>
              <a:rPr lang="bg-BG" altLang="bg-BG" sz="2400"/>
              <a:t> - това ниво включва защитата от TRANSACTION_REPEATABLE_READ и защитава ситуация, в която една транзакция чете всички редове, удовлетворяващи условие WHERE, втора транзакция вмъква ред, който удовлетворява условието WHERE и първата транзакция чете повторно със същото условие, извличайки  допълнителен "phantom" ред при второто четене.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7CB24-04F9-4D9E-B413-8B521D871DE8}" type="slidenum">
              <a:rPr lang="bg-BG" altLang="bg-BG"/>
              <a:pPr/>
              <a:t>33</a:t>
            </a:fld>
            <a:endParaRPr lang="bg-BG" altLang="bg-BG"/>
          </a:p>
        </p:txBody>
      </p:sp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Работа със Savepoint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981200"/>
            <a:ext cx="7543800" cy="2095500"/>
          </a:xfrm>
        </p:spPr>
        <p:txBody>
          <a:bodyPr/>
          <a:lstStyle/>
          <a:p>
            <a:r>
              <a:rPr lang="bg-BG" altLang="bg-BG" sz="2800"/>
              <a:t>JDBC 3.0 API добавя метод Connection.setSavepoint, който задава savepoint в текущата транзакция.</a:t>
            </a:r>
          </a:p>
          <a:p>
            <a:r>
              <a:rPr lang="bg-BG" altLang="bg-BG" sz="2800"/>
              <a:t>Пример: добавя се само първия ред:</a:t>
            </a:r>
          </a:p>
        </p:txBody>
      </p:sp>
      <p:pic>
        <p:nvPicPr>
          <p:cNvPr id="2232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4076700"/>
            <a:ext cx="7273925" cy="255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1FD5A-D997-4D73-8826-451F73CF365E}" type="slidenum">
              <a:rPr lang="bg-BG" altLang="bg-BG"/>
              <a:pPr/>
              <a:t>34</a:t>
            </a:fld>
            <a:endParaRPr lang="bg-BG" altLang="bg-BG"/>
          </a:p>
        </p:txBody>
      </p:sp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Работа със Savepoint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Методът Connection.releaseSavepoint премахва точката от транзакцията.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B2DD1-5A61-4D65-A53D-F7DF41C5D8D7}" type="slidenum">
              <a:rPr lang="bg-BG" altLang="bg-BG"/>
              <a:pPr/>
              <a:t>35</a:t>
            </a:fld>
            <a:endParaRPr lang="bg-BG" altLang="bg-BG"/>
          </a:p>
        </p:txBody>
      </p:sp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stored procedure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 sz="2400"/>
              <a:t>stored procedure е група от SQL оператори, която формира логичско цяло и изпълнява някаква задача. Съхранените процедури капсулират множество операции или заявки за изпълнение на сървъра на БД. </a:t>
            </a:r>
          </a:p>
          <a:p>
            <a:pPr>
              <a:lnSpc>
                <a:spcPct val="90000"/>
              </a:lnSpc>
            </a:pPr>
            <a:r>
              <a:rPr lang="bg-BG" altLang="bg-BG" sz="2400"/>
              <a:t>Stored procedures могат да се компилират и изпъняват с различни параметри и резултати, като могат да имат комбинации от input, output и input/output параметри. </a:t>
            </a:r>
          </a:p>
          <a:p>
            <a:pPr>
              <a:lnSpc>
                <a:spcPct val="90000"/>
              </a:lnSpc>
            </a:pPr>
            <a:r>
              <a:rPr lang="bg-BG" altLang="bg-BG" sz="2400"/>
              <a:t>Имат специфика в синтаксиса и поддръжката, която зависи от БД.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56F34-6DBF-4C04-8AEE-E73443B9AF69}" type="slidenum">
              <a:rPr lang="bg-BG" altLang="bg-BG"/>
              <a:pPr/>
              <a:t>36</a:t>
            </a:fld>
            <a:endParaRPr lang="bg-BG" altLang="bg-BG"/>
          </a:p>
        </p:txBody>
      </p:sp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Извикване на Stored Procedure от JDBC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Създава се callableStatement обект, който съдържа извикването на процедурата. </a:t>
            </a:r>
          </a:p>
        </p:txBody>
      </p:sp>
      <p:pic>
        <p:nvPicPr>
          <p:cNvPr id="2263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3860800"/>
            <a:ext cx="8424862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149E7-24DF-4280-A261-F9EDD1DF2930}" type="slidenum">
              <a:rPr lang="bg-BG" altLang="bg-BG"/>
              <a:pPr/>
              <a:t>37</a:t>
            </a:fld>
            <a:endParaRPr lang="bg-BG" altLang="bg-BG"/>
          </a:p>
        </p:txBody>
      </p:sp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Извикване на Stored Procedure от JDBC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В извикването параметрите се отбелязват с ?</a:t>
            </a:r>
          </a:p>
          <a:p>
            <a:r>
              <a:rPr lang="bg-BG" altLang="bg-BG"/>
              <a:t>Трябва да се зададат стойности на входните и входно/изходни параметри (по индекс или име) и да се регистрират изходните и входно/изходни параметри.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FFF2-B309-4831-B7FD-795A65E8279F}" type="slidenum">
              <a:rPr lang="bg-BG" altLang="bg-BG"/>
              <a:pPr/>
              <a:t>38</a:t>
            </a:fld>
            <a:endParaRPr lang="bg-BG" altLang="bg-BG"/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Извикване на Stored Procedure от JDBC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Ако резултатът е </a:t>
            </a:r>
            <a:r>
              <a:rPr lang="en-US" altLang="bg-BG"/>
              <a:t>ResultSet</a:t>
            </a:r>
            <a:r>
              <a:rPr lang="bg-BG" altLang="bg-BG"/>
              <a:t> се получава чрез getResultSet() и getMoreResults() /при &gt; 1 </a:t>
            </a:r>
            <a:r>
              <a:rPr lang="en-US" altLang="bg-BG"/>
              <a:t>ResultSet/</a:t>
            </a:r>
            <a:r>
              <a:rPr lang="bg-BG" altLang="bg-BG"/>
              <a:t>.</a:t>
            </a:r>
          </a:p>
          <a:p>
            <a:r>
              <a:rPr lang="bg-BG" altLang="bg-BG"/>
              <a:t>За получаване на изходните и входно/изходни параметри се ползват методите </a:t>
            </a:r>
            <a:r>
              <a:rPr lang="en-US" altLang="bg-BG"/>
              <a:t>getXXX.</a:t>
            </a:r>
            <a:endParaRPr lang="bg-BG" altLang="bg-BG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5DEFC-7991-4711-B591-8AA3EF1DA8A0}" type="slidenum">
              <a:rPr lang="bg-BG" altLang="bg-BG"/>
              <a:pPr/>
              <a:t>39</a:t>
            </a:fld>
            <a:endParaRPr lang="bg-BG" altLang="bg-BG"/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Извличане на </a:t>
            </a:r>
            <a:r>
              <a:rPr lang="bg-BG" altLang="bg-BG">
                <a:effectLst/>
              </a:rPr>
              <a:t>AUTO_INCREMENT поле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Съществуват 3 начина:</a:t>
            </a:r>
          </a:p>
          <a:p>
            <a:pPr lvl="1"/>
            <a:r>
              <a:rPr lang="bg-BG" altLang="bg-BG">
                <a:effectLst/>
              </a:rPr>
              <a:t>JDBC-3.0 метод getGeneratedKeys(), който е предпочитан за целта при достъп до JDBC-3.0. </a:t>
            </a:r>
          </a:p>
          <a:p>
            <a:pPr lvl="1"/>
            <a:r>
              <a:rPr lang="bg-BG" altLang="bg-BG">
                <a:effectLst/>
              </a:rPr>
              <a:t>заявка SELECT LAST_INSERT_ID(), добавена след JDBC API 3.0. </a:t>
            </a:r>
          </a:p>
          <a:p>
            <a:pPr lvl="1"/>
            <a:r>
              <a:rPr lang="bg-BG" altLang="bg-BG">
                <a:effectLst/>
              </a:rPr>
              <a:t>Updatable result sets при използване на метода insertRow().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231C9426-DB86-4CC9-B88C-5529CDE307AF}" type="slidenum">
              <a:rPr lang="bg-BG" altLang="bg-BG"/>
              <a:pPr/>
              <a:t>40</a:t>
            </a:fld>
            <a:endParaRPr lang="bg-BG" altLang="bg-BG"/>
          </a:p>
        </p:txBody>
      </p:sp>
      <p:sp>
        <p:nvSpPr>
          <p:cNvPr id="23347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bg-BG" altLang="bg-BG"/>
              <a:t>Java Persistence API</a:t>
            </a:r>
            <a:br>
              <a:rPr lang="bg-BG" altLang="bg-BG"/>
            </a:br>
            <a:r>
              <a:rPr lang="en-US" altLang="bg-BG"/>
              <a:t>(JPA)</a:t>
            </a:r>
            <a:r>
              <a:rPr lang="bg-BG" altLang="bg-BG"/>
              <a:t> и </a:t>
            </a:r>
            <a:r>
              <a:rPr lang="en-US" altLang="bg-BG"/>
              <a:t>EclipseLink</a:t>
            </a:r>
            <a:endParaRPr lang="bg-BG" altLang="bg-BG"/>
          </a:p>
        </p:txBody>
      </p:sp>
      <p:sp>
        <p:nvSpPr>
          <p:cNvPr id="23347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altLang="bg-BG"/>
              <a:t>За разработка на примерите е използван </a:t>
            </a:r>
            <a:r>
              <a:rPr lang="en-US" altLang="bg-BG"/>
              <a:t>Eclipse Galileo EE</a:t>
            </a:r>
            <a:endParaRPr lang="bg-BG" altLang="bg-BG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C62C2-A0A7-461B-81D8-6B892579ADE4}" type="slidenum">
              <a:rPr lang="bg-BG" altLang="bg-BG"/>
              <a:pPr/>
              <a:t>41</a:t>
            </a:fld>
            <a:endParaRPr lang="bg-BG" altLang="bg-BG"/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Java Persistence API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bg-BG" altLang="bg-BG" sz="2800" b="1"/>
              <a:t>Java Persistence API</a:t>
            </a:r>
            <a:r>
              <a:rPr lang="bg-BG" altLang="bg-BG" sz="2800"/>
              <a:t> </a:t>
            </a:r>
            <a:r>
              <a:rPr lang="en-US" altLang="bg-BG" sz="2800"/>
              <a:t>(</a:t>
            </a:r>
            <a:r>
              <a:rPr lang="bg-BG" altLang="bg-BG" sz="2800" b="1"/>
              <a:t>JPA</a:t>
            </a:r>
            <a:r>
              <a:rPr lang="en-US" altLang="bg-BG" sz="2800" b="1"/>
              <a:t>)</a:t>
            </a:r>
            <a:r>
              <a:rPr lang="bg-BG" altLang="bg-BG" sz="2800"/>
              <a:t> е Java programming language framework, който позволява на разработчиците да управляват релационни данни в приложенията, използващи Java Platform, Standard Edition и Java Platform, Enterprise Edition. </a:t>
            </a:r>
          </a:p>
          <a:p>
            <a:pPr>
              <a:lnSpc>
                <a:spcPct val="80000"/>
              </a:lnSpc>
            </a:pPr>
            <a:r>
              <a:rPr lang="bg-BG" altLang="bg-BG" sz="2800"/>
              <a:t>Persistence покрива 3 области:</a:t>
            </a:r>
          </a:p>
          <a:p>
            <a:pPr lvl="1">
              <a:lnSpc>
                <a:spcPct val="80000"/>
              </a:lnSpc>
            </a:pPr>
            <a:r>
              <a:rPr lang="bg-BG" altLang="bg-BG" sz="2400"/>
              <a:t>API, дефинирано в javax.persistence package </a:t>
            </a:r>
          </a:p>
          <a:p>
            <a:pPr lvl="1">
              <a:lnSpc>
                <a:spcPct val="80000"/>
              </a:lnSpc>
            </a:pPr>
            <a:r>
              <a:rPr lang="bg-BG" altLang="bg-BG" sz="2400"/>
              <a:t>Java Persistence Query Language (JPQL) </a:t>
            </a:r>
          </a:p>
          <a:p>
            <a:pPr lvl="1">
              <a:lnSpc>
                <a:spcPct val="80000"/>
              </a:lnSpc>
            </a:pPr>
            <a:r>
              <a:rPr lang="bg-BG" altLang="bg-BG" sz="2400"/>
              <a:t>object/relational metadata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0FFC5-E646-4C4B-9B8D-02399DE5A811}" type="slidenum">
              <a:rPr lang="bg-BG" altLang="bg-BG"/>
              <a:pPr/>
              <a:t>42</a:t>
            </a:fld>
            <a:endParaRPr lang="bg-BG" altLang="bg-BG"/>
          </a:p>
        </p:txBody>
      </p:sp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Java Persistence API</a:t>
            </a:r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 sz="2400"/>
              <a:t>Процесът на mapping POJO's (Plain old Java Objects) към таблици от БД и обратно се нарича Object-relational mapping (ORM). Този mapping се дефинира през persistence metadata, които дефинират mapping към БД и връзките между обектите.</a:t>
            </a:r>
          </a:p>
          <a:p>
            <a:pPr>
              <a:lnSpc>
                <a:spcPct val="90000"/>
              </a:lnSpc>
            </a:pPr>
            <a:r>
              <a:rPr lang="bg-BG" altLang="bg-BG" sz="2400"/>
              <a:t>Тези </a:t>
            </a:r>
            <a:r>
              <a:rPr lang="bg-BG" altLang="bg-BG" sz="2400" b="1" i="1"/>
              <a:t>metadata</a:t>
            </a:r>
            <a:r>
              <a:rPr lang="bg-BG" altLang="bg-BG" sz="2400"/>
              <a:t> могат да се зададат чрез Java annotations или XML mapping файлове, или с комбинация от двете. Ако е достъпна XML конфигурация припокрива анотациите в кода на Java.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6E29A-41E1-4CCB-B078-73255BC9523B}" type="slidenum">
              <a:rPr lang="bg-BG" altLang="bg-BG"/>
              <a:pPr/>
              <a:t>43</a:t>
            </a:fld>
            <a:endParaRPr lang="bg-BG" altLang="bg-BG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Java Persistence API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 sz="2400"/>
              <a:t>JPA дефинира и мощен SQL-подобен Query language за статични и динамични заявки.</a:t>
            </a:r>
          </a:p>
          <a:p>
            <a:pPr>
              <a:lnSpc>
                <a:spcPct val="90000"/>
              </a:lnSpc>
            </a:pPr>
            <a:r>
              <a:rPr lang="bg-BG" altLang="bg-BG" sz="2400"/>
              <a:t>JPA е спецификация и за да се ползва е необходим JPA provider.</a:t>
            </a:r>
          </a:p>
          <a:p>
            <a:pPr>
              <a:lnSpc>
                <a:spcPct val="90000"/>
              </a:lnSpc>
            </a:pPr>
            <a:r>
              <a:rPr lang="bg-BG" altLang="bg-BG" sz="2400"/>
              <a:t>JPA provider използва информацията от persistence metadata за изпълнение на правилни операции върху БД.</a:t>
            </a:r>
          </a:p>
          <a:p>
            <a:pPr>
              <a:lnSpc>
                <a:spcPct val="90000"/>
              </a:lnSpc>
            </a:pPr>
            <a:r>
              <a:rPr lang="bg-BG" altLang="bg-BG" sz="2400"/>
              <a:t>Повечето JPA persistence provider предоставят опция за автоматично създаване на database schema, базирана на metadata.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2FD86-F16D-4E8B-A266-C5027A124D47}" type="slidenum">
              <a:rPr lang="bg-BG" altLang="bg-BG"/>
              <a:pPr/>
              <a:t>44</a:t>
            </a:fld>
            <a:endParaRPr lang="bg-BG" altLang="bg-BG"/>
          </a:p>
        </p:txBody>
      </p:sp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Persistence provider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 sz="2400" b="1" i="1"/>
              <a:t>persistence provider </a:t>
            </a:r>
            <a:r>
              <a:rPr lang="bg-BG" altLang="bg-BG" sz="2400"/>
              <a:t> е JPA реализация. Използването на JPA изисква добавяне на  JPA provider implementation в classpath. </a:t>
            </a:r>
          </a:p>
          <a:p>
            <a:pPr>
              <a:lnSpc>
                <a:spcPct val="90000"/>
              </a:lnSpc>
            </a:pPr>
            <a:r>
              <a:rPr lang="bg-BG" altLang="bg-BG" sz="2400"/>
              <a:t>Препоръчва се използването само на един persistence provider в classpath. Ако има повече от един, трябва да се избере реализацията през provider tag на файла persistence.xml: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bg-BG" altLang="bg-BG" sz="2800"/>
              <a:t>&lt;provider&gt;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bg-BG" altLang="bg-BG" sz="2800"/>
              <a:t>org.eclipse.persistence.jpa.PersistenceProvider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bg-BG" altLang="bg-BG" sz="2800"/>
              <a:t>&lt;/provider&gt;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E2431-C075-422E-81FD-9303069B77AA}" type="slidenum">
              <a:rPr lang="bg-BG" altLang="bg-BG"/>
              <a:pPr/>
              <a:t>45</a:t>
            </a:fld>
            <a:endParaRPr lang="bg-BG" altLang="bg-BG"/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Entities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 sz="2400"/>
              <a:t>persistence entity е олекотен Java class, чието състояние обикновено се съхранява в таблица от Релационна БД. Инстанциите на такъв обект съответстват на редове в таблицата. Обикновено Entities имат връзки с други entities и тези връзки се изразяват чрез object/relational metadata. </a:t>
            </a:r>
          </a:p>
          <a:p>
            <a:pPr>
              <a:lnSpc>
                <a:spcPct val="90000"/>
              </a:lnSpc>
            </a:pPr>
            <a:r>
              <a:rPr lang="bg-BG" altLang="bg-BG" sz="2400"/>
              <a:t>Object/relational metadata могат да се задават директно в entity class file чрез анотация или в отделен </a:t>
            </a:r>
            <a:r>
              <a:rPr lang="en-US" altLang="bg-BG" sz="2400"/>
              <a:t>XML</a:t>
            </a:r>
            <a:r>
              <a:rPr lang="bg-BG" altLang="bg-BG" sz="2400"/>
              <a:t> descriptor file, разпространяван с приложението.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AA0C-5017-4022-A9EF-C70F6DB5E7F5}" type="slidenum">
              <a:rPr lang="bg-BG" altLang="bg-BG"/>
              <a:pPr/>
              <a:t>46</a:t>
            </a:fld>
            <a:endParaRPr lang="bg-BG" altLang="bg-BG"/>
          </a:p>
        </p:txBody>
      </p:sp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Entities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bg-BG" altLang="bg-BG" sz="2400"/>
              <a:t>Реализацията на Java Persistence API може да създаде таблица за entity в релационната БД. По подразбиране името на таблицата съответства на името на класа. Това може да се промени чрез анотацията @Table(name="NEWTABLENAME")</a:t>
            </a:r>
          </a:p>
          <a:p>
            <a:pPr>
              <a:lnSpc>
                <a:spcPct val="80000"/>
              </a:lnSpc>
            </a:pPr>
            <a:r>
              <a:rPr lang="bg-BG" altLang="bg-BG" sz="2400"/>
              <a:t>Всички entities трябва да имат primary key. Ключът може да е едно поле или комбинация от полета.</a:t>
            </a:r>
          </a:p>
          <a:p>
            <a:pPr>
              <a:lnSpc>
                <a:spcPct val="80000"/>
              </a:lnSpc>
            </a:pPr>
            <a:r>
              <a:rPr lang="bg-BG" altLang="bg-BG" sz="2400"/>
              <a:t>JPA позволява и автоматична генерация на първичен ключ в БД чрез анотацията @GeneratedValue.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A3B65-B51E-4FF1-89E4-18348F61A773}" type="slidenum">
              <a:rPr lang="bg-BG" altLang="bg-BG"/>
              <a:pPr/>
              <a:t>47</a:t>
            </a:fld>
            <a:endParaRPr lang="bg-BG" altLang="bg-BG"/>
          </a:p>
        </p:txBody>
      </p:sp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Полета и Property setters and getters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 sz="2800"/>
              <a:t>JPA може да ползва полета или getters и setters методи за достъп до полетата. </a:t>
            </a:r>
          </a:p>
          <a:p>
            <a:r>
              <a:rPr lang="bg-BG" altLang="bg-BG" sz="2800"/>
              <a:t>Ако JPA директно достъпва полетата на класа, трябва да има подходяща анотация. При използване на getter и sett</a:t>
            </a:r>
            <a:r>
              <a:rPr lang="en-US" altLang="bg-BG" sz="2800"/>
              <a:t>er</a:t>
            </a:r>
            <a:r>
              <a:rPr lang="bg-BG" altLang="bg-BG" sz="2800"/>
              <a:t>, анотацията трябва да бъде към методите. Не се допуска смесен подход за използване.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9A337-A6D5-421E-994D-81E13F37BAF9}" type="slidenum">
              <a:rPr lang="bg-BG" altLang="bg-BG"/>
              <a:pPr/>
              <a:t>48</a:t>
            </a:fld>
            <a:endParaRPr lang="bg-BG" altLang="bg-BG"/>
          </a:p>
        </p:txBody>
      </p:sp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Полета и Property setters and getters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Всички полета, които не са персистентни трябва да имат явна анотация @Transient.</a:t>
            </a:r>
          </a:p>
          <a:p>
            <a:r>
              <a:rPr lang="bg-BG" altLang="bg-BG"/>
              <a:t>По подразбиране всяко поле mapped колона със същото име в таблица на БД. Подразбраното име може да се смени чрез @Column(name="newColumnName").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239A4-A2A0-4CD0-B8BC-5C7F3E898A7C}" type="slidenum">
              <a:rPr lang="bg-BG" altLang="bg-BG"/>
              <a:pPr/>
              <a:t>49</a:t>
            </a:fld>
            <a:endParaRPr lang="bg-BG" altLang="bg-BG"/>
          </a:p>
        </p:txBody>
      </p:sp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Анотации на полета / getter и setter </a:t>
            </a:r>
          </a:p>
        </p:txBody>
      </p:sp>
      <p:sp>
        <p:nvSpPr>
          <p:cNvPr id="248837" name="Rectangle 5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endParaRPr lang="bg-BG" altLang="bg-BG" sz="2800"/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bg-BG" altLang="bg-BG" sz="2800"/>
              <a:t>Реализацията на JPA позволява генериране на id, базирано на различни стратегии (GenerationType.TABLE, GenerationType.AUTO и т.н.).  </a:t>
            </a:r>
          </a:p>
        </p:txBody>
      </p:sp>
      <p:pic>
        <p:nvPicPr>
          <p:cNvPr id="2488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060575"/>
            <a:ext cx="8101012" cy="103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5FCD9-72B3-4C65-A51F-08DBCE6A4A65}" type="slidenum">
              <a:rPr lang="bg-BG" altLang="bg-BG"/>
              <a:pPr/>
              <a:t>50</a:t>
            </a:fld>
            <a:endParaRPr lang="bg-BG" altLang="bg-BG"/>
          </a:p>
        </p:txBody>
      </p:sp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Relationship Mapping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Връзките между класовете могат да бъдат изразени чрез one to one, one to many, many to one и many to many relationships.</a:t>
            </a:r>
          </a:p>
          <a:p>
            <a:r>
              <a:rPr lang="bg-BG" altLang="bg-BG"/>
              <a:t>Една връзка може да е еднопосочна или двупосочна.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073B7-5D1C-46A4-825E-7CAE8E2FCBEC}" type="slidenum">
              <a:rPr lang="bg-BG" altLang="bg-BG"/>
              <a:pPr/>
              <a:t>51</a:t>
            </a:fld>
            <a:endParaRPr lang="bg-BG" altLang="bg-BG"/>
          </a:p>
        </p:txBody>
      </p:sp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Relationship </a:t>
            </a:r>
            <a:br>
              <a:rPr lang="bg-BG" altLang="bg-BG"/>
            </a:br>
            <a:r>
              <a:rPr lang="bg-BG" altLang="bg-BG"/>
              <a:t>Mapping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 sz="2400"/>
              <a:t>Например, един служител може да има множество професии. Една и съща професия може да бъде упражнявана от множество хора, т.е. Служител p може да работи като програмист и автор на песни, докато множество други хора могат да работят като програмисти.</a:t>
            </a:r>
          </a:p>
          <a:p>
            <a:pPr>
              <a:lnSpc>
                <a:spcPct val="90000"/>
              </a:lnSpc>
            </a:pPr>
            <a:r>
              <a:rPr lang="bg-BG" altLang="bg-BG" sz="2400"/>
              <a:t>В двупосочната връзка се задава коя страна е собственик на връзката чрез атрибута "mappedBy", т.е.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bg-BG" altLang="bg-BG" sz="2400"/>
              <a:t>@ManyToMany(mappedBy="attributeOfTheOwningClass".</a:t>
            </a:r>
          </a:p>
        </p:txBody>
      </p:sp>
      <p:pic>
        <p:nvPicPr>
          <p:cNvPr id="2519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0"/>
            <a:ext cx="2592388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919DC-AF4D-4B34-B8F6-08A242745749}" type="slidenum">
              <a:rPr lang="bg-BG" altLang="bg-BG"/>
              <a:pPr/>
              <a:t>52</a:t>
            </a:fld>
            <a:endParaRPr lang="bg-BG" altLang="bg-BG"/>
          </a:p>
        </p:txBody>
      </p:sp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Entity Manager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 sz="2800"/>
              <a:t>entity manager предоставя persistence operations, т.е. Запис на обектите в БД. Java обектът, който се свързва с Entity Manager е Entity.</a:t>
            </a:r>
          </a:p>
          <a:p>
            <a:pPr>
              <a:lnSpc>
                <a:spcPct val="90000"/>
              </a:lnSpc>
            </a:pPr>
            <a:r>
              <a:rPr lang="bg-BG" altLang="bg-BG" sz="2800"/>
              <a:t>Класът "javax.persistence.EntityManager" предоставя тази функционалност.</a:t>
            </a:r>
          </a:p>
          <a:p>
            <a:pPr>
              <a:lnSpc>
                <a:spcPct val="90000"/>
              </a:lnSpc>
            </a:pPr>
            <a:r>
              <a:rPr lang="bg-BG" altLang="bg-BG" sz="2800"/>
              <a:t>В приложението трябва да се ползва фабрика (factory) за създаване на entity manager и да се ползва този entity manager за връзка с БД.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C6596-41DA-4DCA-A1C4-54D08ED3F8B2}" type="slidenum">
              <a:rPr lang="bg-BG" altLang="bg-BG"/>
              <a:pPr/>
              <a:t>53</a:t>
            </a:fld>
            <a:endParaRPr lang="bg-BG" altLang="bg-BG"/>
          </a:p>
        </p:txBody>
      </p:sp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Entity Manager</a:t>
            </a:r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bg-BG" altLang="bg-BG" sz="2400"/>
              <a:t>Entities, които се управляват от Entity Manager автоматично се отразяват в БД (ако това се случва при commit). Ако Entity Manager е затворен (през close()), то управляваните, от него, обекти са в независимо състояние. За да ги синхронизираме отново с БД, Entity Manager предоставя метода merge().</a:t>
            </a:r>
          </a:p>
          <a:p>
            <a:pPr>
              <a:lnSpc>
                <a:spcPct val="80000"/>
              </a:lnSpc>
            </a:pPr>
            <a:r>
              <a:rPr lang="bg-BG" altLang="bg-BG" sz="2400" b="1" i="1"/>
              <a:t>persistence context</a:t>
            </a:r>
            <a:r>
              <a:rPr lang="bg-BG" altLang="bg-BG" sz="2400"/>
              <a:t>  описва всички Entities на един Entity manager.</a:t>
            </a:r>
          </a:p>
          <a:p>
            <a:pPr>
              <a:lnSpc>
                <a:spcPct val="80000"/>
              </a:lnSpc>
            </a:pPr>
            <a:r>
              <a:rPr lang="bg-BG" altLang="bg-BG" sz="2400"/>
              <a:t>EntityManager се създава от EntitiyManagerFactory, който се конфигурира чрез persistence unit.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EC431-EB46-41AA-9854-DE4BF3B99A80}" type="slidenum">
              <a:rPr lang="bg-BG" altLang="bg-BG"/>
              <a:pPr/>
              <a:t>54</a:t>
            </a:fld>
            <a:endParaRPr lang="bg-BG" altLang="bg-BG"/>
          </a:p>
        </p:txBody>
      </p:sp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Persistence Units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bg-BG" altLang="bg-BG" sz="2800"/>
              <a:t>Множество от entities, които са логически свързани и групирани в persistence unit. Тези persistence units се описват във файла "persistence.xml" в директорията META-INF на сорс кода.</a:t>
            </a:r>
            <a:endParaRPr lang="bg-BG" altLang="bg-BG" sz="2800" b="1"/>
          </a:p>
          <a:p>
            <a:pPr>
              <a:lnSpc>
                <a:spcPct val="80000"/>
              </a:lnSpc>
            </a:pPr>
            <a:r>
              <a:rPr lang="bg-BG" altLang="bg-BG" sz="2800"/>
              <a:t>Директорията трябва да бъде част от build path или няма да бъде открита. Най-лесният начин е  META-INFда се намира в /src папка.</a:t>
            </a:r>
          </a:p>
          <a:p>
            <a:pPr>
              <a:lnSpc>
                <a:spcPct val="80000"/>
              </a:lnSpc>
            </a:pPr>
            <a:r>
              <a:rPr lang="bg-BG" altLang="bg-BG" sz="2800"/>
              <a:t>В този файл се описва database driver, database location, user и password.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F4E84-04F7-4A19-8CE6-9E1099F85C14}" type="slidenum">
              <a:rPr lang="bg-BG" altLang="bg-BG"/>
              <a:pPr/>
              <a:t>55</a:t>
            </a:fld>
            <a:endParaRPr lang="bg-BG" altLang="bg-BG"/>
          </a:p>
        </p:txBody>
      </p:sp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b="0"/>
              <a:t>persistence.xml File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Файлът persistence.xml се ползва за пакетиране на entities. В него се описват характеристиките на връзката с БД, вида на транзакциите и </a:t>
            </a:r>
            <a:r>
              <a:rPr lang="en-US" altLang="bg-BG"/>
              <a:t>entity</a:t>
            </a:r>
            <a:r>
              <a:rPr lang="bg-BG" altLang="bg-BG"/>
              <a:t> класа.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2A13E-E198-4C97-B6EA-314B8D65D6B5}" type="slidenum">
              <a:rPr lang="bg-BG" altLang="bg-BG"/>
              <a:pPr/>
              <a:t>56</a:t>
            </a:fld>
            <a:endParaRPr lang="bg-BG" altLang="bg-BG"/>
          </a:p>
        </p:txBody>
      </p:sp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b="0"/>
              <a:t>persistence.xml File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bg-BG" sz="1400"/>
              <a:t>	</a:t>
            </a:r>
            <a:r>
              <a:rPr lang="bg-BG" altLang="bg-BG" sz="1400"/>
              <a:t>&lt;?xml version="1.0" encoding="UTF-8"?&gt;</a:t>
            </a:r>
            <a:br>
              <a:rPr lang="bg-BG" altLang="bg-BG" sz="1400"/>
            </a:br>
            <a:r>
              <a:rPr lang="bg-BG" altLang="bg-BG" sz="1400"/>
              <a:t>&lt;persistence version="1.0" xmlns="http://java.sun.com/xml/ns/persistence"</a:t>
            </a:r>
            <a:br>
              <a:rPr lang="bg-BG" altLang="bg-BG" sz="1400"/>
            </a:br>
            <a:r>
              <a:rPr lang="bg-BG" altLang="bg-BG" sz="1400"/>
              <a:t>xmlns:xsi="http://www.w3.org/2001/XMLSchema-instance"</a:t>
            </a:r>
            <a:br>
              <a:rPr lang="bg-BG" altLang="bg-BG" sz="1400"/>
            </a:br>
            <a:r>
              <a:rPr lang="bg-BG" altLang="bg-BG" sz="1400"/>
              <a:t>xsi:schemaLocation="http://java.sun.com/xml/ns/persistence http://java.sun.com/xml/ns/persistence/persistence_1_0.xsd"&gt;</a:t>
            </a:r>
            <a:br>
              <a:rPr lang="bg-BG" altLang="bg-BG" sz="1400"/>
            </a:br>
            <a:r>
              <a:rPr lang="bg-BG" altLang="bg-BG" sz="1400"/>
              <a:t>&lt;persistence-unit name="greetingPU" transaction-type="RESOURCE_LOCAL"&gt;</a:t>
            </a:r>
            <a:br>
              <a:rPr lang="bg-BG" altLang="bg-BG" sz="1400"/>
            </a:br>
            <a:r>
              <a:rPr lang="bg-BG" altLang="bg-BG" sz="1400"/>
              <a:t>&lt;provider&gt;org.eclipse.persistence.jpa.PersistenceProvider&lt;/provider&gt;</a:t>
            </a:r>
            <a:br>
              <a:rPr lang="bg-BG" altLang="bg-BG" sz="1400"/>
            </a:br>
            <a:r>
              <a:rPr lang="bg-BG" altLang="bg-BG" sz="1400"/>
              <a:t>&lt;class&gt;javahowto.Greeting&lt;/class&gt;</a:t>
            </a:r>
            <a:br>
              <a:rPr lang="bg-BG" altLang="bg-BG" sz="1400"/>
            </a:br>
            <a:r>
              <a:rPr lang="bg-BG" altLang="bg-BG" sz="1400"/>
              <a:t>&lt;properties&gt;</a:t>
            </a:r>
            <a:br>
              <a:rPr lang="bg-BG" altLang="bg-BG" sz="1400"/>
            </a:br>
            <a:r>
              <a:rPr lang="bg-BG" altLang="bg-BG" sz="1400"/>
              <a:t>&lt;property name="eclipselink.jdbc.password" value=""/&gt;</a:t>
            </a:r>
            <a:br>
              <a:rPr lang="bg-BG" altLang="bg-BG" sz="1400"/>
            </a:br>
            <a:r>
              <a:rPr lang="bg-BG" altLang="bg-BG" sz="1400"/>
              <a:t>&lt;property name="eclipselink.jdbc.user" value="root"/&gt;</a:t>
            </a:r>
            <a:br>
              <a:rPr lang="bg-BG" altLang="bg-BG" sz="1400"/>
            </a:br>
            <a:r>
              <a:rPr lang="bg-BG" altLang="bg-BG" sz="1400"/>
              <a:t>&lt;property name="eclipselink.jdbc.driver" value="com.mysql.jdbc.Driver"/&gt;</a:t>
            </a:r>
            <a:br>
              <a:rPr lang="bg-BG" altLang="bg-BG" sz="1400"/>
            </a:br>
            <a:r>
              <a:rPr lang="bg-BG" altLang="bg-BG" sz="1400"/>
              <a:t>&lt;property name="eclipselink.jdbc.url" value="jdbc:mysql://localhost:3306/test"/&gt;</a:t>
            </a:r>
            <a:br>
              <a:rPr lang="bg-BG" altLang="bg-BG" sz="1400"/>
            </a:br>
            <a:r>
              <a:rPr lang="bg-BG" altLang="bg-BG" sz="1400"/>
              <a:t>&lt;property name="eclipselink.ddl-generation" value="drop-and-create-tables"/&gt;</a:t>
            </a:r>
            <a:br>
              <a:rPr lang="bg-BG" altLang="bg-BG" sz="1400"/>
            </a:br>
            <a:r>
              <a:rPr lang="bg-BG" altLang="bg-BG" sz="1400"/>
              <a:t>&lt;property name="eclipselink.logging.level" value="INFO"/&gt;</a:t>
            </a:r>
            <a:br>
              <a:rPr lang="bg-BG" altLang="bg-BG" sz="1400"/>
            </a:br>
            <a:r>
              <a:rPr lang="bg-BG" altLang="bg-BG" sz="1400"/>
              <a:t>&lt;/properties&gt;</a:t>
            </a:r>
            <a:br>
              <a:rPr lang="bg-BG" altLang="bg-BG" sz="1400"/>
            </a:br>
            <a:r>
              <a:rPr lang="bg-BG" altLang="bg-BG" sz="1400"/>
              <a:t>&lt;/persistence-unit&gt;</a:t>
            </a:r>
            <a:br>
              <a:rPr lang="bg-BG" altLang="bg-BG" sz="1400"/>
            </a:br>
            <a:r>
              <a:rPr lang="bg-BG" altLang="bg-BG" sz="1400"/>
              <a:t>&lt;/persistence&gt;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8055-F594-46B7-B42A-A3CD5495A215}" type="slidenum">
              <a:rPr lang="bg-BG" altLang="bg-BG"/>
              <a:pPr/>
              <a:t>57</a:t>
            </a:fld>
            <a:endParaRPr lang="bg-BG" altLang="bg-BG"/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Java Persistence Query Language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Java Persistence Query Language (JPQL) задава заявки за entities, съхранени в БД. Сиунтактично заявките приличат на SQL заявки, но работят с entity objects вместо директно с таблици от БД.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6E4A3-78B3-4C4A-BCCC-C052ECABEA06}" type="slidenum">
              <a:rPr lang="bg-BG" altLang="bg-BG"/>
              <a:pPr/>
              <a:t>58</a:t>
            </a:fld>
            <a:endParaRPr lang="bg-BG" altLang="bg-BG"/>
          </a:p>
        </p:txBody>
      </p:sp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JPA Query API </a:t>
            </a:r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 sz="2800"/>
              <a:t>JPA задава поддръжка на </a:t>
            </a:r>
            <a:r>
              <a:rPr lang="bg-BG" altLang="bg-BG" sz="2800">
                <a:hlinkClick r:id="rId2"/>
              </a:rPr>
              <a:t> език за полу-обектно-ориентирани заявки (JPQL)</a:t>
            </a:r>
            <a:r>
              <a:rPr lang="bg-BG" altLang="bg-BG" sz="2800"/>
              <a:t> и </a:t>
            </a:r>
            <a:r>
              <a:rPr lang="bg-BG" altLang="bg-BG" sz="2800">
                <a:hlinkClick r:id="rId3"/>
              </a:rPr>
              <a:t>стандартен език за запитвания (SQL)</a:t>
            </a:r>
            <a:r>
              <a:rPr lang="bg-BG" altLang="bg-BG" sz="2800"/>
              <a:t>. JPOX поддържа:</a:t>
            </a:r>
          </a:p>
          <a:p>
            <a:pPr lvl="1"/>
            <a:r>
              <a:rPr lang="bg-BG" altLang="bg-BG" sz="2400">
                <a:hlinkClick r:id="rId2"/>
              </a:rPr>
              <a:t>JPQL</a:t>
            </a:r>
            <a:r>
              <a:rPr lang="bg-BG" altLang="bg-BG" sz="2400"/>
              <a:t> - език, базиран на обекти, които са persisted </a:t>
            </a:r>
            <a:r>
              <a:rPr lang="bg-BG" altLang="bg-BG" sz="2400" b="1"/>
              <a:t>но</a:t>
            </a:r>
            <a:r>
              <a:rPr lang="bg-BG" altLang="bg-BG" sz="2400"/>
              <a:t> със синтаксис, подобен на SQL</a:t>
            </a:r>
          </a:p>
          <a:p>
            <a:pPr lvl="1"/>
            <a:r>
              <a:rPr lang="bg-BG" altLang="bg-BG" sz="2400">
                <a:hlinkClick r:id="rId3"/>
              </a:rPr>
              <a:t>SQL</a:t>
            </a:r>
            <a:r>
              <a:rPr lang="bg-BG" altLang="bg-BG" sz="2400"/>
              <a:t> - стандартизиран език за запитвания, поддържан от повечето RDBMS.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13693-E108-40A3-9D91-308584DD19C8}" type="slidenum">
              <a:rPr lang="bg-BG" altLang="bg-BG"/>
              <a:pPr/>
              <a:t>59</a:t>
            </a:fld>
            <a:endParaRPr lang="bg-BG" altLang="bg-BG"/>
          </a:p>
        </p:txBody>
      </p:sp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JPA Query API </a:t>
            </a:r>
          </a:p>
        </p:txBody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Мощта на JPOX се състои в това, че дава възможност да се пише код, както на обектно-ориентиран език за заявки до БД (</a:t>
            </a:r>
            <a:r>
              <a:rPr lang="bg-BG" altLang="bg-BG" b="1"/>
              <a:t>JPQL),</a:t>
            </a:r>
            <a:r>
              <a:rPr lang="bg-BG" altLang="bg-BG"/>
              <a:t> така и на стандартния </a:t>
            </a:r>
            <a:r>
              <a:rPr lang="bg-BG" altLang="bg-BG" b="1"/>
              <a:t>SQL.</a:t>
            </a:r>
            <a:r>
              <a:rPr lang="bg-BG" altLang="bg-BG"/>
              <a:t> 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7207-3CDC-498F-AA05-6D8905F6A591}" type="slidenum">
              <a:rPr lang="bg-BG" altLang="bg-BG"/>
              <a:pPr/>
              <a:t>60</a:t>
            </a:fld>
            <a:endParaRPr lang="bg-BG" altLang="bg-BG"/>
          </a:p>
        </p:txBody>
      </p:sp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JPA Query API </a:t>
            </a:r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Съществуват 2 категории заявки в JPA :</a:t>
            </a:r>
          </a:p>
          <a:p>
            <a:pPr lvl="1"/>
            <a:r>
              <a:rPr lang="bg-BG" altLang="bg-BG">
                <a:hlinkClick r:id="rId2"/>
              </a:rPr>
              <a:t>Named Query</a:t>
            </a:r>
            <a:r>
              <a:rPr lang="bg-BG" altLang="bg-BG"/>
              <a:t> - заявката се дефинира с MetaData и се използва със своето име по време на изпълнение на кода.</a:t>
            </a:r>
          </a:p>
          <a:p>
            <a:pPr lvl="1"/>
            <a:r>
              <a:rPr lang="bg-BG" altLang="bg-BG" b="1"/>
              <a:t>Programmatic Query</a:t>
            </a:r>
            <a:r>
              <a:rPr lang="bg-BG" altLang="bg-BG"/>
              <a:t> - заявката е дефинирана чрез JPA1 Query API.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560F4-E642-4139-90FF-0FBBBBDD577E}" type="slidenum">
              <a:rPr lang="bg-BG" altLang="bg-BG"/>
              <a:pPr/>
              <a:t>61</a:t>
            </a:fld>
            <a:endParaRPr lang="bg-BG" altLang="bg-BG"/>
          </a:p>
        </p:txBody>
      </p:sp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JPQL и </a:t>
            </a:r>
            <a:r>
              <a:rPr lang="en-US" altLang="bg-BG"/>
              <a:t>SQL </a:t>
            </a:r>
            <a:r>
              <a:rPr lang="bg-BG" altLang="bg-BG"/>
              <a:t>Query - пример</a:t>
            </a:r>
          </a:p>
        </p:txBody>
      </p:sp>
      <p:sp>
        <p:nvSpPr>
          <p:cNvPr id="26317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bg-BG" altLang="bg-BG"/>
          </a:p>
        </p:txBody>
      </p:sp>
      <p:pic>
        <p:nvPicPr>
          <p:cNvPr id="2631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36838"/>
            <a:ext cx="9253538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31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08500"/>
            <a:ext cx="9144000" cy="93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5FCA1-1C4A-4FA2-B735-F838BA70F0AE}" type="slidenum">
              <a:rPr lang="bg-BG" altLang="bg-BG"/>
              <a:pPr/>
              <a:t>62</a:t>
            </a:fld>
            <a:endParaRPr lang="bg-BG" altLang="bg-BG"/>
          </a:p>
        </p:txBody>
      </p:sp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JPQL SELECT 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Синтаксис на </a:t>
            </a:r>
            <a:r>
              <a:rPr lang="en-US" altLang="bg-BG"/>
              <a:t>SELECT</a:t>
            </a:r>
            <a:endParaRPr lang="bg-BG" altLang="bg-BG"/>
          </a:p>
        </p:txBody>
      </p:sp>
      <p:pic>
        <p:nvPicPr>
          <p:cNvPr id="277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2708275"/>
            <a:ext cx="5256213" cy="225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A12F0-5C5C-4431-B82B-F87E2658257C}" type="slidenum">
              <a:rPr lang="bg-BG" altLang="bg-BG"/>
              <a:pPr/>
              <a:t>63</a:t>
            </a:fld>
            <a:endParaRPr lang="bg-BG" altLang="bg-BG"/>
          </a:p>
        </p:txBody>
      </p:sp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setFirstResult(), setMaxResults() 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По подразбиране началният индекс е 0.</a:t>
            </a:r>
          </a:p>
          <a:p>
            <a:r>
              <a:rPr lang="bg-BG" altLang="bg-BG"/>
              <a:t>Примерът връща 1, 2 и 3 записа:</a:t>
            </a:r>
          </a:p>
        </p:txBody>
      </p:sp>
      <p:pic>
        <p:nvPicPr>
          <p:cNvPr id="265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05263"/>
            <a:ext cx="914400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A8200-60AD-406A-BDF4-F26FC59D040E}" type="slidenum">
              <a:rPr lang="bg-BG" altLang="bg-BG"/>
              <a:pPr/>
              <a:t>64</a:t>
            </a:fld>
            <a:endParaRPr lang="bg-BG" altLang="bg-BG"/>
          </a:p>
        </p:txBody>
      </p:sp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setParameter() </a:t>
            </a:r>
          </a:p>
        </p:txBody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Поддържат се именовани и числови параметри:</a:t>
            </a:r>
          </a:p>
        </p:txBody>
      </p:sp>
      <p:pic>
        <p:nvPicPr>
          <p:cNvPr id="266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429000"/>
            <a:ext cx="8964612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5013325"/>
            <a:ext cx="856932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73D9C-15C2-475B-B6DB-FED7F8E14E8E}" type="slidenum">
              <a:rPr lang="bg-BG" altLang="bg-BG"/>
              <a:pPr/>
              <a:t>65</a:t>
            </a:fld>
            <a:endParaRPr lang="bg-BG" altLang="bg-BG"/>
          </a:p>
        </p:txBody>
      </p:sp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getResultList() 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Резултатът от заявката се получава като </a:t>
            </a:r>
            <a:r>
              <a:rPr lang="en-US" altLang="bg-BG"/>
              <a:t>List</a:t>
            </a:r>
            <a:r>
              <a:rPr lang="bg-BG" altLang="bg-BG"/>
              <a:t> чрез </a:t>
            </a:r>
            <a:r>
              <a:rPr lang="en-US" altLang="bg-BG"/>
              <a:t>getResultList()</a:t>
            </a:r>
            <a:r>
              <a:rPr lang="bg-BG" altLang="bg-BG"/>
              <a:t> метод:</a:t>
            </a:r>
          </a:p>
          <a:p>
            <a:endParaRPr lang="bg-BG" altLang="bg-BG"/>
          </a:p>
          <a:p>
            <a:endParaRPr lang="bg-BG" altLang="bg-BG"/>
          </a:p>
          <a:p>
            <a:r>
              <a:rPr lang="bg-BG" altLang="bg-BG"/>
              <a:t>Методът е неприложим при команди "UPDATE"/"DELETE".</a:t>
            </a:r>
          </a:p>
        </p:txBody>
      </p:sp>
      <p:pic>
        <p:nvPicPr>
          <p:cNvPr id="267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429000"/>
            <a:ext cx="8893175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F439D-4F54-463E-BA32-F1E33C4507A7}" type="slidenum">
              <a:rPr lang="bg-BG" altLang="bg-BG"/>
              <a:pPr/>
              <a:t>66</a:t>
            </a:fld>
            <a:endParaRPr lang="bg-BG" altLang="bg-BG"/>
          </a:p>
        </p:txBody>
      </p:sp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getSingleResult()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Когато заявката има само един резултат се ползва </a:t>
            </a:r>
            <a:r>
              <a:rPr lang="bg-BG" altLang="bg-BG" i="1"/>
              <a:t>getSingleResult</a:t>
            </a:r>
            <a:r>
              <a:rPr lang="bg-BG" altLang="bg-BG"/>
              <a:t> . Ако се получават повече резултати е налица изключение.</a:t>
            </a:r>
          </a:p>
          <a:p>
            <a:r>
              <a:rPr lang="bg-BG" altLang="bg-BG"/>
              <a:t>Методът е неприложим при команди "UPDATE"/"DELETE".</a:t>
            </a:r>
          </a:p>
        </p:txBody>
      </p:sp>
      <p:pic>
        <p:nvPicPr>
          <p:cNvPr id="2682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5229225"/>
            <a:ext cx="8713787" cy="811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D5C16-2798-48B5-B3BB-C5BB9E3C8C2E}" type="slidenum">
              <a:rPr lang="bg-BG" altLang="bg-BG"/>
              <a:pPr/>
              <a:t>67</a:t>
            </a:fld>
            <a:endParaRPr lang="bg-BG" altLang="bg-BG"/>
          </a:p>
        </p:txBody>
      </p:sp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/>
              <a:t>JPQL </a:t>
            </a:r>
            <a:r>
              <a:rPr lang="bg-BG" altLang="bg-BG"/>
              <a:t>подзаявки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bg-BG"/>
              <a:t>JPQL </a:t>
            </a:r>
            <a:r>
              <a:rPr lang="bg-BG" altLang="bg-BG"/>
              <a:t>позволява използване и на подзаявки.</a:t>
            </a:r>
          </a:p>
          <a:p>
            <a:r>
              <a:rPr lang="bg-BG" altLang="bg-BG"/>
              <a:t>Пример: търсим всички служители със заплата &gt; средната</a:t>
            </a:r>
          </a:p>
        </p:txBody>
      </p:sp>
      <p:pic>
        <p:nvPicPr>
          <p:cNvPr id="279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292600"/>
            <a:ext cx="7812088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ABA93-14E7-4907-A0B4-943BEA537A73}" type="slidenum">
              <a:rPr lang="bg-BG" altLang="bg-BG"/>
              <a:pPr/>
              <a:t>68</a:t>
            </a:fld>
            <a:endParaRPr lang="bg-BG" altLang="bg-BG"/>
          </a:p>
        </p:txBody>
      </p:sp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All и Any </a:t>
            </a:r>
          </a:p>
        </p:txBody>
      </p:sp>
      <p:sp>
        <p:nvSpPr>
          <p:cNvPr id="28058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Търсим всички служители, получаващи повече от мениджърите в същия отдел:</a:t>
            </a:r>
          </a:p>
          <a:p>
            <a:endParaRPr lang="bg-BG" altLang="bg-BG"/>
          </a:p>
          <a:p>
            <a:r>
              <a:rPr lang="bg-BG" altLang="bg-BG"/>
              <a:t>Търсим всички служители, получаващи повече от който и да е мениджър в същия отдел:</a:t>
            </a:r>
          </a:p>
          <a:p>
            <a:endParaRPr lang="bg-BG" altLang="bg-BG"/>
          </a:p>
        </p:txBody>
      </p:sp>
      <p:pic>
        <p:nvPicPr>
          <p:cNvPr id="2805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44900"/>
            <a:ext cx="91440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058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34050"/>
            <a:ext cx="9144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2EBE4-1136-4197-9701-12C98B20AB1B}" type="slidenum">
              <a:rPr lang="bg-BG" altLang="bg-BG"/>
              <a:pPr/>
              <a:t>69</a:t>
            </a:fld>
            <a:endParaRPr lang="bg-BG" altLang="bg-BG"/>
          </a:p>
        </p:txBody>
      </p:sp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/>
              <a:t>Exist</a:t>
            </a:r>
            <a:endParaRPr lang="bg-BG" altLang="bg-BG"/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Търсим служителите, чиито партньор е служител в същата компания:</a:t>
            </a:r>
          </a:p>
        </p:txBody>
      </p:sp>
      <p:pic>
        <p:nvPicPr>
          <p:cNvPr id="2836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44900"/>
            <a:ext cx="9144000" cy="696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1D93-DD3E-493D-BD7C-7154F5FACD16}" type="slidenum">
              <a:rPr lang="bg-BG" altLang="bg-BG"/>
              <a:pPr/>
              <a:t>70</a:t>
            </a:fld>
            <a:endParaRPr lang="bg-BG" altLang="bg-BG"/>
          </a:p>
        </p:txBody>
      </p:sp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JPQL DELETE </a:t>
            </a:r>
            <a:r>
              <a:rPr lang="en-US" altLang="bg-BG"/>
              <a:t/>
            </a:r>
            <a:br>
              <a:rPr lang="en-US" altLang="bg-BG"/>
            </a:br>
            <a:r>
              <a:rPr lang="en-US" altLang="bg-BG"/>
              <a:t>JPQL UPDATE</a:t>
            </a:r>
            <a:r>
              <a:rPr lang="bg-BG" altLang="bg-BG"/>
              <a:t> </a:t>
            </a:r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Синтаксис на </a:t>
            </a:r>
            <a:r>
              <a:rPr lang="en-US" altLang="bg-BG"/>
              <a:t>DELETE</a:t>
            </a:r>
          </a:p>
          <a:p>
            <a:endParaRPr lang="en-US" altLang="bg-BG"/>
          </a:p>
          <a:p>
            <a:endParaRPr lang="en-US" altLang="bg-BG"/>
          </a:p>
          <a:p>
            <a:r>
              <a:rPr lang="bg-BG" altLang="bg-BG"/>
              <a:t>Синтаксис на </a:t>
            </a:r>
            <a:r>
              <a:rPr lang="en-US" altLang="bg-BG"/>
              <a:t>UPDATE</a:t>
            </a:r>
            <a:endParaRPr lang="bg-BG" altLang="bg-BG"/>
          </a:p>
        </p:txBody>
      </p:sp>
      <p:pic>
        <p:nvPicPr>
          <p:cNvPr id="278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636838"/>
            <a:ext cx="4752975" cy="88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853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437063"/>
            <a:ext cx="7812087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E6F6A-C4EB-49B8-BC2B-65B0402834EE}" type="slidenum">
              <a:rPr lang="bg-BG" altLang="bg-BG"/>
              <a:pPr/>
              <a:t>71</a:t>
            </a:fld>
            <a:endParaRPr lang="bg-BG" altLang="bg-BG"/>
          </a:p>
        </p:txBody>
      </p:sp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executeUpdate() 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За изпълнение на заявка JPA UPDATE/DELETE се ползва </a:t>
            </a:r>
            <a:r>
              <a:rPr lang="bg-BG" altLang="bg-BG" i="1"/>
              <a:t>executeUpdate</a:t>
            </a:r>
            <a:r>
              <a:rPr lang="bg-BG" altLang="bg-BG"/>
              <a:t>. Функцията връща броя на обектите, променени от заявката. Функцията е неприложима при "SELECT". </a:t>
            </a:r>
          </a:p>
        </p:txBody>
      </p:sp>
      <p:pic>
        <p:nvPicPr>
          <p:cNvPr id="269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5229225"/>
            <a:ext cx="6840537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6B60-AAD1-4C69-BA16-1F452877AC45}" type="slidenum">
              <a:rPr lang="bg-BG" altLang="bg-BG"/>
              <a:pPr/>
              <a:t>72</a:t>
            </a:fld>
            <a:endParaRPr lang="bg-BG" altLang="bg-BG"/>
          </a:p>
        </p:txBody>
      </p:sp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Добавяне на записи в таблица от БД</a:t>
            </a:r>
          </a:p>
        </p:txBody>
      </p:sp>
      <p:sp>
        <p:nvSpPr>
          <p:cNvPr id="270340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bg-BG" altLang="bg-BG"/>
          </a:p>
        </p:txBody>
      </p:sp>
      <p:pic>
        <p:nvPicPr>
          <p:cNvPr id="2703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6113"/>
            <a:ext cx="9144000" cy="419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D964F-F0DF-44BF-A781-B874722FA802}" type="slidenum">
              <a:rPr lang="bg-BG" altLang="bg-BG"/>
              <a:pPr/>
              <a:t>73</a:t>
            </a:fld>
            <a:endParaRPr lang="bg-BG" altLang="bg-BG"/>
          </a:p>
        </p:txBody>
      </p:sp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JPA Named Queries </a:t>
            </a:r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1981200"/>
            <a:ext cx="7543800" cy="23844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bg-BG" altLang="bg-BG" sz="2400"/>
              <a:t>С JPA1 API може да се дефинира заявката по време на изпълнение на кода или чрез MetaData/annotations на клас и да се ползва при изпълнението на кода със символично име. Втората опция означава, че методът, извикващ заявка, се улеснява. </a:t>
            </a:r>
          </a:p>
          <a:p>
            <a:pPr>
              <a:lnSpc>
                <a:spcPct val="80000"/>
              </a:lnSpc>
            </a:pPr>
            <a:r>
              <a:rPr lang="bg-BG" altLang="bg-BG" sz="2400"/>
              <a:t>Пример:</a:t>
            </a:r>
          </a:p>
        </p:txBody>
      </p:sp>
      <p:sp>
        <p:nvSpPr>
          <p:cNvPr id="272388" name="Rectangle 4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endParaRPr lang="bg-BG" altLang="bg-BG" sz="2800"/>
          </a:p>
        </p:txBody>
      </p:sp>
      <p:pic>
        <p:nvPicPr>
          <p:cNvPr id="27238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4221163"/>
            <a:ext cx="6697662" cy="174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239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6088063"/>
            <a:ext cx="5473700" cy="76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53B6C-6C8A-469D-ACB4-2A8B81844275}" type="slidenum">
              <a:rPr lang="bg-BG" altLang="bg-BG"/>
              <a:pPr/>
              <a:t>74</a:t>
            </a:fld>
            <a:endParaRPr lang="bg-BG" altLang="bg-BG"/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JPA Named Queries 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Именована </a:t>
            </a:r>
            <a:r>
              <a:rPr lang="en-US" altLang="bg-BG"/>
              <a:t>SQL</a:t>
            </a:r>
            <a:r>
              <a:rPr lang="bg-BG" altLang="bg-BG"/>
              <a:t> заявка – пример:</a:t>
            </a:r>
          </a:p>
        </p:txBody>
      </p:sp>
      <p:pic>
        <p:nvPicPr>
          <p:cNvPr id="27443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636838"/>
            <a:ext cx="7273925" cy="188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443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4797425"/>
            <a:ext cx="7273925" cy="1001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0FE5D-ABA1-4EEE-971F-09353DFA6653}" type="slidenum">
              <a:rPr lang="bg-BG" altLang="bg-BG"/>
              <a:pPr/>
              <a:t>75</a:t>
            </a:fld>
            <a:endParaRPr lang="bg-BG" altLang="bg-BG"/>
          </a:p>
        </p:txBody>
      </p:sp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 b="0"/>
              <a:t>Developing JPA Projects</a:t>
            </a:r>
          </a:p>
        </p:txBody>
      </p:sp>
      <p:sp>
        <p:nvSpPr>
          <p:cNvPr id="23245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bg-BG" altLang="bg-BG"/>
          </a:p>
        </p:txBody>
      </p:sp>
      <p:pic>
        <p:nvPicPr>
          <p:cNvPr id="2324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2420938"/>
            <a:ext cx="8577262" cy="220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545D-2E3A-4C05-96EB-928A3159C3A0}" type="slidenum">
              <a:rPr lang="bg-BG" altLang="bg-BG"/>
              <a:pPr/>
              <a:t>76</a:t>
            </a:fld>
            <a:endParaRPr lang="bg-BG" altLang="bg-BG"/>
          </a:p>
        </p:txBody>
      </p:sp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Примерно конзолно приложение</a:t>
            </a:r>
          </a:p>
        </p:txBody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 sz="2800"/>
              <a:t>Създаване на нов проект</a:t>
            </a:r>
            <a:endParaRPr lang="en-US" altLang="bg-BG" sz="2800"/>
          </a:p>
          <a:p>
            <a:pPr lvl="1">
              <a:lnSpc>
                <a:spcPct val="90000"/>
              </a:lnSpc>
            </a:pPr>
            <a:r>
              <a:rPr lang="en-US" altLang="bg-BG" sz="2400"/>
              <a:t>File-&gt;New-&gt;JPA Project</a:t>
            </a:r>
            <a:r>
              <a:rPr lang="bg-BG" altLang="bg-BG" sz="2400"/>
              <a:t>, попълва се името на проекта и връзката към БД (ако я няма се създава)</a:t>
            </a:r>
          </a:p>
          <a:p>
            <a:pPr>
              <a:lnSpc>
                <a:spcPct val="90000"/>
              </a:lnSpc>
            </a:pPr>
            <a:r>
              <a:rPr lang="bg-BG" altLang="bg-BG" sz="2800"/>
              <a:t>Ако съществува БД се свързва през </a:t>
            </a:r>
            <a:r>
              <a:rPr lang="en-US" altLang="bg-BG" sz="2800"/>
              <a:t>Data Source Explorer. </a:t>
            </a:r>
            <a:r>
              <a:rPr lang="bg-BG" altLang="bg-BG" sz="2800"/>
              <a:t>Задължително се добавя като </a:t>
            </a:r>
            <a:r>
              <a:rPr lang="en-US" altLang="bg-BG" sz="2800"/>
              <a:t>external JAR</a:t>
            </a:r>
            <a:r>
              <a:rPr lang="bg-BG" altLang="bg-BG" sz="2800"/>
              <a:t> </a:t>
            </a:r>
            <a:r>
              <a:rPr lang="en-US" altLang="bg-BG" sz="2800"/>
              <a:t>connector/j.</a:t>
            </a:r>
          </a:p>
          <a:p>
            <a:pPr>
              <a:lnSpc>
                <a:spcPct val="90000"/>
              </a:lnSpc>
            </a:pPr>
            <a:r>
              <a:rPr lang="bg-BG" altLang="bg-BG" sz="2800"/>
              <a:t>Създаване на </a:t>
            </a:r>
            <a:r>
              <a:rPr lang="en-US" altLang="bg-BG" sz="2800"/>
              <a:t>Entity Class</a:t>
            </a:r>
          </a:p>
          <a:p>
            <a:pPr lvl="1">
              <a:lnSpc>
                <a:spcPct val="90000"/>
              </a:lnSpc>
            </a:pPr>
            <a:r>
              <a:rPr lang="en-US" altLang="bg-BG" sz="2400"/>
              <a:t>File-&gt;New-&gt;Other-&gt;JPA-&gt;Entity from Tables</a:t>
            </a:r>
          </a:p>
          <a:p>
            <a:pPr lvl="1">
              <a:lnSpc>
                <a:spcPct val="90000"/>
              </a:lnSpc>
            </a:pPr>
            <a:r>
              <a:rPr lang="en-US" altLang="bg-BG" sz="2400"/>
              <a:t>File-&gt;New-&gt;Other-&gt;JPA-&gt;Entity</a:t>
            </a:r>
            <a:endParaRPr lang="bg-BG" altLang="bg-BG" sz="24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7400-0F57-4B96-941D-C3DFED0DC0F4}" type="slidenum">
              <a:rPr lang="bg-BG" altLang="bg-BG"/>
              <a:pPr/>
              <a:t>77</a:t>
            </a:fld>
            <a:endParaRPr lang="bg-BG" altLang="bg-BG"/>
          </a:p>
        </p:txBody>
      </p:sp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Примерно конзолно приложение</a:t>
            </a:r>
          </a:p>
        </p:txBody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bg-BG" altLang="bg-BG" sz="2400"/>
              <a:t>Създаване на файла </a:t>
            </a:r>
            <a:r>
              <a:rPr lang="en-US" altLang="bg-BG" sz="2400"/>
              <a:t>persistence.xml</a:t>
            </a:r>
          </a:p>
          <a:p>
            <a:pPr lvl="1">
              <a:lnSpc>
                <a:spcPct val="90000"/>
              </a:lnSpc>
            </a:pPr>
            <a:r>
              <a:rPr lang="en-US" altLang="bg-BG" sz="2000"/>
              <a:t>General </a:t>
            </a:r>
            <a:r>
              <a:rPr lang="bg-BG" altLang="bg-BG" sz="2000"/>
              <a:t>таб : задава се името на </a:t>
            </a:r>
            <a:r>
              <a:rPr lang="en-US" altLang="bg-BG" sz="2000"/>
              <a:t>persistence unit, provider </a:t>
            </a:r>
            <a:r>
              <a:rPr lang="bg-BG" altLang="bg-BG" sz="2000"/>
              <a:t>и </a:t>
            </a:r>
            <a:r>
              <a:rPr lang="en-US" altLang="bg-BG" sz="2000"/>
              <a:t>Managed Classes</a:t>
            </a:r>
          </a:p>
          <a:p>
            <a:pPr lvl="1">
              <a:lnSpc>
                <a:spcPct val="90000"/>
              </a:lnSpc>
            </a:pPr>
            <a:r>
              <a:rPr lang="en-US" altLang="bg-BG" sz="2000"/>
              <a:t>Connection </a:t>
            </a:r>
            <a:r>
              <a:rPr lang="bg-BG" altLang="bg-BG" sz="2000"/>
              <a:t>таб : избира се типа на транзакцията</a:t>
            </a:r>
          </a:p>
          <a:p>
            <a:pPr lvl="1">
              <a:lnSpc>
                <a:spcPct val="90000"/>
              </a:lnSpc>
            </a:pPr>
            <a:r>
              <a:rPr lang="en-US" altLang="bg-BG" sz="2000"/>
              <a:t>Properties </a:t>
            </a:r>
            <a:r>
              <a:rPr lang="bg-BG" altLang="bg-BG" sz="2000"/>
              <a:t>таб : задават се eclipselink.jdbc.driver (=com.mysql.jdbc.Driver), eclipselink.jdbc.url (=jdbc:mysql://localhost:3306/coffee), eclipselink.jdbc.user (=</a:t>
            </a:r>
            <a:r>
              <a:rPr lang="en-US" altLang="bg-BG" sz="2000"/>
              <a:t>root</a:t>
            </a:r>
            <a:r>
              <a:rPr lang="bg-BG" altLang="bg-BG" sz="2000"/>
              <a:t>) и eclipselink.jdbc.password</a:t>
            </a:r>
            <a:r>
              <a:rPr lang="en-US" altLang="bg-BG" sz="2000"/>
              <a:t> (=‘’)</a:t>
            </a:r>
          </a:p>
          <a:p>
            <a:pPr lvl="1">
              <a:lnSpc>
                <a:spcPct val="90000"/>
              </a:lnSpc>
            </a:pPr>
            <a:r>
              <a:rPr lang="bg-BG" altLang="bg-BG" sz="2000"/>
              <a:t>В таба </a:t>
            </a:r>
            <a:r>
              <a:rPr lang="en-US" altLang="bg-BG" sz="2000"/>
              <a:t>Source </a:t>
            </a:r>
            <a:r>
              <a:rPr lang="bg-BG" altLang="bg-BG" sz="2000"/>
              <a:t>можем да видим какъв </a:t>
            </a:r>
            <a:r>
              <a:rPr lang="en-US" altLang="bg-BG" sz="2000"/>
              <a:t>xml</a:t>
            </a:r>
            <a:r>
              <a:rPr lang="bg-BG" altLang="bg-BG" sz="2000"/>
              <a:t> се е генерирал.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Д. Гоцева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БД-лекции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DD598-A6C3-4DF7-98EA-212699B61D68}" type="slidenum">
              <a:rPr lang="bg-BG" altLang="bg-BG"/>
              <a:pPr/>
              <a:t>78</a:t>
            </a:fld>
            <a:endParaRPr lang="bg-BG" altLang="bg-BG"/>
          </a:p>
        </p:txBody>
      </p:sp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bg-BG"/>
              <a:t>Примерно конзолно приложение</a:t>
            </a:r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bg-BG"/>
              <a:t>Създаване на тестова програма</a:t>
            </a:r>
          </a:p>
          <a:p>
            <a:pPr lvl="1"/>
            <a:r>
              <a:rPr lang="bg-BG" altLang="bg-BG"/>
              <a:t>Метод за инициализация на </a:t>
            </a:r>
            <a:r>
              <a:rPr lang="en-US" altLang="bg-BG"/>
              <a:t>EntityManager</a:t>
            </a:r>
          </a:p>
          <a:p>
            <a:pPr lvl="1"/>
            <a:r>
              <a:rPr lang="bg-BG" altLang="bg-BG"/>
              <a:t>Метод за затваряне на </a:t>
            </a:r>
            <a:r>
              <a:rPr lang="en-US" altLang="bg-BG"/>
              <a:t>EntityManager</a:t>
            </a:r>
          </a:p>
          <a:p>
            <a:pPr lvl="1"/>
            <a:r>
              <a:rPr lang="bg-BG" altLang="bg-BG"/>
              <a:t>Методи за справки, актуализации и т.н.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Shimmer</Template>
  <TotalTime>3952</TotalTime>
  <Words>2357</Words>
  <Application>Microsoft Office PowerPoint</Application>
  <PresentationFormat>On-screen Show (4:3)</PresentationFormat>
  <Paragraphs>476</Paragraphs>
  <Slides>78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3" baseType="lpstr">
      <vt:lpstr>Arial</vt:lpstr>
      <vt:lpstr>Tahoma</vt:lpstr>
      <vt:lpstr>Times New Roman</vt:lpstr>
      <vt:lpstr>Wingdings</vt:lpstr>
      <vt:lpstr>Shimmer</vt:lpstr>
      <vt:lpstr>JDBC</vt:lpstr>
      <vt:lpstr>Въведение</vt:lpstr>
      <vt:lpstr>Въведение</vt:lpstr>
      <vt:lpstr>JDBC компоненти</vt:lpstr>
      <vt:lpstr>JDBC компоненти</vt:lpstr>
      <vt:lpstr>JDBC компоненти</vt:lpstr>
      <vt:lpstr>JDBC компоненти</vt:lpstr>
      <vt:lpstr>JDBC Architecture</vt:lpstr>
      <vt:lpstr>JDBC Architecture</vt:lpstr>
      <vt:lpstr>Свързване с MySQL</vt:lpstr>
      <vt:lpstr>Обработка на ResultSet</vt:lpstr>
      <vt:lpstr>Типове ResultSet </vt:lpstr>
      <vt:lpstr>Вид на ResultSet</vt:lpstr>
      <vt:lpstr>cursor holdability</vt:lpstr>
      <vt:lpstr>Използване на ResultSet</vt:lpstr>
      <vt:lpstr>Използване на ResultSet</vt:lpstr>
      <vt:lpstr>Използване на getXXX()</vt:lpstr>
      <vt:lpstr>Използване на getXXX()</vt:lpstr>
      <vt:lpstr>Типово съответствие</vt:lpstr>
      <vt:lpstr>Encoding </vt:lpstr>
      <vt:lpstr>Актуализация на запис от ResultSet</vt:lpstr>
      <vt:lpstr>Prepared Statements </vt:lpstr>
      <vt:lpstr>Създаване на PreparedStatement обект</vt:lpstr>
      <vt:lpstr>Задаване на стойност на параметрите на PreparedStatement</vt:lpstr>
      <vt:lpstr>Joins </vt:lpstr>
      <vt:lpstr>Transactions </vt:lpstr>
      <vt:lpstr> Режим Auto-commit</vt:lpstr>
      <vt:lpstr>Приключване на транзакция</vt:lpstr>
      <vt:lpstr>transaction isolation level </vt:lpstr>
      <vt:lpstr>transaction isolation level</vt:lpstr>
      <vt:lpstr>transaction isolation level</vt:lpstr>
      <vt:lpstr>transaction isolation level</vt:lpstr>
      <vt:lpstr>Работа със Savepoint</vt:lpstr>
      <vt:lpstr>Работа със Savepoint</vt:lpstr>
      <vt:lpstr>stored procedure</vt:lpstr>
      <vt:lpstr>Извикване на Stored Procedure от JDBC</vt:lpstr>
      <vt:lpstr>Извикване на Stored Procedure от JDBC</vt:lpstr>
      <vt:lpstr>Извикване на Stored Procedure от JDBC</vt:lpstr>
      <vt:lpstr>Извличане на AUTO_INCREMENT поле</vt:lpstr>
      <vt:lpstr>Java Persistence API (JPA) и EclipseLink</vt:lpstr>
      <vt:lpstr>Java Persistence API</vt:lpstr>
      <vt:lpstr>Java Persistence API</vt:lpstr>
      <vt:lpstr>Java Persistence API</vt:lpstr>
      <vt:lpstr>Persistence provider</vt:lpstr>
      <vt:lpstr>Entities</vt:lpstr>
      <vt:lpstr>Entities</vt:lpstr>
      <vt:lpstr>Полета и Property setters and getters</vt:lpstr>
      <vt:lpstr>Полета и Property setters and getters</vt:lpstr>
      <vt:lpstr>Анотации на полета / getter и setter </vt:lpstr>
      <vt:lpstr>Relationship Mapping</vt:lpstr>
      <vt:lpstr>Relationship  Mapping</vt:lpstr>
      <vt:lpstr>Entity Manager</vt:lpstr>
      <vt:lpstr>Entity Manager</vt:lpstr>
      <vt:lpstr>Persistence Units</vt:lpstr>
      <vt:lpstr>persistence.xml File</vt:lpstr>
      <vt:lpstr>persistence.xml File</vt:lpstr>
      <vt:lpstr>Java Persistence Query Language</vt:lpstr>
      <vt:lpstr>JPA Query API </vt:lpstr>
      <vt:lpstr>JPA Query API </vt:lpstr>
      <vt:lpstr>JPA Query API </vt:lpstr>
      <vt:lpstr>JPQL и SQL Query - пример</vt:lpstr>
      <vt:lpstr>JPQL SELECT </vt:lpstr>
      <vt:lpstr>setFirstResult(), setMaxResults() </vt:lpstr>
      <vt:lpstr>setParameter() </vt:lpstr>
      <vt:lpstr>getResultList() </vt:lpstr>
      <vt:lpstr>getSingleResult()</vt:lpstr>
      <vt:lpstr>JPQL подзаявки</vt:lpstr>
      <vt:lpstr>All и Any </vt:lpstr>
      <vt:lpstr>Exist</vt:lpstr>
      <vt:lpstr>JPQL DELETE  JPQL UPDATE </vt:lpstr>
      <vt:lpstr>executeUpdate() </vt:lpstr>
      <vt:lpstr>Добавяне на записи в таблица от БД</vt:lpstr>
      <vt:lpstr>JPA Named Queries </vt:lpstr>
      <vt:lpstr>JPA Named Queries </vt:lpstr>
      <vt:lpstr>Developing JPA Projects</vt:lpstr>
      <vt:lpstr>Примерно конзолно приложение</vt:lpstr>
      <vt:lpstr>Примерно конзолно приложение</vt:lpstr>
      <vt:lpstr>Примерно конзолно приложение</vt:lpstr>
    </vt:vector>
  </TitlesOfParts>
  <Company>NBU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Бази данни</dc:title>
  <dc:creator>NBU</dc:creator>
  <cp:lastModifiedBy>Admin</cp:lastModifiedBy>
  <cp:revision>229</cp:revision>
  <dcterms:created xsi:type="dcterms:W3CDTF">2008-02-13T09:05:34Z</dcterms:created>
  <dcterms:modified xsi:type="dcterms:W3CDTF">2014-05-25T13:34:31Z</dcterms:modified>
</cp:coreProperties>
</file>