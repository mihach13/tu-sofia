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9" r:id="rId4"/>
    <p:sldId id="258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82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3" r:id="rId29"/>
    <p:sldId id="285" r:id="rId30"/>
    <p:sldId id="286" r:id="rId31"/>
    <p:sldId id="284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6" r:id="rId41"/>
    <p:sldId id="297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06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06C55-843C-4057-9A35-B16DA0C16BA3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7878C68-F33F-45BB-9A75-DE8C604EA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845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06C55-843C-4057-9A35-B16DA0C16BA3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78C68-F33F-45BB-9A75-DE8C604EA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94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06C55-843C-4057-9A35-B16DA0C16BA3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7878C68-F33F-45BB-9A75-DE8C604EA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49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06C55-843C-4057-9A35-B16DA0C16BA3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7878C68-F33F-45BB-9A75-DE8C604EA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685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06C55-843C-4057-9A35-B16DA0C16BA3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7878C68-F33F-45BB-9A75-DE8C604EA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24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06C55-843C-4057-9A35-B16DA0C16BA3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78C68-F33F-45BB-9A75-DE8C604EA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900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06C55-843C-4057-9A35-B16DA0C16BA3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78C68-F33F-45BB-9A75-DE8C604EA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006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06C55-843C-4057-9A35-B16DA0C16BA3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78C68-F33F-45BB-9A75-DE8C604EA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292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06C55-843C-4057-9A35-B16DA0C16BA3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7878C68-F33F-45BB-9A75-DE8C604EA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395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06C55-843C-4057-9A35-B16DA0C16BA3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7878C68-F33F-45BB-9A75-DE8C604EA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627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06C55-843C-4057-9A35-B16DA0C16BA3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7878C68-F33F-45BB-9A75-DE8C604EAEB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808021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06C55-843C-4057-9A35-B16DA0C16BA3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7878C68-F33F-45BB-9A75-DE8C604EA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77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06C55-843C-4057-9A35-B16DA0C16BA3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7878C68-F33F-45BB-9A75-DE8C604EAEB6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23799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06C55-843C-4057-9A35-B16DA0C16BA3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7878C68-F33F-45BB-9A75-DE8C604EA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161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06C55-843C-4057-9A35-B16DA0C16BA3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78C68-F33F-45BB-9A75-DE8C604EA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766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06C55-843C-4057-9A35-B16DA0C16BA3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878C68-F33F-45BB-9A75-DE8C604EA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19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C06C55-843C-4057-9A35-B16DA0C16BA3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7878C68-F33F-45BB-9A75-DE8C604EA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460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C61F3-60DC-13EB-8FC0-DC943DEFCE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6375" y="874486"/>
            <a:ext cx="8915399" cy="2262781"/>
          </a:xfrm>
        </p:spPr>
        <p:txBody>
          <a:bodyPr/>
          <a:lstStyle/>
          <a:p>
            <a:r>
              <a:rPr lang="ru-RU" b="1" dirty="0"/>
              <a:t>Типове данни в MySQL: основи и класификация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CB8C0A-B111-1773-18D5-BDBA202F9C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4093028"/>
            <a:ext cx="8791575" cy="1164771"/>
          </a:xfrm>
        </p:spPr>
        <p:txBody>
          <a:bodyPr>
            <a:normAutofit lnSpcReduction="10000"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r>
              <a:rPr kumimoji="0" lang="bg-BG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инж. Лилия Андонова</a:t>
            </a:r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r>
              <a:rPr kumimoji="0" lang="bg-BG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ТУ – София</a:t>
            </a:r>
          </a:p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r>
              <a:rPr kumimoji="0" lang="bg-BG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ФКСТ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9C546-6DED-3755-C692-BE3684C48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085" y="618518"/>
            <a:ext cx="9436325" cy="997406"/>
          </a:xfrm>
        </p:spPr>
        <p:txBody>
          <a:bodyPr>
            <a:normAutofit/>
          </a:bodyPr>
          <a:lstStyle/>
          <a:p>
            <a:r>
              <a:rPr lang="ru-RU" b="1" dirty="0"/>
              <a:t>План на лекцията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C53E4-8D62-4A24-CF66-D41372646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какво са типове данни</a:t>
            </a:r>
          </a:p>
          <a:p>
            <a:r>
              <a:rPr lang="ru-RU" dirty="0"/>
              <a:t>защо са важни</a:t>
            </a:r>
          </a:p>
          <a:p>
            <a:r>
              <a:rPr lang="ru-RU" dirty="0"/>
              <a:t>видове</a:t>
            </a:r>
          </a:p>
          <a:p>
            <a:r>
              <a:rPr lang="ru-RU" dirty="0"/>
              <a:t>реални примери</a:t>
            </a:r>
          </a:p>
          <a:p>
            <a:r>
              <a:rPr lang="ru-RU" dirty="0"/>
              <a:t>архитектурни последствия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518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37443-7798-79AF-3ECF-E277A1718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4629" y="625482"/>
            <a:ext cx="9883849" cy="79829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Таблиц</a:t>
            </a:r>
            <a:r>
              <a:rPr lang="bg-BG" b="1" dirty="0"/>
              <a:t>а</a:t>
            </a:r>
            <a:br>
              <a:rPr lang="ru-RU" dirty="0"/>
            </a:br>
            <a:endParaRPr lang="en-US" dirty="0"/>
          </a:p>
        </p:txBody>
      </p:sp>
      <p:sp>
        <p:nvSpPr>
          <p:cNvPr id="4" name="AutoShape 7">
            <a:extLst>
              <a:ext uri="{FF2B5EF4-FFF2-40B4-BE49-F238E27FC236}">
                <a16:creationId xmlns:a16="http://schemas.microsoft.com/office/drawing/2014/main" id="{331BCCEE-9F68-7F24-1A14-7F2F739E4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50206" y="2005914"/>
            <a:ext cx="1588272" cy="609557"/>
          </a:xfrm>
          <a:prstGeom prst="wedgeRoundRectCallout">
            <a:avLst>
              <a:gd name="adj1" fmla="val -82609"/>
              <a:gd name="adj2" fmla="val 42619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399" b="1" noProof="1">
                <a:solidFill>
                  <a:srgbClr val="FFFFFF"/>
                </a:solidFill>
              </a:rPr>
              <a:t>Колона</a:t>
            </a:r>
            <a:endParaRPr lang="en-US" sz="2399" b="1" noProof="1">
              <a:solidFill>
                <a:srgbClr val="FFFFFF"/>
              </a:solidFill>
            </a:endParaRPr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BCDF166C-595E-36F2-44B7-689ED2254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2" y="5512017"/>
            <a:ext cx="1354665" cy="609557"/>
          </a:xfrm>
          <a:prstGeom prst="wedgeRoundRectCallout">
            <a:avLst>
              <a:gd name="adj1" fmla="val -149726"/>
              <a:gd name="adj2" fmla="val -245321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399" b="1" noProof="1">
                <a:solidFill>
                  <a:srgbClr val="FFFFFF"/>
                </a:solidFill>
              </a:rPr>
              <a:t>Клетка</a:t>
            </a:r>
            <a:endParaRPr lang="en-US" sz="2399" b="1" noProof="1">
              <a:solidFill>
                <a:srgbClr val="FFFFFF"/>
              </a:solidFill>
            </a:endParaRPr>
          </a:p>
        </p:txBody>
      </p:sp>
      <p:graphicFrame>
        <p:nvGraphicFramePr>
          <p:cNvPr id="6" name="Group 49">
            <a:extLst>
              <a:ext uri="{FF2B5EF4-FFF2-40B4-BE49-F238E27FC236}">
                <a16:creationId xmlns:a16="http://schemas.microsoft.com/office/drawing/2014/main" id="{06A4CE6A-D973-81A6-CB96-907B23A960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6377547"/>
              </p:ext>
            </p:extLst>
          </p:nvPr>
        </p:nvGraphicFramePr>
        <p:xfrm>
          <a:off x="1654629" y="2483513"/>
          <a:ext cx="8921586" cy="2415496"/>
        </p:xfrm>
        <a:graphic>
          <a:graphicData uri="http://schemas.openxmlformats.org/drawingml/2006/table">
            <a:tbl>
              <a:tblPr/>
              <a:tblGrid>
                <a:gridCol w="1504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4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4533">
                  <a:extLst>
                    <a:ext uri="{9D8B030D-6E8A-4147-A177-3AD203B41FA5}">
                      <a16:colId xmlns:a16="http://schemas.microsoft.com/office/drawing/2014/main" val="1808587013"/>
                    </a:ext>
                  </a:extLst>
                </a:gridCol>
                <a:gridCol w="3217472">
                  <a:extLst>
                    <a:ext uri="{9D8B030D-6E8A-4147-A177-3AD203B41FA5}">
                      <a16:colId xmlns:a16="http://schemas.microsoft.com/office/drawing/2014/main" val="1545185628"/>
                    </a:ext>
                  </a:extLst>
                </a:gridCol>
              </a:tblGrid>
              <a:tr h="58679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2800" b="1" dirty="0"/>
                        <a:t> id </a:t>
                      </a:r>
                      <a:endParaRPr kumimoji="1" lang="en-US" sz="2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7425" marR="157425" marT="45708" marB="45708" anchor="ctr" horzOverflow="overflow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50000"/>
                        <a:alpha val="4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2800" b="1" dirty="0"/>
                        <a:t>name</a:t>
                      </a:r>
                      <a:endParaRPr kumimoji="1" lang="bg-BG" sz="2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7425" marR="157425" marT="45708" marB="45708" anchor="ctr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50000"/>
                        <a:alpha val="4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2800" b="1" dirty="0"/>
                        <a:t>birth_date </a:t>
                      </a:r>
                      <a:endParaRPr kumimoji="1" lang="bg-BG" sz="2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7425" marR="157425" marT="45708" marB="45708" anchor="ctr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50000"/>
                        <a:alpha val="49804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</a:pPr>
                      <a:r>
                        <a:rPr lang="en-US" sz="2800" b="1" dirty="0"/>
                        <a:t>average_grade </a:t>
                      </a:r>
                      <a:endParaRPr kumimoji="1" lang="bg-BG" sz="2800" b="1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57425" marR="157425" marT="45708" marB="45708" anchor="ctr" horzOverflow="overflow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50000"/>
                        <a:alpha val="49804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08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648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/>
                          </a:solidFill>
                        </a:rPr>
                        <a:t>Brigitte</a:t>
                      </a:r>
                    </a:p>
                  </a:txBody>
                  <a:tcPr marL="91416" marR="91416" marT="45708" marB="45708" anchor="ctr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648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/>
                          </a:solidFill>
                        </a:rPr>
                        <a:t>03/12/2000</a:t>
                      </a:r>
                    </a:p>
                  </a:txBody>
                  <a:tcPr marL="91416" marR="91416" marT="45708" marB="45708" anchor="ctr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648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2"/>
                          </a:solidFill>
                        </a:rPr>
                        <a:t>5.25</a:t>
                      </a:r>
                    </a:p>
                  </a:txBody>
                  <a:tcPr marL="91416" marR="91416" marT="45708" marB="45708" anchor="ctr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64848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08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648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/>
                          </a:solidFill>
                        </a:rPr>
                        <a:t>August</a:t>
                      </a:r>
                    </a:p>
                  </a:txBody>
                  <a:tcPr marL="91416" marR="91416" marT="45708" marB="45708" anchor="ctr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648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/>
                          </a:solidFill>
                        </a:rPr>
                        <a:t>27/05/2004</a:t>
                      </a:r>
                    </a:p>
                  </a:txBody>
                  <a:tcPr marL="91416" marR="91416" marT="45708" marB="45708" anchor="ctr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648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2"/>
                          </a:solidFill>
                        </a:rPr>
                        <a:t>3.50</a:t>
                      </a:r>
                    </a:p>
                  </a:txBody>
                  <a:tcPr marL="91416" marR="91416" marT="45708" marB="45708" anchor="ctr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64848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08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648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/>
                          </a:solidFill>
                        </a:rPr>
                        <a:t>Benjamin</a:t>
                      </a:r>
                    </a:p>
                  </a:txBody>
                  <a:tcPr marL="91416" marR="91416" marT="45708" marB="45708" anchor="ctr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648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/>
                          </a:solidFill>
                        </a:rPr>
                        <a:t>15/10/2005</a:t>
                      </a:r>
                    </a:p>
                  </a:txBody>
                  <a:tcPr marL="91416" marR="91416" marT="45708" marB="45708" anchor="ctr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648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2"/>
                          </a:solidFill>
                        </a:rPr>
                        <a:t>4.75</a:t>
                      </a:r>
                    </a:p>
                  </a:txBody>
                  <a:tcPr marL="91416" marR="91416" marT="45708" marB="45708" anchor="ctr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64848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08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16" marR="91416" marT="45708" marB="45708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648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/>
                          </a:solidFill>
                        </a:rPr>
                        <a:t>Denis</a:t>
                      </a:r>
                    </a:p>
                  </a:txBody>
                  <a:tcPr marL="91416" marR="91416" marT="45708" marB="45708" anchor="ctr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648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2"/>
                          </a:solidFill>
                        </a:rPr>
                        <a:t>07/01/2006</a:t>
                      </a:r>
                    </a:p>
                  </a:txBody>
                  <a:tcPr marL="91416" marR="91416" marT="45708" marB="45708" anchor="ctr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6484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2"/>
                          </a:solidFill>
                        </a:rPr>
                        <a:t>2.75</a:t>
                      </a:r>
                    </a:p>
                  </a:txBody>
                  <a:tcPr marL="91416" marR="91416" marT="45708" marB="45708" anchor="ctr">
                    <a:lnL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64848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AutoShape 7">
            <a:extLst>
              <a:ext uri="{FF2B5EF4-FFF2-40B4-BE49-F238E27FC236}">
                <a16:creationId xmlns:a16="http://schemas.microsoft.com/office/drawing/2014/main" id="{90B31BC8-D6E8-DBBF-0A64-7C7B91149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67" y="4301430"/>
            <a:ext cx="1159990" cy="609557"/>
          </a:xfrm>
          <a:prstGeom prst="wedgeRoundRectCallout">
            <a:avLst>
              <a:gd name="adj1" fmla="val 43059"/>
              <a:gd name="adj2" fmla="val -9165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399" b="1" noProof="1">
                <a:solidFill>
                  <a:srgbClr val="FFFFFF"/>
                </a:solidFill>
              </a:rPr>
              <a:t>Ред</a:t>
            </a:r>
            <a:endParaRPr lang="en-US" sz="2399" b="1" noProof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0678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ED7A5-05D4-075A-A3FB-9BB0D4FF9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247" y="618518"/>
            <a:ext cx="9441163" cy="934511"/>
          </a:xfrm>
        </p:spPr>
        <p:txBody>
          <a:bodyPr>
            <a:normAutofit/>
          </a:bodyPr>
          <a:lstStyle/>
          <a:p>
            <a:r>
              <a:rPr lang="ru-RU" b="1" dirty="0"/>
              <a:t>Какво са типове данни в базите данни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AD9B7-B964-585C-EFE4-2569DA45D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6247" y="1804610"/>
            <a:ext cx="9898365" cy="4106612"/>
          </a:xfrm>
        </p:spPr>
        <p:txBody>
          <a:bodyPr>
            <a:normAutofit/>
          </a:bodyPr>
          <a:lstStyle/>
          <a:p>
            <a:r>
              <a:rPr lang="ru-RU" dirty="0"/>
              <a:t>Типът данни е формално описание на вида стойности, които дадено поле (атрибут) в таблица може да съдържа, както и на операциите, които могат да се извършват върху тези стойности.</a:t>
            </a:r>
          </a:p>
          <a:p>
            <a:r>
              <a:rPr lang="ru-RU" dirty="0"/>
              <a:t>Типът данни казва на базата данни:</a:t>
            </a:r>
          </a:p>
          <a:p>
            <a:endParaRPr lang="ru-RU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ru-RU" dirty="0"/>
              <a:t>каква информация ще записваме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u-RU" dirty="0"/>
              <a:t>колко място да задели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ru-RU" dirty="0"/>
              <a:t>как да обработва стойностите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716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F2638-4B05-7A9F-80A0-D4E9872CF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249" y="624110"/>
            <a:ext cx="9898364" cy="740233"/>
          </a:xfrm>
        </p:spPr>
        <p:txBody>
          <a:bodyPr>
            <a:normAutofit fontScale="90000"/>
          </a:bodyPr>
          <a:lstStyle/>
          <a:p>
            <a:r>
              <a:rPr lang="bg-BG" b="1" dirty="0"/>
              <a:t>Пример</a:t>
            </a:r>
            <a:br>
              <a:rPr lang="bg-BG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8DAC6-3EC0-0543-5D83-45731D722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724" y="1606248"/>
            <a:ext cx="9583888" cy="43049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CREATE TABLE Students (</a:t>
            </a:r>
          </a:p>
          <a:p>
            <a:pPr marL="0" indent="0">
              <a:buNone/>
            </a:pPr>
            <a:r>
              <a:rPr lang="en-US" dirty="0"/>
              <a:t>    id INT,</a:t>
            </a:r>
          </a:p>
          <a:p>
            <a:pPr marL="0" indent="0">
              <a:buNone/>
            </a:pPr>
            <a:r>
              <a:rPr lang="en-US" dirty="0"/>
              <a:t>    name VARCHAR(50),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birth_date</a:t>
            </a:r>
            <a:r>
              <a:rPr lang="en-US" dirty="0"/>
              <a:t> DATE,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average_grade</a:t>
            </a:r>
            <a:r>
              <a:rPr lang="en-US" dirty="0"/>
              <a:t> DECIMAL(3,2)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endParaRPr lang="en-US" dirty="0"/>
          </a:p>
          <a:p>
            <a:r>
              <a:rPr lang="bg-BG" dirty="0"/>
              <a:t>Тук всеки атрибут има различен тип, т.е. различна логика на съхранение и обработка.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327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371ED-0B6E-0898-1BE3-DB646EE6A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705" y="624110"/>
            <a:ext cx="9941907" cy="884165"/>
          </a:xfrm>
        </p:spPr>
        <p:txBody>
          <a:bodyPr/>
          <a:lstStyle/>
          <a:p>
            <a:r>
              <a:rPr lang="bg-BG" b="1" dirty="0"/>
              <a:t>Тип данни = контейнер</a:t>
            </a:r>
            <a:endParaRPr lang="en-US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7C62FDB-AEDC-4DE9-954C-5659943264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7442" y="2670629"/>
            <a:ext cx="2152515" cy="26790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C34872-045B-29A4-8A69-422918641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6991" y="2727476"/>
            <a:ext cx="4008665" cy="17816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0C691F-AA03-5A1F-8511-B670A0CA4A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4770" y="2462590"/>
            <a:ext cx="238125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356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E4D10-E4B2-06D6-3CE9-B1236CAAC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2057" y="624110"/>
            <a:ext cx="9922555" cy="7741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Защо типовете данни са важни</a:t>
            </a:r>
            <a:br>
              <a:rPr lang="ru-RU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79D16-678E-6D8A-1B70-ECE34E477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5924" y="2133600"/>
            <a:ext cx="9888688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Типовете данни не са просто формалност — те влияят върху:</a:t>
            </a:r>
          </a:p>
          <a:p>
            <a:pPr>
              <a:buFont typeface="+mj-lt"/>
              <a:buAutoNum type="arabicPeriod"/>
            </a:pPr>
            <a:r>
              <a:rPr lang="ru-RU" dirty="0"/>
              <a:t>Цялостта на данните</a:t>
            </a:r>
            <a:r>
              <a:rPr lang="en-US" dirty="0"/>
              <a:t> – </a:t>
            </a:r>
            <a:r>
              <a:rPr lang="bg-BG" dirty="0"/>
              <a:t>п</a:t>
            </a:r>
            <a:r>
              <a:rPr lang="ru-RU" dirty="0"/>
              <a:t>редотвратяват невалидни стойности.</a:t>
            </a:r>
          </a:p>
          <a:p>
            <a:pPr>
              <a:buFont typeface="+mj-lt"/>
              <a:buAutoNum type="arabicPeriod"/>
            </a:pPr>
            <a:r>
              <a:rPr lang="ru-RU" dirty="0"/>
              <a:t>Оптимизация на паметта – по-малък тип -</a:t>
            </a:r>
            <a:r>
              <a:rPr lang="en-US" dirty="0"/>
              <a:t>&gt; </a:t>
            </a:r>
            <a:r>
              <a:rPr lang="ru-RU" dirty="0"/>
              <a:t>по-малко памет</a:t>
            </a:r>
            <a:r>
              <a:rPr lang="en-US" dirty="0"/>
              <a:t> </a:t>
            </a:r>
            <a:endParaRPr lang="ru-RU" dirty="0"/>
          </a:p>
          <a:p>
            <a:pPr>
              <a:buFont typeface="+mj-lt"/>
              <a:buAutoNum type="arabicPeriod"/>
            </a:pPr>
            <a:r>
              <a:rPr lang="ru-RU" dirty="0"/>
              <a:t>Производителността – по-малък тип -</a:t>
            </a:r>
            <a:r>
              <a:rPr lang="en-US" dirty="0"/>
              <a:t>&gt; </a:t>
            </a:r>
            <a:r>
              <a:rPr lang="ru-RU" dirty="0"/>
              <a:t>по-малко памет</a:t>
            </a:r>
            <a:r>
              <a:rPr lang="en-US" dirty="0"/>
              <a:t> -&gt;</a:t>
            </a:r>
            <a:r>
              <a:rPr lang="ru-RU" dirty="0"/>
              <a:t> по-бързи заявки.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ru-RU" dirty="0"/>
              <a:t>Валидиране на входа – типовете са първата линия защита срещу грешни данни.</a:t>
            </a:r>
          </a:p>
          <a:p>
            <a:pPr>
              <a:buFont typeface="+mj-lt"/>
              <a:buAutoNum type="arabicPeriod"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242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C384B-3120-081E-A056-2B132225F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1" y="624110"/>
            <a:ext cx="9879012" cy="749909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Основни принципи при избора на тип</a:t>
            </a:r>
            <a:br>
              <a:rPr lang="ru-RU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1D039-56BB-55B3-9947-FF741098B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2686" y="2133600"/>
            <a:ext cx="9791926" cy="3777622"/>
          </a:xfrm>
        </p:spPr>
        <p:txBody>
          <a:bodyPr>
            <a:normAutofit/>
          </a:bodyPr>
          <a:lstStyle/>
          <a:p>
            <a:endParaRPr lang="ru-RU" dirty="0"/>
          </a:p>
          <a:p>
            <a:pPr marL="0" indent="0">
              <a:buNone/>
            </a:pPr>
            <a:r>
              <a:rPr lang="ru-RU" b="1" dirty="0"/>
              <a:t>При избор на тип данни се водим от:</a:t>
            </a:r>
          </a:p>
          <a:p>
            <a:r>
              <a:rPr lang="ru-RU" dirty="0"/>
              <a:t>Диапазон стойности</a:t>
            </a:r>
          </a:p>
          <a:p>
            <a:r>
              <a:rPr lang="ru-RU" dirty="0"/>
              <a:t>Формат на данните</a:t>
            </a:r>
          </a:p>
          <a:p>
            <a:r>
              <a:rPr lang="ru-RU" dirty="0"/>
              <a:t>Нужна точност</a:t>
            </a:r>
          </a:p>
          <a:p>
            <a:r>
              <a:rPr lang="ru-RU" dirty="0"/>
              <a:t>Скорост на заявки</a:t>
            </a:r>
          </a:p>
          <a:p>
            <a:r>
              <a:rPr lang="ru-RU" dirty="0"/>
              <a:t>Обем данни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419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BFA3B-1AEC-C561-7613-E030FFF32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1411" y="624110"/>
            <a:ext cx="9903202" cy="70636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Класификация на типовете данни в MySQL</a:t>
            </a:r>
            <a:br>
              <a:rPr lang="ru-RU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B2121-D1D4-ED31-0165-AD33A552B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010" y="2133600"/>
            <a:ext cx="9801602" cy="3777622"/>
          </a:xfrm>
        </p:spPr>
        <p:txBody>
          <a:bodyPr/>
          <a:lstStyle/>
          <a:p>
            <a:pPr marL="0" indent="0">
              <a:buNone/>
            </a:pPr>
            <a:r>
              <a:rPr lang="ru-RU" b="1" dirty="0"/>
              <a:t>Типовете се делят на категории според естеството на данните.</a:t>
            </a:r>
          </a:p>
          <a:p>
            <a:pPr marL="0" indent="0">
              <a:buNone/>
            </a:pPr>
            <a:endParaRPr lang="ru-RU" b="1" dirty="0"/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D936931-B78F-B451-87F6-F9F56F7B1D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958766"/>
              </p:ext>
            </p:extLst>
          </p:nvPr>
        </p:nvGraphicFramePr>
        <p:xfrm>
          <a:off x="1833638" y="3119361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10720536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3816532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bg-BG" dirty="0"/>
                        <a:t>Категория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Предназначение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5087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/>
                        <a:t>Числови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изчисления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0408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/>
                        <a:t>Текстови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текст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2714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/>
                        <a:t>Дата/час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времеви данни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50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/>
                        <a:t>Бинарни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файлове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408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/>
                        <a:t>Специални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структури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160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5430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66449-8046-8B81-305D-8A94CF3B8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087" y="624110"/>
            <a:ext cx="9893526" cy="822480"/>
          </a:xfrm>
        </p:spPr>
        <p:txBody>
          <a:bodyPr>
            <a:normAutofit fontScale="90000"/>
          </a:bodyPr>
          <a:lstStyle/>
          <a:p>
            <a:r>
              <a:rPr lang="bg-BG" b="1" dirty="0"/>
              <a:t>Изберете тип за:</a:t>
            </a:r>
            <a:br>
              <a:rPr lang="bg-BG" b="1" dirty="0"/>
            </a:br>
            <a:endParaRPr lang="en-US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2AFE78-59FB-920A-02CD-029EAA505E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4403580"/>
              </p:ext>
            </p:extLst>
          </p:nvPr>
        </p:nvGraphicFramePr>
        <p:xfrm>
          <a:off x="1737709" y="2559353"/>
          <a:ext cx="89154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1547351286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35674024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поле	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bg-BG" dirty="0"/>
                        <a:t>пример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7678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/>
                        <a:t>телефон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+359888123456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333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/>
                        <a:t>оценка	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5.75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5651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/>
                        <a:t>дата на записване	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2024-09-15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6601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bg-BG" dirty="0"/>
                        <a:t>описание	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текст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592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103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F4626-1C63-A4AA-C900-0FD03B11F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2086" y="2273901"/>
            <a:ext cx="8911687" cy="1280890"/>
          </a:xfrm>
        </p:spPr>
        <p:txBody>
          <a:bodyPr/>
          <a:lstStyle/>
          <a:p>
            <a:r>
              <a:rPr lang="ru-RU" dirty="0"/>
              <a:t>Грешен избор на тип данни — </a:t>
            </a:r>
            <a:br>
              <a:rPr lang="ru-RU" dirty="0"/>
            </a:br>
            <a:r>
              <a:rPr lang="ru-RU" b="1" i="1" dirty="0"/>
              <a:t>кога става проблем?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2140996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8F4C9-B237-B838-1E46-8B54AB50A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1" y="624110"/>
            <a:ext cx="9879012" cy="80796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Типовете данни са основа на:</a:t>
            </a:r>
            <a:br>
              <a:rPr lang="ru-RU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DBA37-1CF6-560B-8847-BF04FFEAD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0743" y="2133600"/>
            <a:ext cx="9733869" cy="3777622"/>
          </a:xfrm>
        </p:spPr>
        <p:txBody>
          <a:bodyPr/>
          <a:lstStyle/>
          <a:p>
            <a:endParaRPr lang="ru-RU" dirty="0"/>
          </a:p>
          <a:p>
            <a:r>
              <a:rPr lang="ru-RU" dirty="0"/>
              <a:t>правилен дизайн</a:t>
            </a:r>
          </a:p>
          <a:p>
            <a:endParaRPr lang="ru-RU" dirty="0"/>
          </a:p>
          <a:p>
            <a:r>
              <a:rPr lang="ru-RU" dirty="0"/>
              <a:t>производителност</a:t>
            </a:r>
          </a:p>
          <a:p>
            <a:endParaRPr lang="ru-RU" dirty="0"/>
          </a:p>
          <a:p>
            <a:r>
              <a:rPr lang="ru-RU" dirty="0"/>
              <a:t>надеждност</a:t>
            </a:r>
          </a:p>
          <a:p>
            <a:endParaRPr lang="ru-RU" dirty="0"/>
          </a:p>
          <a:p>
            <a:r>
              <a:rPr lang="ru-RU" dirty="0"/>
              <a:t>оптимизация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09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C07F7-33DA-F71D-DB9A-4C0BB5F90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249" y="624110"/>
            <a:ext cx="9898364" cy="696690"/>
          </a:xfrm>
        </p:spPr>
        <p:txBody>
          <a:bodyPr/>
          <a:lstStyle/>
          <a:p>
            <a:r>
              <a:rPr lang="bg-BG" b="1" dirty="0"/>
              <a:t>Числови типове (</a:t>
            </a:r>
            <a:r>
              <a:rPr lang="en-US" b="1" dirty="0"/>
              <a:t>Numeric Types)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198D13-0D19-DC7A-F7E8-074E5A22E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143" y="1683657"/>
            <a:ext cx="4836886" cy="48368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896517-2142-8A68-9854-A7C2AA3AB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43" y="2399165"/>
            <a:ext cx="4943475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5968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A3F1D-6E31-6390-E71F-789565B4F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1" y="624110"/>
            <a:ext cx="9879012" cy="701528"/>
          </a:xfrm>
        </p:spPr>
        <p:txBody>
          <a:bodyPr/>
          <a:lstStyle/>
          <a:p>
            <a:r>
              <a:rPr lang="bg-BG" b="1" dirty="0"/>
              <a:t>Целочислени типове в </a:t>
            </a:r>
            <a:r>
              <a:rPr lang="en-US" b="1" dirty="0"/>
              <a:t>MySQL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236E0A5-E1A5-019A-D471-9C309E4AAE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4025405"/>
              </p:ext>
            </p:extLst>
          </p:nvPr>
        </p:nvGraphicFramePr>
        <p:xfrm>
          <a:off x="1829631" y="1949753"/>
          <a:ext cx="9674981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3953">
                  <a:extLst>
                    <a:ext uri="{9D8B030D-6E8A-4147-A177-3AD203B41FA5}">
                      <a16:colId xmlns:a16="http://schemas.microsoft.com/office/drawing/2014/main" val="4235401641"/>
                    </a:ext>
                  </a:extLst>
                </a:gridCol>
                <a:gridCol w="1501584">
                  <a:extLst>
                    <a:ext uri="{9D8B030D-6E8A-4147-A177-3AD203B41FA5}">
                      <a16:colId xmlns:a16="http://schemas.microsoft.com/office/drawing/2014/main" val="3925955225"/>
                    </a:ext>
                  </a:extLst>
                </a:gridCol>
                <a:gridCol w="3727710">
                  <a:extLst>
                    <a:ext uri="{9D8B030D-6E8A-4147-A177-3AD203B41FA5}">
                      <a16:colId xmlns:a16="http://schemas.microsoft.com/office/drawing/2014/main" val="4141903042"/>
                    </a:ext>
                  </a:extLst>
                </a:gridCol>
                <a:gridCol w="2561734">
                  <a:extLst>
                    <a:ext uri="{9D8B030D-6E8A-4147-A177-3AD203B41FA5}">
                      <a16:colId xmlns:a16="http://schemas.microsoft.com/office/drawing/2014/main" val="35151736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bg-BG" dirty="0"/>
                        <a:t>Тип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Заемана памет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Диапазон (</a:t>
                      </a:r>
                      <a:r>
                        <a:rPr lang="en-US" dirty="0"/>
                        <a:t>SIGNED)</a:t>
                      </a:r>
                      <a:r>
                        <a:rPr lang="bg-BG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Диапазон (</a:t>
                      </a:r>
                      <a:r>
                        <a:rPr lang="en-US" dirty="0"/>
                        <a:t>UNSIGNED)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073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>
                          <a:latin typeface="+mj-lt"/>
                        </a:rPr>
                        <a:t>TINYINT</a:t>
                      </a:r>
                      <a:endParaRPr lang="en-US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+mj-lt"/>
                        </a:rPr>
                        <a:t>1 байт </a:t>
                      </a:r>
                      <a:endParaRPr 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+mj-lt"/>
                        </a:rPr>
                        <a:t>-128 до 127</a:t>
                      </a:r>
                      <a:endParaRPr 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+mj-lt"/>
                        </a:rPr>
                        <a:t>0 до 255</a:t>
                      </a:r>
                      <a:endParaRPr lang="en-US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447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+mj-lt"/>
                        </a:rPr>
                        <a:t>SMALLINT</a:t>
                      </a:r>
                      <a:endParaRPr 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+mj-lt"/>
                        </a:rPr>
                        <a:t>2 байта</a:t>
                      </a:r>
                      <a:endParaRPr 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+mj-lt"/>
                        </a:rPr>
                        <a:t>-32 768 до 32 767</a:t>
                      </a:r>
                      <a:endParaRPr 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+mj-lt"/>
                        </a:rPr>
                        <a:t>0 до 65 535</a:t>
                      </a:r>
                      <a:endParaRPr lang="en-US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1456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+mj-lt"/>
                        </a:rPr>
                        <a:t>MEDIUMINT</a:t>
                      </a:r>
                      <a:endParaRPr 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+mj-lt"/>
                        </a:rPr>
                        <a:t>3 байта </a:t>
                      </a:r>
                      <a:endParaRPr 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+mj-lt"/>
                        </a:rPr>
                        <a:t>-8 388 608 </a:t>
                      </a:r>
                    </a:p>
                    <a:p>
                      <a:r>
                        <a:rPr lang="ru-RU" dirty="0">
                          <a:latin typeface="+mj-lt"/>
                        </a:rPr>
                        <a:t>до 8 388 607</a:t>
                      </a:r>
                      <a:endParaRPr 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+mj-lt"/>
                        </a:rPr>
                        <a:t>0 до 16 777 215</a:t>
                      </a:r>
                      <a:endParaRPr lang="en-US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471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+mj-lt"/>
                        </a:rPr>
                        <a:t>INT</a:t>
                      </a:r>
                      <a:endParaRPr 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+mj-lt"/>
                        </a:rPr>
                        <a:t>4 байта </a:t>
                      </a:r>
                      <a:endParaRPr 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+mj-lt"/>
                        </a:rPr>
                        <a:t>-2 147 483 648 </a:t>
                      </a:r>
                    </a:p>
                    <a:p>
                      <a:r>
                        <a:rPr lang="ru-RU" dirty="0">
                          <a:latin typeface="+mj-lt"/>
                        </a:rPr>
                        <a:t>до 2 147 483 647</a:t>
                      </a:r>
                      <a:endParaRPr 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+mj-lt"/>
                        </a:rPr>
                        <a:t>0 до 4 294 967 295</a:t>
                      </a:r>
                      <a:endParaRPr lang="en-US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8229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>
                          <a:latin typeface="+mj-lt"/>
                        </a:rPr>
                        <a:t>BIGINT</a:t>
                      </a:r>
                      <a:endParaRPr 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+mj-lt"/>
                        </a:rPr>
                        <a:t>8 байта</a:t>
                      </a:r>
                      <a:endParaRPr 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+mj-lt"/>
                        </a:rPr>
                        <a:t>-9 223 372 036 854 775 808 </a:t>
                      </a:r>
                      <a:endParaRPr lang="en-US" dirty="0">
                        <a:latin typeface="+mj-lt"/>
                      </a:endParaRPr>
                    </a:p>
                    <a:p>
                      <a:r>
                        <a:rPr lang="ru-RU" dirty="0">
                          <a:latin typeface="+mj-lt"/>
                        </a:rPr>
                        <a:t>до 9 223 372 036 854 775 807 </a:t>
                      </a:r>
                      <a:endParaRPr lang="en-US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+mj-lt"/>
                        </a:rPr>
                        <a:t>0 до 18 446 744 073 709 551 615</a:t>
                      </a:r>
                      <a:endParaRPr lang="en-US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047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9538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BCA1D-8E1A-9479-1237-957E3C88B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1411" y="624110"/>
            <a:ext cx="9903202" cy="740233"/>
          </a:xfrm>
        </p:spPr>
        <p:txBody>
          <a:bodyPr/>
          <a:lstStyle/>
          <a:p>
            <a:r>
              <a:rPr lang="bg-BG" b="1" dirty="0"/>
              <a:t>Пример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D1731-DE1F-14D8-EECA-786EC56F8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1410" y="2133600"/>
            <a:ext cx="9903202" cy="233196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CREATE TABLE Students (    </a:t>
            </a:r>
            <a:endParaRPr lang="bg-BG" dirty="0"/>
          </a:p>
          <a:p>
            <a:pPr marL="0" indent="0">
              <a:buNone/>
            </a:pPr>
            <a:r>
              <a:rPr lang="en-US" dirty="0"/>
              <a:t>Id INT </a:t>
            </a:r>
            <a:r>
              <a:rPr lang="en-US" i="1" dirty="0"/>
              <a:t>AUTO_INCREMENT</a:t>
            </a:r>
            <a:r>
              <a:rPr lang="en-US" dirty="0"/>
              <a:t>,    </a:t>
            </a:r>
            <a:endParaRPr lang="bg-BG" dirty="0"/>
          </a:p>
          <a:p>
            <a:pPr marL="0" indent="0">
              <a:buNone/>
            </a:pPr>
            <a:r>
              <a:rPr lang="en-US" dirty="0"/>
              <a:t>Age TINYINT UNSIGNED,    </a:t>
            </a:r>
            <a:endParaRPr lang="bg-BG" dirty="0"/>
          </a:p>
          <a:p>
            <a:pPr marL="0" indent="0">
              <a:buNone/>
            </a:pPr>
            <a:r>
              <a:rPr lang="en-US" dirty="0"/>
              <a:t>Balance BIGINT</a:t>
            </a:r>
            <a:endParaRPr lang="bg-BG" dirty="0"/>
          </a:p>
          <a:p>
            <a:pPr marL="0" indent="0">
              <a:buNone/>
            </a:pP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72681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5BD91-31EF-5B92-D17F-451231693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9467" y="2133600"/>
            <a:ext cx="9845145" cy="3777622"/>
          </a:xfrm>
        </p:spPr>
        <p:txBody>
          <a:bodyPr/>
          <a:lstStyle/>
          <a:p>
            <a:r>
              <a:rPr lang="ru-RU" dirty="0"/>
              <a:t>Диапазонът зависи от броя битове.</a:t>
            </a:r>
          </a:p>
          <a:p>
            <a:r>
              <a:rPr lang="ru-RU" dirty="0"/>
              <a:t>Ако имаме n бита → възможните стойности са 2ⁿ.</a:t>
            </a:r>
          </a:p>
          <a:p>
            <a:r>
              <a:rPr lang="ru-RU" dirty="0"/>
              <a:t>Например INT има 32 бита → 2³² възможни стойности.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508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D87B4-C7B1-E824-4347-E40976703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733" y="596014"/>
            <a:ext cx="9912879" cy="701528"/>
          </a:xfrm>
        </p:spPr>
        <p:txBody>
          <a:bodyPr/>
          <a:lstStyle/>
          <a:p>
            <a:r>
              <a:rPr lang="bg-BG" b="1" dirty="0"/>
              <a:t>Булев тип (</a:t>
            </a:r>
            <a:r>
              <a:rPr lang="en-US" b="1" dirty="0"/>
              <a:t>BOOLEAN</a:t>
            </a:r>
            <a:r>
              <a:rPr lang="bg-BG" b="1" dirty="0"/>
              <a:t>/ </a:t>
            </a:r>
            <a:r>
              <a:rPr lang="en-US" b="1" dirty="0"/>
              <a:t>BOOL)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833E4-644D-774F-6C2C-FF3509200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1733" y="2133600"/>
            <a:ext cx="9912879" cy="3777622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 MySQL </a:t>
            </a:r>
            <a:r>
              <a:rPr lang="ru-RU" b="1" dirty="0"/>
              <a:t>BOOLEAN</a:t>
            </a:r>
            <a:r>
              <a:rPr lang="ru-RU" dirty="0"/>
              <a:t> е логическа абстракция, но физически се реализира като числов тип – TINYINT(1). Съхранява 0 или 1 и заема 1 байт памет.</a:t>
            </a:r>
          </a:p>
          <a:p>
            <a:pPr marL="0" indent="0">
              <a:buNone/>
            </a:pPr>
            <a:r>
              <a:rPr lang="en-US" b="1" dirty="0"/>
              <a:t>Пример:</a:t>
            </a:r>
          </a:p>
          <a:p>
            <a:pPr marL="0" indent="0">
              <a:buNone/>
            </a:pPr>
            <a:r>
              <a:rPr lang="en-US" dirty="0"/>
              <a:t>CREATE TABLE Users (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IsActive</a:t>
            </a:r>
            <a:r>
              <a:rPr lang="en-US" dirty="0"/>
              <a:t> BOOLEAN</a:t>
            </a:r>
            <a:br>
              <a:rPr lang="en-US" dirty="0"/>
            </a:b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INSERT INTO Users (</a:t>
            </a:r>
            <a:r>
              <a:rPr lang="en-US" dirty="0" err="1"/>
              <a:t>IsActive</a:t>
            </a:r>
            <a:r>
              <a:rPr lang="en-US" dirty="0"/>
              <a:t>) VALUES (TRUE);</a:t>
            </a:r>
            <a:br>
              <a:rPr lang="en-US" dirty="0"/>
            </a:br>
            <a:r>
              <a:rPr lang="en-US" dirty="0"/>
              <a:t>INSERT INTO Users (</a:t>
            </a:r>
            <a:r>
              <a:rPr lang="en-US" dirty="0" err="1"/>
              <a:t>IsActive</a:t>
            </a:r>
            <a:r>
              <a:rPr lang="en-US" dirty="0"/>
              <a:t>) VALUES (FALSE);</a:t>
            </a:r>
          </a:p>
          <a:p>
            <a:pPr marL="0" indent="0">
              <a:buNone/>
            </a:pPr>
            <a:r>
              <a:rPr lang="en-US" dirty="0"/>
              <a:t>SELECT * FROM Users WHERE </a:t>
            </a:r>
            <a:r>
              <a:rPr lang="en-US" dirty="0" err="1"/>
              <a:t>IsActive</a:t>
            </a:r>
            <a:r>
              <a:rPr lang="en-US" dirty="0"/>
              <a:t> = 1;</a:t>
            </a:r>
            <a:endParaRPr lang="bg-BG" dirty="0"/>
          </a:p>
          <a:p>
            <a:pPr marL="0" indent="0">
              <a:buNone/>
            </a:pPr>
            <a:r>
              <a:rPr lang="en-US" dirty="0"/>
              <a:t>SELECT * FROM Users WHERE </a:t>
            </a:r>
            <a:r>
              <a:rPr lang="en-US" dirty="0" err="1"/>
              <a:t>IsActive</a:t>
            </a:r>
            <a:r>
              <a:rPr lang="en-US" dirty="0"/>
              <a:t> = TRUE;</a:t>
            </a:r>
          </a:p>
        </p:txBody>
      </p:sp>
    </p:spTree>
    <p:extLst>
      <p:ext uri="{BB962C8B-B14F-4D97-AF65-F5344CB8AC3E}">
        <p14:creationId xmlns:p14="http://schemas.microsoft.com/office/powerpoint/2010/main" val="21327584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C9376-CB75-9FC8-FDEC-048448BB7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5925" y="624110"/>
            <a:ext cx="9888688" cy="672500"/>
          </a:xfrm>
        </p:spPr>
        <p:txBody>
          <a:bodyPr/>
          <a:lstStyle/>
          <a:p>
            <a:r>
              <a:rPr lang="bg-BG" b="1" dirty="0"/>
              <a:t>Кой тип е най-подходящ?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131A9-3FF4-6193-B9DF-4D6D945AD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7848" y="1736876"/>
            <a:ext cx="9796764" cy="4174346"/>
          </a:xfrm>
        </p:spPr>
        <p:txBody>
          <a:bodyPr>
            <a:normAutofit/>
          </a:bodyPr>
          <a:lstStyle/>
          <a:p>
            <a:r>
              <a:rPr lang="ru-RU" dirty="0"/>
              <a:t>Възраст на студент </a:t>
            </a:r>
          </a:p>
          <a:p>
            <a:r>
              <a:rPr lang="ru-RU" dirty="0"/>
              <a:t>Брой места в университетска аудитория </a:t>
            </a:r>
          </a:p>
          <a:p>
            <a:r>
              <a:rPr lang="ru-RU" dirty="0"/>
              <a:t>Брой ученици в училище </a:t>
            </a:r>
          </a:p>
          <a:p>
            <a:r>
              <a:rPr lang="ru-RU" dirty="0"/>
              <a:t>Брой жители в град </a:t>
            </a:r>
          </a:p>
          <a:p>
            <a:r>
              <a:rPr lang="ru-RU" dirty="0"/>
              <a:t>Брой гледания на видео в глобална платформа (</a:t>
            </a:r>
          </a:p>
          <a:p>
            <a:r>
              <a:rPr lang="ru-RU" dirty="0"/>
              <a:t>Идентификатор на студент в малък факултет </a:t>
            </a:r>
          </a:p>
          <a:p>
            <a:r>
              <a:rPr lang="ru-RU" dirty="0"/>
              <a:t>Идентификатор в национална информационна система </a:t>
            </a:r>
          </a:p>
          <a:p>
            <a:r>
              <a:rPr lang="ru-RU" dirty="0"/>
              <a:t>Температура в склад </a:t>
            </a:r>
          </a:p>
          <a:p>
            <a:r>
              <a:rPr lang="ru-RU" dirty="0"/>
              <a:t>Брой налични продукти в склад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639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55F18-8E97-8352-AEF5-B1DC1DE7B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249" y="624110"/>
            <a:ext cx="9898364" cy="749909"/>
          </a:xfrm>
        </p:spPr>
        <p:txBody>
          <a:bodyPr/>
          <a:lstStyle/>
          <a:p>
            <a:r>
              <a:rPr lang="ru-RU" b="1" dirty="0"/>
              <a:t>Дробни числови типове в MySQL</a:t>
            </a:r>
            <a:endParaRPr lang="en-US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581A7DD-27E1-00BA-50A4-75B76F449E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1332457"/>
              </p:ext>
            </p:extLst>
          </p:nvPr>
        </p:nvGraphicFramePr>
        <p:xfrm>
          <a:off x="1257905" y="2041676"/>
          <a:ext cx="9782250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3264441289"/>
                    </a:ext>
                  </a:extLst>
                </a:gridCol>
                <a:gridCol w="1899009">
                  <a:extLst>
                    <a:ext uri="{9D8B030D-6E8A-4147-A177-3AD203B41FA5}">
                      <a16:colId xmlns:a16="http://schemas.microsoft.com/office/drawing/2014/main" val="972400584"/>
                    </a:ext>
                  </a:extLst>
                </a:gridCol>
                <a:gridCol w="2680796">
                  <a:extLst>
                    <a:ext uri="{9D8B030D-6E8A-4147-A177-3AD203B41FA5}">
                      <a16:colId xmlns:a16="http://schemas.microsoft.com/office/drawing/2014/main" val="3151136698"/>
                    </a:ext>
                  </a:extLst>
                </a:gridCol>
                <a:gridCol w="3460731">
                  <a:extLst>
                    <a:ext uri="{9D8B030D-6E8A-4147-A177-3AD203B41FA5}">
                      <a16:colId xmlns:a16="http://schemas.microsoft.com/office/drawing/2014/main" val="16214178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bg-BG" dirty="0"/>
                        <a:t>Тип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Заемана памет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Точност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Особености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606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FLOAT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 байта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~7 значещи цифри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Приблизителна стойност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771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DOUBLE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8 байта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~15–16 значещи цифри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По-голяма точност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404206"/>
                  </a:ext>
                </a:extLst>
              </a:tr>
              <a:tr h="305042">
                <a:tc>
                  <a:txBody>
                    <a:bodyPr/>
                    <a:lstStyle/>
                    <a:p>
                      <a:r>
                        <a:rPr lang="ru-RU" dirty="0"/>
                        <a:t>DECIMAL(p,s)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зависи от 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точна (фиксирана)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Подходящ за финансови данни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619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27613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E4CA7-A07E-9A8B-4063-B2C90AA85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439" y="662814"/>
            <a:ext cx="8911687" cy="706366"/>
          </a:xfrm>
        </p:spPr>
        <p:txBody>
          <a:bodyPr/>
          <a:lstStyle/>
          <a:p>
            <a:r>
              <a:rPr lang="en-US" b="1" dirty="0"/>
              <a:t>DECIMAL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3379D-9981-19FC-A156-680DB05EE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8514" y="1611085"/>
            <a:ext cx="9966098" cy="47461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DECIMAL(</a:t>
            </a:r>
            <a:r>
              <a:rPr lang="en-US" dirty="0" err="1"/>
              <a:t>p,s</a:t>
            </a:r>
            <a:r>
              <a:rPr lang="en-US" dirty="0"/>
              <a:t>) </a:t>
            </a:r>
            <a:r>
              <a:rPr lang="bg-BG" dirty="0"/>
              <a:t>означава:</a:t>
            </a:r>
          </a:p>
          <a:p>
            <a:r>
              <a:rPr lang="en-US" dirty="0"/>
              <a:t>p (precision) → </a:t>
            </a:r>
            <a:r>
              <a:rPr lang="bg-BG" dirty="0"/>
              <a:t>общ брой цифри</a:t>
            </a:r>
            <a:r>
              <a:rPr lang="en-US" dirty="0"/>
              <a:t>s </a:t>
            </a:r>
            <a:endParaRPr lang="bg-BG" dirty="0"/>
          </a:p>
          <a:p>
            <a:r>
              <a:rPr lang="en-US" dirty="0"/>
              <a:t>(scale) → </a:t>
            </a:r>
            <a:r>
              <a:rPr lang="bg-BG" dirty="0"/>
              <a:t>брой цифри след десетичната запетая</a:t>
            </a:r>
          </a:p>
          <a:p>
            <a:endParaRPr lang="bg-BG" dirty="0"/>
          </a:p>
          <a:p>
            <a:pPr marL="0" indent="0">
              <a:buNone/>
            </a:pPr>
            <a:r>
              <a:rPr lang="en-US" b="1" dirty="0"/>
              <a:t>DECIMAL(5,2)</a:t>
            </a:r>
            <a:r>
              <a:rPr lang="bg-BG" b="1" dirty="0"/>
              <a:t> </a:t>
            </a:r>
            <a:r>
              <a:rPr lang="en-US" b="1" dirty="0"/>
              <a:t>→ 999.99</a:t>
            </a:r>
            <a:endParaRPr lang="bg-BG" b="1" dirty="0"/>
          </a:p>
          <a:p>
            <a:pPr marL="0" indent="0">
              <a:buNone/>
            </a:pPr>
            <a:endParaRPr lang="bg-BG" b="1" dirty="0"/>
          </a:p>
          <a:p>
            <a:pPr marL="0" indent="0">
              <a:buNone/>
            </a:pPr>
            <a:r>
              <a:rPr lang="bg-BG" dirty="0"/>
              <a:t>Паметта зависи от </a:t>
            </a:r>
            <a:r>
              <a:rPr lang="en-US" dirty="0"/>
              <a:t>precision (p).</a:t>
            </a:r>
            <a:br>
              <a:rPr lang="en-US" dirty="0"/>
            </a:br>
            <a:r>
              <a:rPr lang="bg-BG" dirty="0"/>
              <a:t>Приблизително:</a:t>
            </a:r>
          </a:p>
          <a:p>
            <a:r>
              <a:rPr lang="bg-BG" dirty="0"/>
              <a:t>до 9 цифри → 4 байта</a:t>
            </a:r>
          </a:p>
          <a:p>
            <a:r>
              <a:rPr lang="bg-BG" dirty="0"/>
              <a:t>10–18 цифри → 8 байта</a:t>
            </a:r>
          </a:p>
          <a:p>
            <a:r>
              <a:rPr lang="bg-BG" dirty="0"/>
              <a:t>19–27 цифри → 12 байта</a:t>
            </a:r>
          </a:p>
          <a:p>
            <a:r>
              <a:rPr lang="bg-BG" dirty="0"/>
              <a:t>28–38 цифри → 16 байта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1578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EF2D9-C593-41EE-CC87-087E40BFE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9791" y="624110"/>
            <a:ext cx="9854822" cy="696690"/>
          </a:xfrm>
        </p:spPr>
        <p:txBody>
          <a:bodyPr/>
          <a:lstStyle/>
          <a:p>
            <a:r>
              <a:rPr lang="bg-BG" b="1" dirty="0"/>
              <a:t>Пример за декларация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56253-95EA-1FD3-6350-1907EE68C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9791" y="2128762"/>
            <a:ext cx="9854822" cy="227874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CREATE TABLE Products (    </a:t>
            </a:r>
            <a:endParaRPr lang="bg-BG" dirty="0"/>
          </a:p>
          <a:p>
            <a:pPr marL="0" indent="0">
              <a:buNone/>
            </a:pPr>
            <a:r>
              <a:rPr lang="en-US" dirty="0"/>
              <a:t>Price DECIMAL(10,2),    </a:t>
            </a:r>
            <a:endParaRPr lang="bg-BG" dirty="0"/>
          </a:p>
          <a:p>
            <a:pPr marL="0" indent="0">
              <a:buNone/>
            </a:pPr>
            <a:r>
              <a:rPr lang="en-US" dirty="0"/>
              <a:t>Temperature FLOAT,    </a:t>
            </a:r>
            <a:endParaRPr lang="bg-BG" dirty="0"/>
          </a:p>
          <a:p>
            <a:pPr marL="0" indent="0">
              <a:buNone/>
            </a:pPr>
            <a:r>
              <a:rPr lang="en-US" dirty="0" err="1"/>
              <a:t>ScientificValue</a:t>
            </a:r>
            <a:r>
              <a:rPr lang="en-US" dirty="0"/>
              <a:t> DOUBLE</a:t>
            </a:r>
            <a:endParaRPr lang="bg-BG" dirty="0"/>
          </a:p>
          <a:p>
            <a:pPr marL="0" indent="0">
              <a:buNone/>
            </a:pP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6589287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77EFF-BD7A-3E2C-123A-88C8D5E49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5925" y="624110"/>
            <a:ext cx="9888688" cy="783776"/>
          </a:xfrm>
        </p:spPr>
        <p:txBody>
          <a:bodyPr/>
          <a:lstStyle/>
          <a:p>
            <a:r>
              <a:rPr lang="bg-BG" b="1" dirty="0"/>
              <a:t>Кой тип е най-подходящ?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8B53E-2433-ED6A-2145-737B4E171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5924" y="1911048"/>
            <a:ext cx="9888688" cy="4000174"/>
          </a:xfrm>
        </p:spPr>
        <p:txBody>
          <a:bodyPr>
            <a:normAutofit/>
          </a:bodyPr>
          <a:lstStyle/>
          <a:p>
            <a:r>
              <a:rPr lang="ru-RU" b="1" dirty="0"/>
              <a:t>Цена на продукт в онлайн магазин </a:t>
            </a:r>
          </a:p>
          <a:p>
            <a:r>
              <a:rPr lang="ru-RU" b="1" dirty="0"/>
              <a:t>Банкова транзакция </a:t>
            </a:r>
          </a:p>
          <a:p>
            <a:r>
              <a:rPr lang="ru-RU" b="1" dirty="0"/>
              <a:t>Температура, измервана от сензор</a:t>
            </a:r>
          </a:p>
          <a:p>
            <a:r>
              <a:rPr lang="ru-RU" b="1" dirty="0"/>
              <a:t>Научни изчисления в система за симулации </a:t>
            </a:r>
          </a:p>
          <a:p>
            <a:r>
              <a:rPr lang="ru-RU" b="1" dirty="0"/>
              <a:t>Процент на успеваемост на студенти </a:t>
            </a:r>
          </a:p>
          <a:p>
            <a:r>
              <a:rPr lang="ru-RU" b="1" dirty="0"/>
              <a:t>Координати </a:t>
            </a:r>
          </a:p>
          <a:p>
            <a:r>
              <a:rPr lang="ru-RU" b="1" dirty="0"/>
              <a:t>Общо натрупани приходи на голяма компания</a:t>
            </a:r>
          </a:p>
          <a:p>
            <a:r>
              <a:rPr lang="ru-RU" b="1" dirty="0"/>
              <a:t>Средна оценка (GPA)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9218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0ED3B-062E-4AE4-8347-988CB2482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1411" y="624110"/>
            <a:ext cx="9903202" cy="749909"/>
          </a:xfrm>
        </p:spPr>
        <p:txBody>
          <a:bodyPr/>
          <a:lstStyle/>
          <a:p>
            <a:r>
              <a:rPr lang="bg-BG" b="1" dirty="0"/>
              <a:t>Текстови типове</a:t>
            </a:r>
            <a:endParaRPr lang="en-US"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9C364CB-1C11-E432-AB77-B34F0821B4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53315" y="3118455"/>
            <a:ext cx="4094283" cy="377825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DB2F3F-25DE-5EBD-9D1A-0BF3B07148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727754"/>
              </p:ext>
            </p:extLst>
          </p:nvPr>
        </p:nvGraphicFramePr>
        <p:xfrm>
          <a:off x="701523" y="1634066"/>
          <a:ext cx="864567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1419">
                  <a:extLst>
                    <a:ext uri="{9D8B030D-6E8A-4147-A177-3AD203B41FA5}">
                      <a16:colId xmlns:a16="http://schemas.microsoft.com/office/drawing/2014/main" val="2487215936"/>
                    </a:ext>
                  </a:extLst>
                </a:gridCol>
                <a:gridCol w="2161419">
                  <a:extLst>
                    <a:ext uri="{9D8B030D-6E8A-4147-A177-3AD203B41FA5}">
                      <a16:colId xmlns:a16="http://schemas.microsoft.com/office/drawing/2014/main" val="1722547228"/>
                    </a:ext>
                  </a:extLst>
                </a:gridCol>
                <a:gridCol w="2161419">
                  <a:extLst>
                    <a:ext uri="{9D8B030D-6E8A-4147-A177-3AD203B41FA5}">
                      <a16:colId xmlns:a16="http://schemas.microsoft.com/office/drawing/2014/main" val="309196261"/>
                    </a:ext>
                  </a:extLst>
                </a:gridCol>
                <a:gridCol w="2161419">
                  <a:extLst>
                    <a:ext uri="{9D8B030D-6E8A-4147-A177-3AD203B41FA5}">
                      <a16:colId xmlns:a16="http://schemas.microsoft.com/office/drawing/2014/main" val="28266346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bg-BG" dirty="0"/>
                        <a:t>Тип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Максимална дължина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Заемана памет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Характеристика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4067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CHAR(n)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 255 символа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фиксирана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допълва се с празни символи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46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VARCHAR(n)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 65 535 байта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променлива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съхранява реалната дължина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6926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63381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B25C1-BCBE-4E7B-1D81-4A3B49431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087" y="624110"/>
            <a:ext cx="9893526" cy="633795"/>
          </a:xfrm>
        </p:spPr>
        <p:txBody>
          <a:bodyPr>
            <a:normAutofit fontScale="90000"/>
          </a:bodyPr>
          <a:lstStyle/>
          <a:p>
            <a:r>
              <a:rPr lang="bg-BG" b="1" dirty="0"/>
              <a:t>Основни </a:t>
            </a:r>
            <a:r>
              <a:rPr lang="en-US" b="1" dirty="0"/>
              <a:t>TEXT </a:t>
            </a:r>
            <a:r>
              <a:rPr lang="bg-BG" b="1" dirty="0"/>
              <a:t>типове</a:t>
            </a:r>
            <a:endParaRPr lang="en-US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9F5B5A-542E-2FCB-AB4F-8DBCE38A65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3262123"/>
              </p:ext>
            </p:extLst>
          </p:nvPr>
        </p:nvGraphicFramePr>
        <p:xfrm>
          <a:off x="1638300" y="1925562"/>
          <a:ext cx="8915400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1586">
                  <a:extLst>
                    <a:ext uri="{9D8B030D-6E8A-4147-A177-3AD203B41FA5}">
                      <a16:colId xmlns:a16="http://schemas.microsoft.com/office/drawing/2014/main" val="550683329"/>
                    </a:ext>
                  </a:extLst>
                </a:gridCol>
                <a:gridCol w="3014133">
                  <a:extLst>
                    <a:ext uri="{9D8B030D-6E8A-4147-A177-3AD203B41FA5}">
                      <a16:colId xmlns:a16="http://schemas.microsoft.com/office/drawing/2014/main" val="1802297158"/>
                    </a:ext>
                  </a:extLst>
                </a:gridCol>
                <a:gridCol w="1870831">
                  <a:extLst>
                    <a:ext uri="{9D8B030D-6E8A-4147-A177-3AD203B41FA5}">
                      <a16:colId xmlns:a16="http://schemas.microsoft.com/office/drawing/2014/main" val="2985554404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32382273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Тип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Максимален размер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Дължина в байтове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За какво е подходящ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6842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TINYTEXT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255 </a:t>
                      </a:r>
                      <a:r>
                        <a:rPr lang="bg-BG" dirty="0"/>
                        <a:t>байта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2⁸ − 1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кратки описания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086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TEXT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65 535 байта (~64 KB)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2¹⁶ − 1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стандартни текстове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7939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MEDIUMTEXT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16 777 215 </a:t>
                      </a:r>
                      <a:r>
                        <a:rPr lang="bg-BG" dirty="0"/>
                        <a:t>байта </a:t>
                      </a:r>
                    </a:p>
                    <a:p>
                      <a:r>
                        <a:rPr lang="bg-BG" dirty="0"/>
                        <a:t>(~16 </a:t>
                      </a:r>
                      <a:r>
                        <a:rPr lang="en-US" dirty="0"/>
                        <a:t>MB)</a:t>
                      </a:r>
                      <a:r>
                        <a:rPr lang="bg-BG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2²⁴ − 1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по-дълги статии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259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LONGTEXT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4 294 967 295 байта </a:t>
                      </a:r>
                      <a:endParaRPr lang="en-US" dirty="0"/>
                    </a:p>
                    <a:p>
                      <a:r>
                        <a:rPr lang="ru-RU" dirty="0"/>
                        <a:t>(~4 GB)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2³² − 1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много големи документи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13976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8C143FB-ECB4-D766-B7BF-882A926BC878}"/>
              </a:ext>
            </a:extLst>
          </p:cNvPr>
          <p:cNvSpPr txBox="1"/>
          <p:nvPr/>
        </p:nvSpPr>
        <p:spPr>
          <a:xfrm>
            <a:off x="1638300" y="5183778"/>
            <a:ext cx="8915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1" dirty="0"/>
              <a:t>В реални системи е по-добре големи текстове да се съхраняват извън базата (файлова система), а в базата да се пази само пътят до файла.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36343726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CE30B-6F7E-5FE8-5726-0CB2A8579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087" y="624110"/>
            <a:ext cx="9893526" cy="716042"/>
          </a:xfrm>
        </p:spPr>
        <p:txBody>
          <a:bodyPr/>
          <a:lstStyle/>
          <a:p>
            <a:r>
              <a:rPr lang="en-US" b="1" dirty="0"/>
              <a:t>Пример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0615C-32A8-3816-A8CC-0D656A928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3371" y="2133600"/>
            <a:ext cx="10111241" cy="377762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CREATE TABLE Articles (    </a:t>
            </a:r>
          </a:p>
          <a:p>
            <a:pPr marL="0" indent="0">
              <a:buNone/>
            </a:pPr>
            <a:r>
              <a:rPr lang="en-US" dirty="0"/>
              <a:t>	Id INT AUTO_INCREMENT PRIMARY KEY,    </a:t>
            </a:r>
          </a:p>
          <a:p>
            <a:pPr marL="0" indent="0">
              <a:buNone/>
            </a:pPr>
            <a:r>
              <a:rPr lang="en-US" dirty="0"/>
              <a:t>	Title VARCHAR(200),    </a:t>
            </a:r>
          </a:p>
          <a:p>
            <a:pPr marL="0" indent="0">
              <a:buNone/>
            </a:pPr>
            <a:r>
              <a:rPr lang="en-US" dirty="0"/>
              <a:t>	Content TEXT,    </a:t>
            </a:r>
          </a:p>
          <a:p>
            <a:pPr marL="0" indent="0">
              <a:buNone/>
            </a:pPr>
            <a:r>
              <a:rPr lang="en-US" dirty="0"/>
              <a:t>	Summary TINYTEXT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2297098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070E-1D16-E7DC-A852-196ADB3C9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1411" y="624110"/>
            <a:ext cx="9903202" cy="769261"/>
          </a:xfrm>
        </p:spPr>
        <p:txBody>
          <a:bodyPr/>
          <a:lstStyle/>
          <a:p>
            <a:r>
              <a:rPr lang="en-US" b="1" dirty="0"/>
              <a:t>ENUM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D8FD0-C698-17AA-2ACF-EEF99A62F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1411" y="1630438"/>
            <a:ext cx="9903202" cy="4562324"/>
          </a:xfrm>
        </p:spPr>
        <p:txBody>
          <a:bodyPr/>
          <a:lstStyle/>
          <a:p>
            <a:pPr marL="0" indent="0">
              <a:buNone/>
            </a:pPr>
            <a:r>
              <a:rPr lang="ru-RU" b="1" i="1" dirty="0"/>
              <a:t>ENUM</a:t>
            </a:r>
            <a:r>
              <a:rPr lang="ru-RU" dirty="0"/>
              <a:t> е текстов тип данни, който позволява само една стойност от предварително дефиниран списък.</a:t>
            </a:r>
            <a:endParaRPr lang="en-US" dirty="0"/>
          </a:p>
          <a:p>
            <a:pPr marL="0" indent="0">
              <a:buNone/>
            </a:pPr>
            <a:r>
              <a:rPr lang="bg-BG" b="1" dirty="0"/>
              <a:t>Синтаксис</a:t>
            </a:r>
          </a:p>
          <a:p>
            <a:pPr marL="0" indent="0">
              <a:buNone/>
            </a:pPr>
            <a:r>
              <a:rPr lang="en-US" dirty="0" err="1"/>
              <a:t>ColumnName</a:t>
            </a:r>
            <a:r>
              <a:rPr lang="en-US" dirty="0"/>
              <a:t> ENUM('</a:t>
            </a:r>
            <a:r>
              <a:rPr lang="bg-BG" dirty="0"/>
              <a:t>Стойност1‘, 'Стойност2‘, 'Стойност3')</a:t>
            </a:r>
          </a:p>
          <a:p>
            <a:pPr marL="0" indent="0">
              <a:buNone/>
            </a:pPr>
            <a:r>
              <a:rPr lang="bg-BG" b="1" dirty="0"/>
              <a:t>Пример:</a:t>
            </a:r>
          </a:p>
          <a:p>
            <a:pPr marL="0" indent="0">
              <a:buNone/>
            </a:pPr>
            <a:r>
              <a:rPr lang="en-US" dirty="0"/>
              <a:t>Status ENUM('</a:t>
            </a:r>
            <a:r>
              <a:rPr lang="bg-BG" dirty="0"/>
              <a:t>Нов','Обработен','Завършен')</a:t>
            </a:r>
          </a:p>
          <a:p>
            <a:pPr marL="0" indent="0">
              <a:buNone/>
            </a:pPr>
            <a:r>
              <a:rPr lang="ru-RU" b="1" dirty="0"/>
              <a:t>Основни характеристики</a:t>
            </a:r>
            <a:r>
              <a:rPr lang="bg-BG" b="1" dirty="0"/>
              <a:t>:</a:t>
            </a:r>
            <a:endParaRPr lang="en-US" b="1" dirty="0"/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Позволява само една стойност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Ограничава входа (валидира данните)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Пести място (вътрешно се съхранява като число)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Подобрява четимостта на модела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8817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BAA73-D1C3-4EA1-318B-18AA0F6E4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1411" y="624110"/>
            <a:ext cx="9903202" cy="716042"/>
          </a:xfrm>
        </p:spPr>
        <p:txBody>
          <a:bodyPr/>
          <a:lstStyle/>
          <a:p>
            <a:r>
              <a:rPr lang="en-US" b="1" dirty="0"/>
              <a:t>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9A678-4109-FA75-A19A-7A0B0AF5E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1411" y="1635276"/>
            <a:ext cx="9903202" cy="4275946"/>
          </a:xfrm>
        </p:spPr>
        <p:txBody>
          <a:bodyPr/>
          <a:lstStyle/>
          <a:p>
            <a:pPr marL="0" indent="0">
              <a:buNone/>
            </a:pPr>
            <a:r>
              <a:rPr lang="ru-RU" b="1" i="1" dirty="0"/>
              <a:t>SET </a:t>
            </a:r>
            <a:r>
              <a:rPr lang="ru-RU" dirty="0"/>
              <a:t>е текстов тип данни, който позволява запис на една или повече стойности от предварително дефиниран списък.</a:t>
            </a:r>
            <a:endParaRPr lang="en-US" dirty="0"/>
          </a:p>
          <a:p>
            <a:pPr marL="0" indent="0">
              <a:buNone/>
            </a:pPr>
            <a:r>
              <a:rPr lang="bg-BG" b="1" dirty="0"/>
              <a:t>Синтаксис:</a:t>
            </a:r>
            <a:endParaRPr lang="en-US" b="1" dirty="0"/>
          </a:p>
          <a:p>
            <a:pPr marL="0" indent="0">
              <a:buNone/>
            </a:pPr>
            <a:r>
              <a:rPr lang="en-US" dirty="0" err="1"/>
              <a:t>ColumnName</a:t>
            </a:r>
            <a:r>
              <a:rPr lang="en-US" dirty="0"/>
              <a:t> SET('</a:t>
            </a:r>
            <a:r>
              <a:rPr lang="bg-BG" dirty="0"/>
              <a:t>Стойност1‘, 'Стойност2‘, 'Стойност3’)</a:t>
            </a:r>
            <a:endParaRPr lang="en-US" dirty="0"/>
          </a:p>
          <a:p>
            <a:pPr marL="0" indent="0">
              <a:buNone/>
            </a:pPr>
            <a:r>
              <a:rPr lang="bg-BG" b="1" dirty="0"/>
              <a:t>Пример: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Permissions SET('</a:t>
            </a:r>
            <a:r>
              <a:rPr lang="bg-BG" dirty="0"/>
              <a:t>Четене‘, 'Писане‘, 'Редакция‘)</a:t>
            </a:r>
          </a:p>
          <a:p>
            <a:pPr marL="0" indent="0">
              <a:buNone/>
            </a:pPr>
            <a:r>
              <a:rPr lang="ru-RU" b="1" dirty="0"/>
              <a:t>Основни характеристики: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Позволява избор на няколко стойности едновременно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Ограничен набор от допустими стойности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Вътрешно се съхранява като число (битова маска)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ru-RU" dirty="0"/>
              <a:t>Показва се като текст при SELECT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0187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2E4E2-7782-7811-A580-F1D4CEE2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6571" y="624110"/>
            <a:ext cx="9908041" cy="653147"/>
          </a:xfrm>
        </p:spPr>
        <p:txBody>
          <a:bodyPr/>
          <a:lstStyle/>
          <a:p>
            <a:r>
              <a:rPr lang="bg-BG" b="1" dirty="0"/>
              <a:t>Бинарни типове в </a:t>
            </a:r>
            <a:r>
              <a:rPr lang="en-US" b="1" dirty="0"/>
              <a:t>MySQL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4F359-4F77-CE7D-14F2-1D9DD7B95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6570" y="1582057"/>
            <a:ext cx="9908041" cy="4338842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Бинарните типове съхраняват байтове без текстова интерпретация. </a:t>
            </a:r>
          </a:p>
          <a:p>
            <a:pPr marL="0" indent="0">
              <a:buNone/>
            </a:pPr>
            <a:r>
              <a:rPr lang="ru-RU" dirty="0"/>
              <a:t>Те са предназначени за файлове, криптографски данни и други нетекстови обекти.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5757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29BF6-6AA4-09DD-79C6-67581244E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6570" y="624110"/>
            <a:ext cx="9904329" cy="643471"/>
          </a:xfrm>
        </p:spPr>
        <p:txBody>
          <a:bodyPr/>
          <a:lstStyle/>
          <a:p>
            <a:r>
              <a:rPr lang="bg-BG" b="1" dirty="0"/>
              <a:t>Малки и фиксирани</a:t>
            </a:r>
            <a:endParaRPr lang="en-US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DAFD85A-17F0-0593-35ED-A655C125D2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8046741"/>
              </p:ext>
            </p:extLst>
          </p:nvPr>
        </p:nvGraphicFramePr>
        <p:xfrm>
          <a:off x="2523672" y="2316480"/>
          <a:ext cx="7370233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7796">
                  <a:extLst>
                    <a:ext uri="{9D8B030D-6E8A-4147-A177-3AD203B41FA5}">
                      <a16:colId xmlns:a16="http://schemas.microsoft.com/office/drawing/2014/main" val="1943809976"/>
                    </a:ext>
                  </a:extLst>
                </a:gridCol>
                <a:gridCol w="4192437">
                  <a:extLst>
                    <a:ext uri="{9D8B030D-6E8A-4147-A177-3AD203B41FA5}">
                      <a16:colId xmlns:a16="http://schemas.microsoft.com/office/drawing/2014/main" val="11779047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bg-BG" dirty="0"/>
                        <a:t>Тип	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Какво прави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090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BINARY(n)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фиксирана дължина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16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VARBINARY(n)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променлива дължина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875429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CB25252-9699-60CA-74FD-8DE0FC294A0A}"/>
              </a:ext>
            </a:extLst>
          </p:cNvPr>
          <p:cNvSpPr txBox="1"/>
          <p:nvPr/>
        </p:nvSpPr>
        <p:spPr>
          <a:xfrm>
            <a:off x="2181981" y="4388525"/>
            <a:ext cx="71652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Използват се за: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хешове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криптирани стойности</a:t>
            </a:r>
          </a:p>
        </p:txBody>
      </p:sp>
    </p:spTree>
    <p:extLst>
      <p:ext uri="{BB962C8B-B14F-4D97-AF65-F5344CB8AC3E}">
        <p14:creationId xmlns:p14="http://schemas.microsoft.com/office/powerpoint/2010/main" val="14853907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1F60E-BB10-1E23-C6C1-06345004F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763" y="624110"/>
            <a:ext cx="9883850" cy="769261"/>
          </a:xfrm>
        </p:spPr>
        <p:txBody>
          <a:bodyPr/>
          <a:lstStyle/>
          <a:p>
            <a:r>
              <a:rPr lang="bg-BG" b="1" dirty="0"/>
              <a:t>Големи файлове (</a:t>
            </a:r>
            <a:r>
              <a:rPr lang="en-US" b="1" dirty="0"/>
              <a:t>BLOB)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DBA8642-89D5-90E9-6B62-E6CEF6698A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7152506"/>
              </p:ext>
            </p:extLst>
          </p:nvPr>
        </p:nvGraphicFramePr>
        <p:xfrm>
          <a:off x="1620763" y="1976556"/>
          <a:ext cx="559767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7411">
                  <a:extLst>
                    <a:ext uri="{9D8B030D-6E8A-4147-A177-3AD203B41FA5}">
                      <a16:colId xmlns:a16="http://schemas.microsoft.com/office/drawing/2014/main" val="3219179423"/>
                    </a:ext>
                  </a:extLst>
                </a:gridCol>
                <a:gridCol w="2980266">
                  <a:extLst>
                    <a:ext uri="{9D8B030D-6E8A-4147-A177-3AD203B41FA5}">
                      <a16:colId xmlns:a16="http://schemas.microsoft.com/office/drawing/2014/main" val="40116565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bg-BG" dirty="0"/>
                        <a:t>Тип	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Размер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250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TINYBLOB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до 255 байта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265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BLOB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до 64 </a:t>
                      </a:r>
                      <a:r>
                        <a:rPr lang="en-US" dirty="0"/>
                        <a:t>KB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456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MEDIUMBLOB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до 16 </a:t>
                      </a:r>
                      <a:r>
                        <a:rPr lang="en-US" dirty="0"/>
                        <a:t>MB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743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LONGBLOB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до 4 </a:t>
                      </a:r>
                      <a:r>
                        <a:rPr lang="en-US" dirty="0"/>
                        <a:t>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10028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5EF8151-25AD-CEFB-CB79-C2F87C350115}"/>
              </a:ext>
            </a:extLst>
          </p:cNvPr>
          <p:cNvSpPr txBox="1"/>
          <p:nvPr/>
        </p:nvSpPr>
        <p:spPr>
          <a:xfrm>
            <a:off x="8219923" y="2228671"/>
            <a:ext cx="28012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bg-BG" b="1" dirty="0"/>
              <a:t>Използват се за: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bg-BG" dirty="0"/>
              <a:t>Снимки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bg-BG" dirty="0"/>
              <a:t>Документи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bg-BG" dirty="0"/>
              <a:t>Файлове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0BA692-F3D0-632B-C990-B9E838F6F85E}"/>
              </a:ext>
            </a:extLst>
          </p:cNvPr>
          <p:cNvSpPr txBox="1"/>
          <p:nvPr/>
        </p:nvSpPr>
        <p:spPr>
          <a:xfrm>
            <a:off x="1620763" y="4596563"/>
            <a:ext cx="79876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bg-BG" dirty="0"/>
              <a:t>Почти винаги съхраняваме само пътя до файла (</a:t>
            </a:r>
            <a:r>
              <a:rPr lang="en-US" dirty="0"/>
              <a:t>VARCHAR)</a:t>
            </a:r>
            <a:endParaRPr lang="bg-BG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bg-BG" dirty="0"/>
              <a:t>Рядко съхраняваме самия файл в базата (</a:t>
            </a:r>
            <a:r>
              <a:rPr lang="en-US" dirty="0"/>
              <a:t>BLOB)</a:t>
            </a:r>
          </a:p>
        </p:txBody>
      </p:sp>
    </p:spTree>
    <p:extLst>
      <p:ext uri="{BB962C8B-B14F-4D97-AF65-F5344CB8AC3E}">
        <p14:creationId xmlns:p14="http://schemas.microsoft.com/office/powerpoint/2010/main" val="26689136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200D5-A6E7-9374-3091-CC045D3E2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249" y="624110"/>
            <a:ext cx="9898364" cy="691852"/>
          </a:xfrm>
        </p:spPr>
        <p:txBody>
          <a:bodyPr>
            <a:normAutofit fontScale="90000"/>
          </a:bodyPr>
          <a:lstStyle/>
          <a:p>
            <a:r>
              <a:rPr lang="bg-BG" b="1" dirty="0"/>
              <a:t>Пример:</a:t>
            </a:r>
            <a:br>
              <a:rPr lang="bg-BG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F0A22-E613-FA76-B2C3-5F1B80FD2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6248" y="1417562"/>
            <a:ext cx="9898364" cy="44936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CREATE TABLE Documents (</a:t>
            </a:r>
            <a:br>
              <a:rPr lang="en-US" dirty="0"/>
            </a:br>
            <a:r>
              <a:rPr lang="en-US" dirty="0"/>
              <a:t>    Id INT AUTO_INCREMENT PRIMARY KEY,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FileName</a:t>
            </a:r>
            <a:r>
              <a:rPr lang="en-US" dirty="0"/>
              <a:t> VARCHAR(255),   -- </a:t>
            </a:r>
            <a:r>
              <a:rPr lang="bg-BG" dirty="0"/>
              <a:t>името на файла (текст)</a:t>
            </a:r>
            <a:br>
              <a:rPr lang="bg-BG" dirty="0"/>
            </a:br>
            <a:r>
              <a:rPr lang="bg-BG" dirty="0"/>
              <a:t>    </a:t>
            </a:r>
            <a:r>
              <a:rPr lang="en-US" dirty="0" err="1"/>
              <a:t>FileData</a:t>
            </a:r>
            <a:r>
              <a:rPr lang="en-US" dirty="0"/>
              <a:t> LONGBLOB        -- </a:t>
            </a:r>
            <a:r>
              <a:rPr lang="bg-BG" dirty="0"/>
              <a:t>самият файл (байтове)</a:t>
            </a:r>
            <a:br>
              <a:rPr lang="bg-BG" dirty="0"/>
            </a:br>
            <a:r>
              <a:rPr lang="bg-BG" dirty="0"/>
              <a:t>);</a:t>
            </a:r>
          </a:p>
          <a:p>
            <a:pPr marL="0" indent="0">
              <a:buNone/>
            </a:pPr>
            <a:r>
              <a:rPr lang="en-US" dirty="0"/>
              <a:t>INSERT INTO Documents (</a:t>
            </a:r>
            <a:r>
              <a:rPr lang="en-US" dirty="0" err="1"/>
              <a:t>FileName</a:t>
            </a:r>
            <a:r>
              <a:rPr lang="en-US" dirty="0"/>
              <a:t>, </a:t>
            </a:r>
            <a:r>
              <a:rPr lang="en-US" dirty="0" err="1"/>
              <a:t>FileData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VALUES (</a:t>
            </a:r>
            <a:br>
              <a:rPr lang="en-US" dirty="0"/>
            </a:br>
            <a:r>
              <a:rPr lang="bg-BG" dirty="0"/>
              <a:t>	</a:t>
            </a:r>
            <a:r>
              <a:rPr lang="en-US" dirty="0"/>
              <a:t>'report.pdf‘,</a:t>
            </a:r>
            <a:r>
              <a:rPr lang="bg-BG" dirty="0"/>
              <a:t> </a:t>
            </a:r>
            <a:r>
              <a:rPr lang="en-US" dirty="0"/>
              <a:t>LOAD_FILE('/var/files/report.pdf')</a:t>
            </a:r>
            <a:br>
              <a:rPr lang="en-US" dirty="0"/>
            </a:br>
            <a:r>
              <a:rPr lang="en-US" dirty="0"/>
              <a:t>);</a:t>
            </a:r>
            <a:endParaRPr lang="bg-BG" dirty="0"/>
          </a:p>
          <a:p>
            <a:r>
              <a:rPr lang="ru-RU" dirty="0"/>
              <a:t>Файлът трябва да е достъпен за MySQL сървъра</a:t>
            </a:r>
          </a:p>
          <a:p>
            <a:r>
              <a:rPr lang="ru-RU" dirty="0"/>
              <a:t>Трябва да е разрешена secure_file_priv</a:t>
            </a:r>
          </a:p>
          <a:p>
            <a:r>
              <a:rPr lang="ru-RU" dirty="0"/>
              <a:t>Работи на сървърната машина, не от твоя компютър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56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8578A-7A86-2AB7-B5F1-178AB0DB1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733" y="624110"/>
            <a:ext cx="9912879" cy="653147"/>
          </a:xfrm>
        </p:spPr>
        <p:txBody>
          <a:bodyPr/>
          <a:lstStyle/>
          <a:p>
            <a:r>
              <a:rPr lang="ru-RU" b="1" dirty="0"/>
              <a:t>Типове за дата и време в MySQL</a:t>
            </a:r>
            <a:endParaRPr lang="en-US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395E6D5-3CDD-8356-92AD-40AD389E9C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2153606"/>
              </p:ext>
            </p:extLst>
          </p:nvPr>
        </p:nvGraphicFramePr>
        <p:xfrm>
          <a:off x="1241160" y="2593219"/>
          <a:ext cx="970968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9486">
                  <a:extLst>
                    <a:ext uri="{9D8B030D-6E8A-4147-A177-3AD203B41FA5}">
                      <a16:colId xmlns:a16="http://schemas.microsoft.com/office/drawing/2014/main" val="4111322014"/>
                    </a:ext>
                  </a:extLst>
                </a:gridCol>
                <a:gridCol w="2186819">
                  <a:extLst>
                    <a:ext uri="{9D8B030D-6E8A-4147-A177-3AD203B41FA5}">
                      <a16:colId xmlns:a16="http://schemas.microsoft.com/office/drawing/2014/main" val="2311047127"/>
                    </a:ext>
                  </a:extLst>
                </a:gridCol>
                <a:gridCol w="2825448">
                  <a:extLst>
                    <a:ext uri="{9D8B030D-6E8A-4147-A177-3AD203B41FA5}">
                      <a16:colId xmlns:a16="http://schemas.microsoft.com/office/drawing/2014/main" val="1082467097"/>
                    </a:ext>
                  </a:extLst>
                </a:gridCol>
                <a:gridCol w="3187927">
                  <a:extLst>
                    <a:ext uri="{9D8B030D-6E8A-4147-A177-3AD203B41FA5}">
                      <a16:colId xmlns:a16="http://schemas.microsoft.com/office/drawing/2014/main" val="8854127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bg-BG" dirty="0"/>
                        <a:t>Тип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Какво съхранява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Формат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Диапазон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9673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Само дата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YYY-MM-DD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1000-01-01 </a:t>
                      </a:r>
                      <a:r>
                        <a:rPr lang="bg-BG" dirty="0"/>
                        <a:t>до 9999-12-31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571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TIME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Само време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HH:MM:SS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-838:59:59 до 838:59:59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842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Дата + час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YYYY-MM-DD HH:MM:SS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1000-01-01 </a:t>
                      </a:r>
                      <a:r>
                        <a:rPr lang="bg-BG" dirty="0"/>
                        <a:t>до 9999-12-31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8961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TIMESTAMP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Дата + час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YYYY-MM-DD HH:MM:SS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1970-01-01 </a:t>
                      </a:r>
                      <a:r>
                        <a:rPr lang="bg-BG" dirty="0"/>
                        <a:t>до 2038-01-19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8742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Само година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YYYY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1901 </a:t>
                      </a:r>
                      <a:r>
                        <a:rPr lang="bg-BG" dirty="0"/>
                        <a:t>до 2155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43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20061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F6B19-3450-C58E-A2B4-9218C1254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2057" y="624110"/>
            <a:ext cx="9922555" cy="691852"/>
          </a:xfrm>
        </p:spPr>
        <p:txBody>
          <a:bodyPr/>
          <a:lstStyle/>
          <a:p>
            <a:r>
              <a:rPr lang="en-US" b="1" dirty="0"/>
              <a:t>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7E64F-A837-FAEC-0CAD-678B6EF4B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2057" y="1543352"/>
            <a:ext cx="9922555" cy="43678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CREATE TABLE Students (</a:t>
            </a:r>
            <a:br>
              <a:rPr lang="en-US" dirty="0"/>
            </a:br>
            <a:r>
              <a:rPr lang="en-US" dirty="0"/>
              <a:t>    Id INT AUTO_INCREMENT PRIMARY KEY,</a:t>
            </a:r>
            <a:br>
              <a:rPr lang="en-US" dirty="0"/>
            </a:br>
            <a:r>
              <a:rPr lang="en-US" dirty="0"/>
              <a:t>    FirstName VARCHAR(50),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BirthDate</a:t>
            </a:r>
            <a:r>
              <a:rPr lang="en-US" dirty="0"/>
              <a:t> DATE</a:t>
            </a:r>
            <a:br>
              <a:rPr lang="en-US" dirty="0"/>
            </a:br>
            <a:r>
              <a:rPr lang="en-US" dirty="0"/>
              <a:t>);</a:t>
            </a:r>
          </a:p>
          <a:p>
            <a:pPr marL="0" indent="0">
              <a:buNone/>
            </a:pPr>
            <a:r>
              <a:rPr lang="bg-BG" dirty="0"/>
              <a:t>Форматът задължително е:</a:t>
            </a:r>
          </a:p>
          <a:p>
            <a:pPr marL="0" indent="0">
              <a:buNone/>
            </a:pPr>
            <a:r>
              <a:rPr lang="en-US" dirty="0"/>
              <a:t>YYYY-MM-DD</a:t>
            </a:r>
          </a:p>
          <a:p>
            <a:pPr marL="0" indent="0">
              <a:buNone/>
            </a:pPr>
            <a:r>
              <a:rPr lang="bg-BG" dirty="0"/>
              <a:t>Пример:</a:t>
            </a:r>
          </a:p>
          <a:p>
            <a:pPr marL="0" indent="0">
              <a:buNone/>
            </a:pPr>
            <a:r>
              <a:rPr lang="en-US" dirty="0"/>
              <a:t>INSERT INTO Students (FirstName, </a:t>
            </a:r>
            <a:r>
              <a:rPr lang="en-US" dirty="0" err="1"/>
              <a:t>BirthDate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VALUES ('</a:t>
            </a:r>
            <a:r>
              <a:rPr lang="bg-BG" dirty="0"/>
              <a:t>Иван', '2005-03-15');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7797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6D672-203A-F45F-E750-F12FDCA1E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249" y="624111"/>
            <a:ext cx="9898364" cy="68701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TIME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FE460-7C04-CE3E-98F6-94670C123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6248" y="1596571"/>
            <a:ext cx="9898364" cy="472681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CREATE TABLE Schedule (</a:t>
            </a:r>
            <a:br>
              <a:rPr lang="en-US" dirty="0"/>
            </a:br>
            <a:r>
              <a:rPr lang="en-US" dirty="0"/>
              <a:t>    Id INT AUTO_INCREMENT PRIMARY KEY,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LessonName</a:t>
            </a:r>
            <a:r>
              <a:rPr lang="en-US" dirty="0"/>
              <a:t> VARCHAR(100),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StartTime</a:t>
            </a:r>
            <a:r>
              <a:rPr lang="en-US" dirty="0"/>
              <a:t> TIME</a:t>
            </a:r>
            <a:br>
              <a:rPr lang="en-US" dirty="0"/>
            </a:br>
            <a:r>
              <a:rPr lang="en-US" dirty="0"/>
              <a:t>);</a:t>
            </a:r>
          </a:p>
          <a:p>
            <a:pPr marL="0" indent="0">
              <a:buNone/>
            </a:pPr>
            <a:r>
              <a:rPr lang="bg-BG" b="1" dirty="0"/>
              <a:t>Форматът е:</a:t>
            </a:r>
            <a:r>
              <a:rPr lang="en-US" b="1" dirty="0"/>
              <a:t> HH:MM:SS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bg-BG" b="1" dirty="0"/>
              <a:t>Пример 1 – въвеждане на час</a:t>
            </a:r>
          </a:p>
          <a:p>
            <a:pPr marL="0" indent="0">
              <a:buNone/>
            </a:pPr>
            <a:r>
              <a:rPr lang="en-US" dirty="0"/>
              <a:t>INSERT INTO Schedule (</a:t>
            </a:r>
            <a:r>
              <a:rPr lang="en-US" dirty="0" err="1"/>
              <a:t>LessonName</a:t>
            </a:r>
            <a:r>
              <a:rPr lang="en-US" dirty="0"/>
              <a:t>, </a:t>
            </a:r>
            <a:r>
              <a:rPr lang="en-US" dirty="0" err="1"/>
              <a:t>StartTime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VALUES ('</a:t>
            </a:r>
            <a:r>
              <a:rPr lang="bg-BG" dirty="0"/>
              <a:t>Бази данни', '14:30:00');</a:t>
            </a:r>
          </a:p>
          <a:p>
            <a:pPr marL="0" indent="0">
              <a:buNone/>
            </a:pPr>
            <a:r>
              <a:rPr lang="en-US" b="1" dirty="0"/>
              <a:t>Пример 2 – </a:t>
            </a:r>
            <a:r>
              <a:rPr lang="en-US" b="1" dirty="0" err="1"/>
              <a:t>интервал</a:t>
            </a:r>
            <a:r>
              <a:rPr lang="en-US" b="1" dirty="0"/>
              <a:t> </a:t>
            </a:r>
            <a:r>
              <a:rPr lang="en-US" b="1" dirty="0" err="1"/>
              <a:t>над</a:t>
            </a:r>
            <a:r>
              <a:rPr lang="en-US" b="1" dirty="0"/>
              <a:t> 24 </a:t>
            </a:r>
            <a:r>
              <a:rPr lang="en-US" b="1" dirty="0" err="1"/>
              <a:t>часа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INSERT INTO Schedule (</a:t>
            </a:r>
            <a:r>
              <a:rPr lang="en-US" dirty="0" err="1"/>
              <a:t>LessonName</a:t>
            </a:r>
            <a:r>
              <a:rPr lang="en-US" dirty="0"/>
              <a:t>, </a:t>
            </a:r>
            <a:r>
              <a:rPr lang="en-US" dirty="0" err="1"/>
              <a:t>StartTime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VALUES ('</a:t>
            </a:r>
            <a:r>
              <a:rPr lang="en-US" dirty="0" err="1"/>
              <a:t>Проект</a:t>
            </a:r>
            <a:r>
              <a:rPr lang="en-US" dirty="0"/>
              <a:t>', '25:00:00‘);</a:t>
            </a:r>
            <a:endParaRPr lang="bg-BG" dirty="0"/>
          </a:p>
          <a:p>
            <a:pPr marL="0" indent="0">
              <a:buNone/>
            </a:pPr>
            <a:r>
              <a:rPr lang="bg-BG" b="1" dirty="0"/>
              <a:t>Пример 3 – текущо време</a:t>
            </a:r>
          </a:p>
          <a:p>
            <a:pPr marL="0" indent="0">
              <a:buNone/>
            </a:pPr>
            <a:r>
              <a:rPr lang="en-US" dirty="0"/>
              <a:t>INSERT INTO Schedule (</a:t>
            </a:r>
            <a:r>
              <a:rPr lang="en-US" dirty="0" err="1"/>
              <a:t>LessonName</a:t>
            </a:r>
            <a:r>
              <a:rPr lang="en-US" dirty="0"/>
              <a:t>, </a:t>
            </a:r>
            <a:r>
              <a:rPr lang="en-US" dirty="0" err="1"/>
              <a:t>StartTime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VALUES ('</a:t>
            </a:r>
            <a:r>
              <a:rPr lang="bg-BG" dirty="0"/>
              <a:t>Сега', </a:t>
            </a:r>
            <a:r>
              <a:rPr lang="en-US" dirty="0"/>
              <a:t>CURRENT_TIME);</a:t>
            </a:r>
            <a:r>
              <a:rPr lang="bg-BG" dirty="0"/>
              <a:t> // </a:t>
            </a:r>
            <a:r>
              <a:rPr lang="en-US" dirty="0"/>
              <a:t>VALUES ('</a:t>
            </a:r>
            <a:r>
              <a:rPr lang="bg-BG" dirty="0"/>
              <a:t>Сега', </a:t>
            </a:r>
            <a:r>
              <a:rPr lang="en-US" dirty="0"/>
              <a:t>CURTIME());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6007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B01E6-ECB2-454A-8018-E7D59B96E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6571" y="624110"/>
            <a:ext cx="9908041" cy="735395"/>
          </a:xfrm>
        </p:spPr>
        <p:txBody>
          <a:bodyPr>
            <a:normAutofit/>
          </a:bodyPr>
          <a:lstStyle/>
          <a:p>
            <a:r>
              <a:rPr lang="en-US" b="1" dirty="0"/>
              <a:t>DATETIME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6A98E-64FB-92F0-5EE2-EBE5CEE23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6571" y="1727200"/>
            <a:ext cx="9908041" cy="41840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CREATE TABLE Orders (</a:t>
            </a:r>
            <a:br>
              <a:rPr lang="en-US" dirty="0"/>
            </a:br>
            <a:r>
              <a:rPr lang="en-US" dirty="0"/>
              <a:t>    Id INT AUTO_INCREMENT PRIMARY KEY,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OrderDate</a:t>
            </a:r>
            <a:r>
              <a:rPr lang="en-US" dirty="0"/>
              <a:t> DATETIME</a:t>
            </a:r>
            <a:br>
              <a:rPr lang="en-US" dirty="0"/>
            </a:b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INSERT INTO Orders (</a:t>
            </a:r>
            <a:r>
              <a:rPr lang="en-US" dirty="0" err="1"/>
              <a:t>OrderDate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VALUES ('2026-02-24 14:30:00');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INSERT INTO Orders (</a:t>
            </a:r>
            <a:r>
              <a:rPr lang="en-US" dirty="0" err="1"/>
              <a:t>OrderDate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VALUES (NOW());</a:t>
            </a:r>
          </a:p>
          <a:p>
            <a:pPr marL="0" indent="0">
              <a:buNone/>
            </a:pPr>
            <a:r>
              <a:rPr lang="bg-BG" dirty="0"/>
              <a:t>или</a:t>
            </a:r>
          </a:p>
          <a:p>
            <a:pPr marL="0" indent="0">
              <a:buNone/>
            </a:pPr>
            <a:r>
              <a:rPr lang="en-US" dirty="0"/>
              <a:t>INSERT INTO Orders (</a:t>
            </a:r>
            <a:r>
              <a:rPr lang="en-US" dirty="0" err="1"/>
              <a:t>OrderDate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VALUES (CURRENT_TIMESTAMP);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7176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FD56B-6CB9-850D-B4C3-76E753696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2057" y="624110"/>
            <a:ext cx="9922555" cy="720880"/>
          </a:xfrm>
        </p:spPr>
        <p:txBody>
          <a:bodyPr>
            <a:normAutofit/>
          </a:bodyPr>
          <a:lstStyle/>
          <a:p>
            <a:r>
              <a:rPr lang="en-US" b="1" dirty="0"/>
              <a:t>TIMESTAMP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39AE8-9639-2FA0-2691-4DCF33226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0438" y="1761067"/>
            <a:ext cx="9874174" cy="41501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CREATE TABLE Logs (</a:t>
            </a:r>
            <a:br>
              <a:rPr lang="en-US" dirty="0"/>
            </a:br>
            <a:r>
              <a:rPr lang="en-US" dirty="0"/>
              <a:t>    Id INT AUTO_INCREMENT PRIMARY KEY,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CreatedAt</a:t>
            </a:r>
            <a:r>
              <a:rPr lang="en-US" dirty="0"/>
              <a:t> TIMESTAMP DEFAULT CURRENT_TIMESTAMP</a:t>
            </a:r>
            <a:br>
              <a:rPr lang="en-US" dirty="0"/>
            </a:b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INSERT INTO Logs ()</a:t>
            </a:r>
            <a:br>
              <a:rPr lang="en-US" dirty="0"/>
            </a:br>
            <a:r>
              <a:rPr lang="en-US" dirty="0"/>
              <a:t>VALUES ();</a:t>
            </a:r>
          </a:p>
          <a:p>
            <a:pPr marL="0" indent="0">
              <a:buNone/>
            </a:pPr>
            <a:r>
              <a:rPr lang="bg-BG" dirty="0"/>
              <a:t>или</a:t>
            </a:r>
          </a:p>
          <a:p>
            <a:pPr marL="0" indent="0">
              <a:buNone/>
            </a:pPr>
            <a:r>
              <a:rPr lang="en-US" dirty="0"/>
              <a:t>INSERT INTO Logs (Id)</a:t>
            </a:r>
            <a:br>
              <a:rPr lang="en-US" dirty="0"/>
            </a:br>
            <a:r>
              <a:rPr lang="en-US" dirty="0"/>
              <a:t>VALUES (NULL);</a:t>
            </a:r>
          </a:p>
          <a:p>
            <a:pPr marL="0" indent="0">
              <a:buNone/>
            </a:pPr>
            <a:r>
              <a:rPr lang="en-US" dirty="0" err="1"/>
              <a:t>CreatedAt</a:t>
            </a:r>
            <a:r>
              <a:rPr lang="en-US" dirty="0"/>
              <a:t> </a:t>
            </a:r>
            <a:r>
              <a:rPr lang="bg-BG" dirty="0"/>
              <a:t>автоматично ще получи текущата дата и час.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445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515B2-3F8D-D70E-15BA-7E53552E6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1733" y="625042"/>
            <a:ext cx="9912879" cy="643471"/>
          </a:xfrm>
        </p:spPr>
        <p:txBody>
          <a:bodyPr>
            <a:normAutofit/>
          </a:bodyPr>
          <a:lstStyle/>
          <a:p>
            <a:r>
              <a:rPr lang="en-US" b="1" dirty="0"/>
              <a:t>YEAR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6805D-DAB7-1D65-24E1-1407E8540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1733" y="1698171"/>
            <a:ext cx="9912879" cy="421305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CREATE TABLE Students (</a:t>
            </a:r>
            <a:br>
              <a:rPr lang="en-US" dirty="0"/>
            </a:br>
            <a:r>
              <a:rPr lang="en-US" dirty="0"/>
              <a:t>    Id INT AUTO_INCREMENT PRIMARY KEY,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GraduationYear</a:t>
            </a:r>
            <a:r>
              <a:rPr lang="en-US" dirty="0"/>
              <a:t> YEAR</a:t>
            </a:r>
            <a:br>
              <a:rPr lang="en-US" dirty="0"/>
            </a:br>
            <a:r>
              <a:rPr lang="en-US" dirty="0"/>
              <a:t>);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INSERT INTO Students (</a:t>
            </a:r>
            <a:r>
              <a:rPr lang="en-US" dirty="0" err="1"/>
              <a:t>GraduationYear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VALUES (2026);</a:t>
            </a:r>
          </a:p>
          <a:p>
            <a:pPr marL="0" indent="0">
              <a:buNone/>
            </a:pPr>
            <a:r>
              <a:rPr lang="bg-BG" dirty="0"/>
              <a:t>или</a:t>
            </a:r>
          </a:p>
          <a:p>
            <a:pPr marL="0" indent="0">
              <a:buNone/>
            </a:pPr>
            <a:r>
              <a:rPr lang="en-US" dirty="0"/>
              <a:t>INSERT INTO Students (</a:t>
            </a:r>
            <a:r>
              <a:rPr lang="en-US" dirty="0" err="1"/>
              <a:t>GraduationYear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VALUES ('2024');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6160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6A9E0C-7050-5672-883D-CAB3B7BE3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896" y="624110"/>
            <a:ext cx="9917716" cy="725719"/>
          </a:xfrm>
        </p:spPr>
        <p:txBody>
          <a:bodyPr/>
          <a:lstStyle/>
          <a:p>
            <a:r>
              <a:rPr lang="bg-BG" b="1" dirty="0"/>
              <a:t>ТЕСТ</a:t>
            </a: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BD5B9C-B71D-E4BB-506F-F3F97CFB1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25639" y="1664303"/>
            <a:ext cx="4591352" cy="490099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bg-BG" b="1" dirty="0"/>
              <a:t>1. Кой тип е най-подходящ за цена на продукт?</a:t>
            </a:r>
          </a:p>
          <a:p>
            <a:pPr marL="0" indent="0">
              <a:buNone/>
            </a:pPr>
            <a:r>
              <a:rPr lang="en-US" dirty="0"/>
              <a:t>A) FLOAT</a:t>
            </a:r>
            <a:br>
              <a:rPr lang="en-US" dirty="0"/>
            </a:br>
            <a:r>
              <a:rPr lang="en-US" dirty="0"/>
              <a:t>B) DOUBLE</a:t>
            </a:r>
            <a:br>
              <a:rPr lang="en-US" dirty="0"/>
            </a:br>
            <a:r>
              <a:rPr lang="en-US" dirty="0"/>
              <a:t>C) DECIMAL(10,2)</a:t>
            </a:r>
            <a:br>
              <a:rPr lang="en-US" dirty="0"/>
            </a:br>
            <a:r>
              <a:rPr lang="en-US" dirty="0"/>
              <a:t>D) INT</a:t>
            </a:r>
          </a:p>
          <a:p>
            <a:pPr marL="0" indent="0">
              <a:buNone/>
            </a:pPr>
            <a:r>
              <a:rPr lang="bg-BG" b="1" dirty="0"/>
              <a:t>2.</a:t>
            </a:r>
            <a:r>
              <a:rPr lang="en-US" b="1" dirty="0"/>
              <a:t> </a:t>
            </a:r>
            <a:r>
              <a:rPr lang="bg-BG" b="1" dirty="0"/>
              <a:t>Кой тип заема 1 байт?</a:t>
            </a:r>
          </a:p>
          <a:p>
            <a:pPr marL="0" indent="0">
              <a:buNone/>
            </a:pPr>
            <a:r>
              <a:rPr lang="en-US" dirty="0"/>
              <a:t>A) INT</a:t>
            </a:r>
            <a:br>
              <a:rPr lang="en-US" dirty="0"/>
            </a:br>
            <a:r>
              <a:rPr lang="en-US" dirty="0"/>
              <a:t>B) SMALLINT</a:t>
            </a:r>
            <a:br>
              <a:rPr lang="en-US" dirty="0"/>
            </a:br>
            <a:r>
              <a:rPr lang="en-US" dirty="0"/>
              <a:t>C) TINYINT</a:t>
            </a:r>
            <a:br>
              <a:rPr lang="en-US" dirty="0"/>
            </a:br>
            <a:r>
              <a:rPr lang="en-US" dirty="0"/>
              <a:t>D) BIGINT</a:t>
            </a:r>
          </a:p>
          <a:p>
            <a:pPr marL="0" indent="0">
              <a:buNone/>
            </a:pPr>
            <a:r>
              <a:rPr lang="ru-RU" b="1" dirty="0"/>
              <a:t>3. Кой тип позволява само една стойност от предварително зададен списък?</a:t>
            </a:r>
          </a:p>
          <a:p>
            <a:pPr marL="0" indent="0">
              <a:buNone/>
            </a:pPr>
            <a:r>
              <a:rPr lang="ru-RU" dirty="0"/>
              <a:t>A) SET</a:t>
            </a:r>
            <a:br>
              <a:rPr lang="ru-RU" dirty="0"/>
            </a:br>
            <a:r>
              <a:rPr lang="ru-RU" dirty="0"/>
              <a:t>B) ENUM</a:t>
            </a:r>
            <a:br>
              <a:rPr lang="ru-RU" dirty="0"/>
            </a:br>
            <a:r>
              <a:rPr lang="ru-RU" dirty="0"/>
              <a:t>C) VARCHAR</a:t>
            </a:r>
            <a:br>
              <a:rPr lang="ru-RU" dirty="0"/>
            </a:br>
            <a:r>
              <a:rPr lang="ru-RU" dirty="0"/>
              <a:t>D) JSON</a:t>
            </a:r>
          </a:p>
          <a:p>
            <a:pPr marL="0" indent="0">
              <a:buNone/>
            </a:pPr>
            <a:r>
              <a:rPr lang="bg-BG" b="1" dirty="0"/>
              <a:t>4. Кой тип позволява повече от една стойност от списък?</a:t>
            </a:r>
          </a:p>
          <a:p>
            <a:pPr marL="0" indent="0">
              <a:buNone/>
            </a:pPr>
            <a:r>
              <a:rPr lang="en-US" dirty="0"/>
              <a:t>A) ENUM</a:t>
            </a:r>
            <a:br>
              <a:rPr lang="en-US" dirty="0"/>
            </a:br>
            <a:r>
              <a:rPr lang="en-US" dirty="0"/>
              <a:t>B) CHAR</a:t>
            </a:r>
            <a:br>
              <a:rPr lang="en-US" dirty="0"/>
            </a:br>
            <a:r>
              <a:rPr lang="en-US" dirty="0"/>
              <a:t>C) SET</a:t>
            </a:r>
            <a:br>
              <a:rPr lang="en-US" dirty="0"/>
            </a:br>
            <a:r>
              <a:rPr lang="en-US" dirty="0"/>
              <a:t>D) TEXT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791E91-564D-480A-736C-632810934F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45754" y="1664303"/>
            <a:ext cx="4668383" cy="435682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bg-BG" b="1" dirty="0"/>
              <a:t>5. Кой тип е най-подходящ за съхраняване на снимка?</a:t>
            </a:r>
          </a:p>
          <a:p>
            <a:pPr marL="0" indent="0">
              <a:buNone/>
            </a:pPr>
            <a:r>
              <a:rPr lang="en-US" dirty="0"/>
              <a:t>A) TEXT</a:t>
            </a:r>
            <a:br>
              <a:rPr lang="en-US" dirty="0"/>
            </a:br>
            <a:r>
              <a:rPr lang="en-US" dirty="0"/>
              <a:t>B) BLOB</a:t>
            </a:r>
            <a:br>
              <a:rPr lang="en-US" dirty="0"/>
            </a:br>
            <a:r>
              <a:rPr lang="en-US" dirty="0"/>
              <a:t>C) VARCHAR</a:t>
            </a:r>
            <a:br>
              <a:rPr lang="en-US" dirty="0"/>
            </a:br>
            <a:r>
              <a:rPr lang="en-US" dirty="0"/>
              <a:t>D) CHAR</a:t>
            </a:r>
          </a:p>
          <a:p>
            <a:pPr marL="0" indent="0">
              <a:buNone/>
            </a:pPr>
            <a:r>
              <a:rPr lang="bg-BG" b="1" dirty="0"/>
              <a:t>6. Кой тип зависи от </a:t>
            </a:r>
            <a:r>
              <a:rPr lang="en-US" b="1" dirty="0" err="1"/>
              <a:t>timezone</a:t>
            </a:r>
            <a:r>
              <a:rPr lang="en-US" b="1" dirty="0"/>
              <a:t>?</a:t>
            </a:r>
          </a:p>
          <a:p>
            <a:pPr marL="0" indent="0">
              <a:buNone/>
            </a:pPr>
            <a:r>
              <a:rPr lang="en-US" dirty="0"/>
              <a:t>A) DATE</a:t>
            </a:r>
            <a:br>
              <a:rPr lang="en-US" dirty="0"/>
            </a:br>
            <a:r>
              <a:rPr lang="en-US" dirty="0"/>
              <a:t>B) DATETIME</a:t>
            </a:r>
            <a:br>
              <a:rPr lang="en-US" dirty="0"/>
            </a:br>
            <a:r>
              <a:rPr lang="en-US" dirty="0"/>
              <a:t>C) TIMESTAMP</a:t>
            </a:r>
            <a:br>
              <a:rPr lang="en-US" dirty="0"/>
            </a:br>
            <a:r>
              <a:rPr lang="en-US" dirty="0"/>
              <a:t>D) YEAR</a:t>
            </a:r>
            <a:endParaRPr lang="bg-BG" dirty="0"/>
          </a:p>
          <a:p>
            <a:pPr marL="0" indent="0">
              <a:buNone/>
            </a:pPr>
            <a:r>
              <a:rPr lang="bg-BG" b="1" dirty="0"/>
              <a:t>7. Кой тип е най-подходящ за възраст (0–120)?</a:t>
            </a:r>
          </a:p>
          <a:p>
            <a:pPr marL="0" indent="0">
              <a:buNone/>
            </a:pPr>
            <a:r>
              <a:rPr lang="en-US" dirty="0"/>
              <a:t>A) INT</a:t>
            </a:r>
            <a:br>
              <a:rPr lang="en-US" dirty="0"/>
            </a:br>
            <a:r>
              <a:rPr lang="en-US" dirty="0"/>
              <a:t>B) SMALLINT</a:t>
            </a:r>
            <a:br>
              <a:rPr lang="en-US" dirty="0"/>
            </a:br>
            <a:r>
              <a:rPr lang="en-US" dirty="0"/>
              <a:t>C) TINYINT UNSIGNED</a:t>
            </a:r>
            <a:br>
              <a:rPr lang="en-US" dirty="0"/>
            </a:br>
            <a:r>
              <a:rPr lang="en-US" dirty="0"/>
              <a:t>D) BIGINT</a:t>
            </a:r>
          </a:p>
          <a:p>
            <a:pPr marL="0" indent="0">
              <a:buNone/>
            </a:pPr>
            <a:r>
              <a:rPr lang="bg-BG" b="1" dirty="0"/>
              <a:t>8. Кой тип съхранява точни десетични стойности?</a:t>
            </a:r>
          </a:p>
          <a:p>
            <a:pPr marL="0" indent="0">
              <a:buNone/>
            </a:pPr>
            <a:r>
              <a:rPr lang="en-US" dirty="0"/>
              <a:t>A) FLOAT</a:t>
            </a:r>
            <a:br>
              <a:rPr lang="en-US" dirty="0"/>
            </a:br>
            <a:r>
              <a:rPr lang="en-US" dirty="0"/>
              <a:t>B) DOUBLE</a:t>
            </a:r>
            <a:br>
              <a:rPr lang="en-US" dirty="0"/>
            </a:br>
            <a:r>
              <a:rPr lang="en-US" dirty="0"/>
              <a:t>C) DECIMAL</a:t>
            </a:r>
            <a:br>
              <a:rPr lang="en-US" dirty="0"/>
            </a:br>
            <a:r>
              <a:rPr lang="en-US" dirty="0"/>
              <a:t>D) INT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2048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BEFF8-1509-C6BF-8AD6-128BAA8E9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E2BF91-F1B6-DA74-5C4E-E643B26C0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896" y="624110"/>
            <a:ext cx="9917716" cy="725719"/>
          </a:xfrm>
        </p:spPr>
        <p:txBody>
          <a:bodyPr/>
          <a:lstStyle/>
          <a:p>
            <a:r>
              <a:rPr lang="bg-BG" b="1" dirty="0"/>
              <a:t>ТЕСТ</a:t>
            </a: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6AED4A-A619-6E3A-5C8A-1B6F07E3EF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25639" y="1664303"/>
            <a:ext cx="4591352" cy="490099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bg-BG" b="1" dirty="0"/>
              <a:t>9. </a:t>
            </a:r>
            <a:r>
              <a:rPr lang="en-US" b="1" dirty="0"/>
              <a:t>FLOAT </a:t>
            </a:r>
            <a:r>
              <a:rPr lang="bg-BG" b="1" dirty="0"/>
              <a:t>съхранява числата:</a:t>
            </a:r>
          </a:p>
          <a:p>
            <a:pPr marL="0" indent="0">
              <a:buNone/>
            </a:pPr>
            <a:r>
              <a:rPr lang="en-US" dirty="0"/>
              <a:t>A) </a:t>
            </a:r>
            <a:r>
              <a:rPr lang="bg-BG" dirty="0"/>
              <a:t>Точно</a:t>
            </a:r>
            <a:br>
              <a:rPr lang="bg-BG" dirty="0"/>
            </a:br>
            <a:r>
              <a:rPr lang="en-US" dirty="0"/>
              <a:t>B) </a:t>
            </a:r>
            <a:r>
              <a:rPr lang="bg-BG" dirty="0"/>
              <a:t>Като текст</a:t>
            </a:r>
            <a:br>
              <a:rPr lang="bg-BG" dirty="0"/>
            </a:br>
            <a:r>
              <a:rPr lang="en-US" dirty="0"/>
              <a:t>C) </a:t>
            </a:r>
            <a:r>
              <a:rPr lang="bg-BG" dirty="0"/>
              <a:t>Приблизително</a:t>
            </a:r>
            <a:br>
              <a:rPr lang="bg-BG" dirty="0"/>
            </a:br>
            <a:r>
              <a:rPr lang="en-US" dirty="0"/>
              <a:t>D) </a:t>
            </a:r>
            <a:r>
              <a:rPr lang="bg-BG" dirty="0"/>
              <a:t>Само положителни</a:t>
            </a:r>
          </a:p>
          <a:p>
            <a:pPr marL="0" indent="0">
              <a:buNone/>
            </a:pPr>
            <a:r>
              <a:rPr lang="bg-BG" b="1" dirty="0"/>
              <a:t>10. </a:t>
            </a:r>
            <a:r>
              <a:rPr lang="en-US" b="1" dirty="0"/>
              <a:t>BOOLEAN </a:t>
            </a:r>
            <a:r>
              <a:rPr lang="bg-BG" b="1" dirty="0"/>
              <a:t>в </a:t>
            </a:r>
            <a:r>
              <a:rPr lang="en-US" b="1" dirty="0"/>
              <a:t>MySQL </a:t>
            </a:r>
            <a:r>
              <a:rPr lang="bg-BG" b="1" dirty="0"/>
              <a:t>реално е:</a:t>
            </a:r>
          </a:p>
          <a:p>
            <a:pPr marL="0" indent="0">
              <a:buNone/>
            </a:pPr>
            <a:r>
              <a:rPr lang="en-US" dirty="0"/>
              <a:t>A) BIT(1)</a:t>
            </a:r>
            <a:br>
              <a:rPr lang="en-US" dirty="0"/>
            </a:br>
            <a:r>
              <a:rPr lang="en-US" dirty="0"/>
              <a:t>B) TINYINT(1)</a:t>
            </a:r>
            <a:br>
              <a:rPr lang="en-US" dirty="0"/>
            </a:br>
            <a:r>
              <a:rPr lang="en-US" dirty="0"/>
              <a:t>C) SMALLINT</a:t>
            </a:r>
            <a:br>
              <a:rPr lang="en-US" dirty="0"/>
            </a:br>
            <a:r>
              <a:rPr lang="en-US" dirty="0"/>
              <a:t>D) </a:t>
            </a:r>
            <a:r>
              <a:rPr lang="bg-BG" dirty="0"/>
              <a:t>Отделен тип</a:t>
            </a:r>
          </a:p>
          <a:p>
            <a:pPr marL="0" indent="0">
              <a:buNone/>
            </a:pPr>
            <a:r>
              <a:rPr lang="bg-BG" b="1" dirty="0"/>
              <a:t>11. Кой тип съхранява само година?</a:t>
            </a:r>
          </a:p>
          <a:p>
            <a:pPr marL="0" indent="0">
              <a:buNone/>
            </a:pPr>
            <a:r>
              <a:rPr lang="en-US" dirty="0"/>
              <a:t>A) DATE</a:t>
            </a:r>
            <a:br>
              <a:rPr lang="en-US" dirty="0"/>
            </a:br>
            <a:r>
              <a:rPr lang="en-US" dirty="0"/>
              <a:t>B) YEAR</a:t>
            </a:r>
            <a:br>
              <a:rPr lang="en-US" dirty="0"/>
            </a:br>
            <a:r>
              <a:rPr lang="en-US" dirty="0"/>
              <a:t>C) TIME</a:t>
            </a:r>
            <a:br>
              <a:rPr lang="en-US" dirty="0"/>
            </a:br>
            <a:r>
              <a:rPr lang="en-US" dirty="0"/>
              <a:t>D) TIMESTAMP</a:t>
            </a:r>
          </a:p>
          <a:p>
            <a:pPr marL="0" indent="0">
              <a:buNone/>
            </a:pPr>
            <a:r>
              <a:rPr lang="bg-BG" b="1" dirty="0"/>
              <a:t>12. </a:t>
            </a:r>
            <a:r>
              <a:rPr lang="en-US" b="1" dirty="0"/>
              <a:t>TIME </a:t>
            </a:r>
            <a:r>
              <a:rPr lang="bg-BG" b="1" dirty="0"/>
              <a:t>може да съхранява:</a:t>
            </a:r>
          </a:p>
          <a:p>
            <a:pPr marL="0" indent="0">
              <a:buNone/>
            </a:pPr>
            <a:r>
              <a:rPr lang="en-US" dirty="0"/>
              <a:t>A) </a:t>
            </a:r>
            <a:r>
              <a:rPr lang="bg-BG" dirty="0"/>
              <a:t>Само 00–23 часа</a:t>
            </a:r>
            <a:br>
              <a:rPr lang="bg-BG" dirty="0"/>
            </a:br>
            <a:r>
              <a:rPr lang="en-US" dirty="0"/>
              <a:t>B) </a:t>
            </a:r>
            <a:r>
              <a:rPr lang="bg-BG" dirty="0"/>
              <a:t>Само положителни стойности</a:t>
            </a:r>
            <a:br>
              <a:rPr lang="bg-BG" dirty="0"/>
            </a:br>
            <a:r>
              <a:rPr lang="en-US" dirty="0"/>
              <a:t>C) </a:t>
            </a:r>
            <a:r>
              <a:rPr lang="bg-BG" dirty="0"/>
              <a:t>Интервал над 24 часа</a:t>
            </a:r>
            <a:br>
              <a:rPr lang="bg-BG" dirty="0"/>
            </a:br>
            <a:r>
              <a:rPr lang="en-US" dirty="0"/>
              <a:t>D) </a:t>
            </a:r>
            <a:r>
              <a:rPr lang="bg-BG" dirty="0"/>
              <a:t>Само секунди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CCAD20-3DC2-9025-1D8A-72410116B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45754" y="1763363"/>
            <a:ext cx="4668383" cy="468581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bg-BG" b="1" dirty="0"/>
              <a:t>13. Кой тип е с фиксирана дължина?</a:t>
            </a:r>
          </a:p>
          <a:p>
            <a:pPr marL="0" indent="0">
              <a:buNone/>
            </a:pPr>
            <a:r>
              <a:rPr lang="en-US" dirty="0"/>
              <a:t>A) VARCHAR</a:t>
            </a:r>
            <a:br>
              <a:rPr lang="en-US" dirty="0"/>
            </a:br>
            <a:r>
              <a:rPr lang="en-US" dirty="0"/>
              <a:t>B) TEXT</a:t>
            </a:r>
            <a:br>
              <a:rPr lang="en-US" dirty="0"/>
            </a:br>
            <a:r>
              <a:rPr lang="en-US" dirty="0"/>
              <a:t>C) CHAR</a:t>
            </a:r>
            <a:br>
              <a:rPr lang="en-US" dirty="0"/>
            </a:br>
            <a:r>
              <a:rPr lang="en-US" dirty="0"/>
              <a:t>D) JSON</a:t>
            </a:r>
          </a:p>
          <a:p>
            <a:pPr marL="0" indent="0">
              <a:buNone/>
            </a:pPr>
            <a:r>
              <a:rPr lang="ru-RU" b="1" dirty="0"/>
              <a:t>14. Кой тип е най-подходящ за статус: „Нов“, „Обработен“, „Завършен“?</a:t>
            </a:r>
          </a:p>
          <a:p>
            <a:pPr marL="0" indent="0">
              <a:buNone/>
            </a:pPr>
            <a:r>
              <a:rPr lang="ru-RU" dirty="0"/>
              <a:t>A) VARCHAR(50)</a:t>
            </a:r>
            <a:br>
              <a:rPr lang="ru-RU" dirty="0"/>
            </a:br>
            <a:r>
              <a:rPr lang="ru-RU" dirty="0"/>
              <a:t>B) TEXT</a:t>
            </a:r>
            <a:br>
              <a:rPr lang="ru-RU" dirty="0"/>
            </a:br>
            <a:r>
              <a:rPr lang="ru-RU" dirty="0"/>
              <a:t>C) ENUM</a:t>
            </a:r>
            <a:br>
              <a:rPr lang="ru-RU" dirty="0"/>
            </a:br>
            <a:r>
              <a:rPr lang="ru-RU" dirty="0"/>
              <a:t>D) SET</a:t>
            </a:r>
          </a:p>
          <a:p>
            <a:pPr marL="0" indent="0">
              <a:buNone/>
            </a:pPr>
            <a:r>
              <a:rPr lang="ru-RU" b="1" dirty="0"/>
              <a:t>15. Кой тип позволява автоматично записване на текущото време?</a:t>
            </a:r>
          </a:p>
          <a:p>
            <a:pPr marL="0" indent="0">
              <a:buNone/>
            </a:pPr>
            <a:r>
              <a:rPr lang="ru-RU" dirty="0"/>
              <a:t>A) DATE</a:t>
            </a:r>
            <a:br>
              <a:rPr lang="ru-RU" dirty="0"/>
            </a:br>
            <a:r>
              <a:rPr lang="ru-RU" dirty="0"/>
              <a:t>B) TIME</a:t>
            </a:r>
            <a:br>
              <a:rPr lang="ru-RU" dirty="0"/>
            </a:br>
            <a:r>
              <a:rPr lang="ru-RU" dirty="0"/>
              <a:t>C) TIMESTAMP</a:t>
            </a:r>
            <a:br>
              <a:rPr lang="ru-RU" dirty="0"/>
            </a:br>
            <a:r>
              <a:rPr lang="ru-RU" dirty="0"/>
              <a:t>D) YEAR</a:t>
            </a:r>
          </a:p>
          <a:p>
            <a:pPr marL="0" indent="0">
              <a:buNone/>
            </a:pPr>
            <a:r>
              <a:rPr lang="bg-BG" b="1" dirty="0"/>
              <a:t>16. Кой тип има най-голям диапазон?</a:t>
            </a:r>
          </a:p>
          <a:p>
            <a:pPr marL="0" indent="0">
              <a:buNone/>
            </a:pPr>
            <a:r>
              <a:rPr lang="en-US" dirty="0"/>
              <a:t>A) INT</a:t>
            </a:r>
            <a:br>
              <a:rPr lang="en-US" dirty="0"/>
            </a:br>
            <a:r>
              <a:rPr lang="en-US" dirty="0"/>
              <a:t>B) SMALLINT</a:t>
            </a:r>
            <a:br>
              <a:rPr lang="en-US" dirty="0"/>
            </a:br>
            <a:r>
              <a:rPr lang="en-US" dirty="0"/>
              <a:t>C) BIGINT</a:t>
            </a:r>
            <a:br>
              <a:rPr lang="en-US" dirty="0"/>
            </a:br>
            <a:r>
              <a:rPr lang="en-US" dirty="0"/>
              <a:t>D) TINYINT</a:t>
            </a:r>
          </a:p>
        </p:txBody>
      </p:sp>
    </p:spTree>
    <p:extLst>
      <p:ext uri="{BB962C8B-B14F-4D97-AF65-F5344CB8AC3E}">
        <p14:creationId xmlns:p14="http://schemas.microsoft.com/office/powerpoint/2010/main" val="1273798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C1F63-82F9-2413-3708-A5F875DBF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/>
              <a:t>КЛЮЧ С ОТГОВОРИ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BCCE3-EC4A-A75F-6D15-1BBFB174A5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45745" y="2056190"/>
            <a:ext cx="4313864" cy="37776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bg-BG" dirty="0"/>
              <a:t>	</a:t>
            </a:r>
            <a:r>
              <a:rPr lang="bg-BG" b="1" dirty="0"/>
              <a:t>1 – </a:t>
            </a:r>
            <a:r>
              <a:rPr lang="en-US" b="1" dirty="0"/>
              <a:t>C</a:t>
            </a:r>
            <a:r>
              <a:rPr lang="bg-BG" b="1" dirty="0"/>
              <a:t> </a:t>
            </a:r>
          </a:p>
          <a:p>
            <a:pPr marL="0" indent="0">
              <a:buNone/>
            </a:pPr>
            <a:r>
              <a:rPr lang="bg-BG" b="1" dirty="0"/>
              <a:t>	2 – </a:t>
            </a:r>
            <a:r>
              <a:rPr lang="en-US" b="1" dirty="0"/>
              <a:t>C</a:t>
            </a:r>
            <a:r>
              <a:rPr lang="bg-BG" b="1" dirty="0"/>
              <a:t> </a:t>
            </a:r>
          </a:p>
          <a:p>
            <a:pPr marL="0" indent="0">
              <a:buNone/>
            </a:pPr>
            <a:r>
              <a:rPr lang="bg-BG" b="1" dirty="0"/>
              <a:t>	3 – </a:t>
            </a:r>
            <a:r>
              <a:rPr lang="en-US" b="1" dirty="0"/>
              <a:t>B</a:t>
            </a:r>
            <a:r>
              <a:rPr lang="bg-BG" b="1" dirty="0"/>
              <a:t> </a:t>
            </a:r>
          </a:p>
          <a:p>
            <a:pPr marL="0" indent="0">
              <a:buNone/>
            </a:pPr>
            <a:r>
              <a:rPr lang="bg-BG" b="1" dirty="0"/>
              <a:t>	4 – </a:t>
            </a:r>
            <a:r>
              <a:rPr lang="en-US" b="1" dirty="0"/>
              <a:t>C</a:t>
            </a:r>
            <a:endParaRPr lang="bg-BG" b="1" dirty="0"/>
          </a:p>
          <a:p>
            <a:pPr marL="0" indent="0">
              <a:buNone/>
            </a:pPr>
            <a:r>
              <a:rPr lang="bg-BG" b="1" dirty="0"/>
              <a:t>	5 – </a:t>
            </a:r>
            <a:r>
              <a:rPr lang="en-US" b="1" dirty="0"/>
              <a:t>B</a:t>
            </a:r>
            <a:r>
              <a:rPr lang="bg-BG" b="1" dirty="0"/>
              <a:t> </a:t>
            </a:r>
          </a:p>
          <a:p>
            <a:pPr marL="0" indent="0">
              <a:buNone/>
            </a:pPr>
            <a:r>
              <a:rPr lang="bg-BG" b="1" dirty="0"/>
              <a:t>	6 – </a:t>
            </a:r>
            <a:r>
              <a:rPr lang="en-US" b="1" dirty="0"/>
              <a:t>C</a:t>
            </a:r>
            <a:endParaRPr lang="bg-BG" b="1" dirty="0"/>
          </a:p>
          <a:p>
            <a:pPr marL="0" indent="0">
              <a:buNone/>
            </a:pPr>
            <a:r>
              <a:rPr lang="bg-BG" b="1" dirty="0"/>
              <a:t>	7 – </a:t>
            </a:r>
            <a:r>
              <a:rPr lang="en-US" b="1" dirty="0"/>
              <a:t>C</a:t>
            </a:r>
            <a:r>
              <a:rPr lang="bg-BG" b="1" dirty="0"/>
              <a:t> </a:t>
            </a:r>
          </a:p>
          <a:p>
            <a:pPr marL="0" indent="0">
              <a:buNone/>
            </a:pPr>
            <a:r>
              <a:rPr lang="bg-BG" b="1" dirty="0"/>
              <a:t>	8 – </a:t>
            </a:r>
            <a:r>
              <a:rPr lang="en-US" b="1" dirty="0"/>
              <a:t>C</a:t>
            </a:r>
            <a:r>
              <a:rPr lang="bg-BG" b="1" dirty="0"/>
              <a:t> </a:t>
            </a:r>
          </a:p>
          <a:p>
            <a:pPr marL="0" indent="0">
              <a:buNone/>
            </a:pPr>
            <a:r>
              <a:rPr lang="bg-BG" dirty="0"/>
              <a:t>	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CA6E6-1BC3-90E3-EF80-3F96940C96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69909" y="2056190"/>
            <a:ext cx="4313864" cy="37776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bg-BG" b="1" dirty="0"/>
              <a:t>	9 – </a:t>
            </a:r>
            <a:r>
              <a:rPr lang="en-US" b="1" dirty="0"/>
              <a:t>C</a:t>
            </a:r>
            <a:endParaRPr lang="bg-BG" b="1" dirty="0"/>
          </a:p>
          <a:p>
            <a:pPr marL="0" indent="0">
              <a:buNone/>
            </a:pPr>
            <a:r>
              <a:rPr lang="bg-BG" b="1" dirty="0"/>
              <a:t>	10 – </a:t>
            </a:r>
            <a:r>
              <a:rPr lang="en-US" b="1" dirty="0"/>
              <a:t>B</a:t>
            </a:r>
            <a:endParaRPr lang="bg-BG" b="1" dirty="0"/>
          </a:p>
          <a:p>
            <a:pPr marL="0" indent="0">
              <a:buNone/>
            </a:pPr>
            <a:r>
              <a:rPr lang="bg-BG" b="1" dirty="0"/>
              <a:t>	11 – </a:t>
            </a:r>
            <a:r>
              <a:rPr lang="en-US" b="1" dirty="0"/>
              <a:t>B</a:t>
            </a:r>
            <a:endParaRPr lang="bg-BG" b="1" dirty="0"/>
          </a:p>
          <a:p>
            <a:pPr marL="0" indent="0">
              <a:buNone/>
            </a:pPr>
            <a:r>
              <a:rPr lang="bg-BG" b="1" dirty="0"/>
              <a:t>	12 – </a:t>
            </a:r>
            <a:r>
              <a:rPr lang="en-US" b="1" dirty="0"/>
              <a:t>C</a:t>
            </a:r>
            <a:endParaRPr lang="bg-BG" b="1" dirty="0"/>
          </a:p>
          <a:p>
            <a:pPr marL="0" indent="0">
              <a:buNone/>
            </a:pPr>
            <a:r>
              <a:rPr lang="bg-BG" b="1" dirty="0"/>
              <a:t>	13 – </a:t>
            </a:r>
            <a:r>
              <a:rPr lang="en-US" b="1" dirty="0"/>
              <a:t>C</a:t>
            </a:r>
            <a:endParaRPr lang="bg-BG" b="1" dirty="0"/>
          </a:p>
          <a:p>
            <a:pPr marL="0" indent="0">
              <a:buNone/>
            </a:pPr>
            <a:r>
              <a:rPr lang="bg-BG" b="1" dirty="0"/>
              <a:t>	14 – </a:t>
            </a:r>
            <a:r>
              <a:rPr lang="en-US" b="1" dirty="0"/>
              <a:t>C</a:t>
            </a:r>
            <a:r>
              <a:rPr lang="bg-BG" b="1"/>
              <a:t> </a:t>
            </a:r>
            <a:endParaRPr lang="bg-BG" b="1" dirty="0"/>
          </a:p>
          <a:p>
            <a:pPr marL="0" indent="0">
              <a:buNone/>
            </a:pPr>
            <a:r>
              <a:rPr lang="bg-BG" b="1" dirty="0"/>
              <a:t>	15 – </a:t>
            </a:r>
            <a:r>
              <a:rPr lang="en-US" b="1" dirty="0"/>
              <a:t>C</a:t>
            </a:r>
            <a:endParaRPr lang="bg-BG" b="1" dirty="0"/>
          </a:p>
          <a:p>
            <a:pPr marL="0" indent="0">
              <a:buNone/>
            </a:pPr>
            <a:r>
              <a:rPr lang="bg-BG" b="1" dirty="0"/>
              <a:t>	16 – </a:t>
            </a:r>
            <a:r>
              <a:rPr lang="en-US" b="1" dirty="0"/>
              <a:t>C</a:t>
            </a:r>
            <a:r>
              <a:rPr lang="bg-BG" b="1" dirty="0"/>
              <a:t>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633889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962AB-5073-BB22-0845-D1E811CF9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009" y="1906209"/>
            <a:ext cx="9859659" cy="3117040"/>
          </a:xfrm>
        </p:spPr>
        <p:txBody>
          <a:bodyPr/>
          <a:lstStyle/>
          <a:p>
            <a:r>
              <a:rPr lang="bg-BG" b="1" dirty="0"/>
              <a:t>БЛАГОДАРЯ ЗА ВНИМАНИЕТО!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6754734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3699</TotalTime>
  <Words>2176</Words>
  <Application>Microsoft Office PowerPoint</Application>
  <PresentationFormat>Widescreen</PresentationFormat>
  <Paragraphs>415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Century Gothic</vt:lpstr>
      <vt:lpstr>Wingdings</vt:lpstr>
      <vt:lpstr>Wingdings 3</vt:lpstr>
      <vt:lpstr>Wisp</vt:lpstr>
      <vt:lpstr>Типове данни в MySQL: основи и класификация</vt:lpstr>
      <vt:lpstr>План на лекцията</vt:lpstr>
      <vt:lpstr>Таблица </vt:lpstr>
      <vt:lpstr>Какво са типове данни в базите данни</vt:lpstr>
      <vt:lpstr>Пример </vt:lpstr>
      <vt:lpstr>Тип данни = контейнер</vt:lpstr>
      <vt:lpstr>Защо типовете данни са важни </vt:lpstr>
      <vt:lpstr>Основни принципи при избора на тип </vt:lpstr>
      <vt:lpstr>Класификация на типовете данни в MySQL </vt:lpstr>
      <vt:lpstr>Изберете тип за: </vt:lpstr>
      <vt:lpstr>Грешен избор на тип данни —  кога става проблем?</vt:lpstr>
      <vt:lpstr>Типовете данни са основа на: </vt:lpstr>
      <vt:lpstr>Числови типове (Numeric Types)</vt:lpstr>
      <vt:lpstr>Целочислени типове в MySQL</vt:lpstr>
      <vt:lpstr>Пример</vt:lpstr>
      <vt:lpstr>PowerPoint Presentation</vt:lpstr>
      <vt:lpstr>Булев тип (BOOLEAN/ BOOL)</vt:lpstr>
      <vt:lpstr>Кой тип е най-подходящ?</vt:lpstr>
      <vt:lpstr>Дробни числови типове в MySQL</vt:lpstr>
      <vt:lpstr>DECIMAL</vt:lpstr>
      <vt:lpstr>Пример за декларация</vt:lpstr>
      <vt:lpstr>Кой тип е най-подходящ?</vt:lpstr>
      <vt:lpstr>Текстови типове</vt:lpstr>
      <vt:lpstr>Основни TEXT типове</vt:lpstr>
      <vt:lpstr>Пример </vt:lpstr>
      <vt:lpstr>ENUM</vt:lpstr>
      <vt:lpstr>SET</vt:lpstr>
      <vt:lpstr>Бинарни типове в MySQL</vt:lpstr>
      <vt:lpstr>Малки и фиксирани</vt:lpstr>
      <vt:lpstr>Големи файлове (BLOB)</vt:lpstr>
      <vt:lpstr>Пример: </vt:lpstr>
      <vt:lpstr>Типове за дата и време в MySQL</vt:lpstr>
      <vt:lpstr>DATE</vt:lpstr>
      <vt:lpstr>TIME </vt:lpstr>
      <vt:lpstr>DATETIME</vt:lpstr>
      <vt:lpstr>TIMESTAMP</vt:lpstr>
      <vt:lpstr>YEAR</vt:lpstr>
      <vt:lpstr>ТЕСТ</vt:lpstr>
      <vt:lpstr>ТЕСТ</vt:lpstr>
      <vt:lpstr>КЛЮЧ С ОТГОВОРИ</vt:lpstr>
      <vt:lpstr>БЛАГОДАРЯ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Лилия Андонова</dc:creator>
  <cp:lastModifiedBy>Лилия Андонова</cp:lastModifiedBy>
  <cp:revision>11</cp:revision>
  <dcterms:created xsi:type="dcterms:W3CDTF">2026-02-22T07:43:43Z</dcterms:created>
  <dcterms:modified xsi:type="dcterms:W3CDTF">2026-02-24T21:24:31Z</dcterms:modified>
</cp:coreProperties>
</file>