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2" r:id="rId8"/>
    <p:sldId id="264" r:id="rId9"/>
    <p:sldId id="275" r:id="rId10"/>
    <p:sldId id="273" r:id="rId11"/>
    <p:sldId id="274" r:id="rId12"/>
    <p:sldId id="276" r:id="rId13"/>
    <p:sldId id="277" r:id="rId14"/>
    <p:sldId id="278" r:id="rId15"/>
    <p:sldId id="279" r:id="rId16"/>
    <p:sldId id="280" r:id="rId17"/>
    <p:sldId id="281" r:id="rId18"/>
    <p:sldId id="266" r:id="rId19"/>
    <p:sldId id="267" r:id="rId20"/>
    <p:sldId id="268" r:id="rId21"/>
    <p:sldId id="270" r:id="rId22"/>
    <p:sldId id="269" r:id="rId23"/>
    <p:sldId id="271" r:id="rId24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7559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3092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40516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870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7307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4876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14402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2378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2643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3389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9814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F674F-61C7-4F37-BE78-5FABDA91547E}" type="datetimeFigureOut">
              <a:rPr lang="bg-BG" smtClean="0"/>
              <a:t>15.03.2026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F655D-8F3F-4E7D-A108-C82713EAED8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148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err="1" smtClean="0"/>
              <a:t>Многотабличен</a:t>
            </a:r>
            <a:r>
              <a:rPr lang="bg-BG" dirty="0" smtClean="0"/>
              <a:t> </a:t>
            </a:r>
            <a:r>
              <a:rPr lang="en-US" dirty="0" smtClean="0"/>
              <a:t>SELECT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3304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579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Какво ще се получи, ако искаме да извлечем резултати от повече от една таблица?</a:t>
            </a:r>
            <a:r>
              <a:rPr lang="en-US" sz="2800" dirty="0" smtClean="0"/>
              <a:t> </a:t>
            </a:r>
            <a:r>
              <a:rPr lang="bg-BG" sz="2800" dirty="0" smtClean="0"/>
              <a:t>Използваме </a:t>
            </a:r>
            <a:r>
              <a:rPr lang="en-US" sz="2800" dirty="0" smtClean="0"/>
              <a:t>JOIN </a:t>
            </a:r>
            <a:r>
              <a:rPr lang="bg-BG" sz="2800" dirty="0" smtClean="0"/>
              <a:t>и</a:t>
            </a:r>
            <a:r>
              <a:rPr lang="en-US" sz="2800" dirty="0" smtClean="0"/>
              <a:t> </a:t>
            </a:r>
            <a:r>
              <a:rPr lang="bg-BG" sz="2800" dirty="0" smtClean="0"/>
              <a:t>вложен </a:t>
            </a:r>
            <a:r>
              <a:rPr lang="en-US" sz="2800" dirty="0" smtClean="0"/>
              <a:t>SELECT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929" y="1351721"/>
            <a:ext cx="10515600" cy="4931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/>
              <a:t>Видове </a:t>
            </a:r>
            <a:r>
              <a:rPr lang="en-US" sz="2400" dirty="0" smtClean="0"/>
              <a:t>JOIN:</a:t>
            </a:r>
          </a:p>
          <a:p>
            <a:pPr marL="0" indent="0">
              <a:buNone/>
            </a:pPr>
            <a:r>
              <a:rPr lang="en-US" sz="2400" dirty="0" smtClean="0"/>
              <a:t>- </a:t>
            </a:r>
            <a:r>
              <a:rPr lang="bg-BG" sz="2400" dirty="0" smtClean="0"/>
              <a:t>Вътрешно свързване </a:t>
            </a:r>
            <a:r>
              <a:rPr lang="en-US" sz="2400" dirty="0" smtClean="0"/>
              <a:t>INNER JOIN- </a:t>
            </a:r>
            <a:r>
              <a:rPr lang="ru-RU" sz="2400" dirty="0"/>
              <a:t>Такова съединение между две релации, при което се получава резултатна таблица, съставена от колони от двете, базирана на свързващо условие. Заявката сравнява всеки ред от първата с всеки ред от втората за да открие всички двойки, които отговарят на свързващото условие</a:t>
            </a:r>
            <a:endParaRPr lang="bg-BG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29" y="3171099"/>
            <a:ext cx="2876550" cy="17430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8870" y="4914174"/>
            <a:ext cx="104196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0" i="0" dirty="0" smtClean="0">
                <a:solidFill>
                  <a:srgbClr val="2B2B2B"/>
                </a:solidFill>
                <a:effectLst/>
              </a:rPr>
              <a:t>Ако свързващото условие не е изпълнено, то реда не се добавя в резултатното съединение.</a:t>
            </a:r>
            <a:r>
              <a:rPr lang="ru-RU" b="0" i="0" dirty="0" smtClean="0">
                <a:solidFill>
                  <a:srgbClr val="2B2B2B"/>
                </a:solidFill>
                <a:effectLst/>
                <a:latin typeface="Lato"/>
              </a:rPr>
              <a:t>. 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5448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284"/>
          </a:xfrm>
        </p:spPr>
        <p:txBody>
          <a:bodyPr>
            <a:normAutofit/>
          </a:bodyPr>
          <a:lstStyle/>
          <a:p>
            <a:r>
              <a:rPr lang="bg-BG" sz="2800" dirty="0" smtClean="0"/>
              <a:t>Синтаксис на заявката: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3184"/>
            <a:ext cx="10515600" cy="5063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SELECT </a:t>
            </a:r>
            <a:r>
              <a:rPr lang="bg-BG" b="1" dirty="0"/>
              <a:t> </a:t>
            </a:r>
            <a:r>
              <a:rPr lang="bg-BG" b="1" dirty="0" smtClean="0"/>
              <a:t>табл1. колона1, табл1. колона2,</a:t>
            </a:r>
          </a:p>
          <a:p>
            <a:pPr marL="0" indent="0">
              <a:buNone/>
            </a:pPr>
            <a:r>
              <a:rPr lang="bg-BG" b="1" dirty="0" smtClean="0"/>
              <a:t>табл2.колона1, табл2.колона2</a:t>
            </a:r>
          </a:p>
          <a:p>
            <a:pPr marL="0" indent="0">
              <a:buNone/>
            </a:pPr>
            <a:r>
              <a:rPr lang="en-US" b="1" dirty="0" smtClean="0"/>
              <a:t>FROM </a:t>
            </a:r>
            <a:r>
              <a:rPr lang="bg-BG" b="1" dirty="0" smtClean="0"/>
              <a:t>табл1 </a:t>
            </a:r>
            <a:r>
              <a:rPr lang="en-US" b="1" dirty="0" smtClean="0"/>
              <a:t>JOIN </a:t>
            </a:r>
            <a:r>
              <a:rPr lang="bg-BG" b="1" dirty="0" smtClean="0"/>
              <a:t>табл2</a:t>
            </a:r>
          </a:p>
          <a:p>
            <a:pPr marL="0" indent="0">
              <a:buNone/>
            </a:pPr>
            <a:r>
              <a:rPr lang="en-US" b="1" dirty="0" smtClean="0"/>
              <a:t>ON </a:t>
            </a:r>
            <a:r>
              <a:rPr lang="bg-BG" b="1" dirty="0" smtClean="0"/>
              <a:t>свързващо условие</a:t>
            </a:r>
          </a:p>
          <a:p>
            <a:pPr marL="0" indent="0">
              <a:buNone/>
            </a:pPr>
            <a:r>
              <a:rPr lang="en-US" b="1" dirty="0" smtClean="0"/>
              <a:t>WHERE </a:t>
            </a:r>
            <a:r>
              <a:rPr lang="bg-BG" b="1" dirty="0" smtClean="0"/>
              <a:t>ограничаващо условие</a:t>
            </a:r>
            <a:r>
              <a:rPr lang="bg-BG" dirty="0" smtClean="0"/>
              <a:t>;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ru-RU" dirty="0"/>
              <a:t>Условието в </a:t>
            </a:r>
            <a:r>
              <a:rPr lang="ru-RU" b="1" dirty="0"/>
              <a:t>ON</a:t>
            </a:r>
            <a:r>
              <a:rPr lang="ru-RU" dirty="0"/>
              <a:t> ще наричаме свързващо. То трябва да е изпълнено и за двете таблици.</a:t>
            </a:r>
            <a:endParaRPr lang="bg-BG" dirty="0" smtClean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8372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7813"/>
          </a:xfrm>
        </p:spPr>
        <p:txBody>
          <a:bodyPr>
            <a:normAutofit fontScale="90000"/>
          </a:bodyPr>
          <a:lstStyle/>
          <a:p>
            <a:r>
              <a:rPr lang="bg-BG" sz="2800" b="1" dirty="0" smtClean="0"/>
              <a:t>Пример</a:t>
            </a:r>
            <a:r>
              <a:rPr lang="en-US" sz="2800" b="1" dirty="0" smtClean="0"/>
              <a:t>1</a:t>
            </a:r>
            <a:r>
              <a:rPr lang="bg-BG" sz="2800" b="1" dirty="0" smtClean="0"/>
              <a:t>:</a:t>
            </a:r>
            <a:r>
              <a:rPr lang="bg-BG" sz="2800" dirty="0" smtClean="0"/>
              <a:t> </a:t>
            </a:r>
            <a:r>
              <a:rPr lang="bg-BG" sz="3100" dirty="0" smtClean="0"/>
              <a:t>Информация за всички групи(местоположение, дни от седмицата и време на тренировка ) и името на спорта  </a:t>
            </a:r>
            <a:endParaRPr lang="bg-BG" sz="3100" dirty="0"/>
          </a:p>
        </p:txBody>
      </p:sp>
      <p:sp>
        <p:nvSpPr>
          <p:cNvPr id="8" name="Rectangle 7"/>
          <p:cNvSpPr/>
          <p:nvPr/>
        </p:nvSpPr>
        <p:spPr>
          <a:xfrm>
            <a:off x="980661" y="5719793"/>
            <a:ext cx="105089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0" i="0" dirty="0" smtClean="0">
                <a:solidFill>
                  <a:srgbClr val="2B2B2B"/>
                </a:solidFill>
                <a:effectLst/>
              </a:rPr>
              <a:t>Използваме оператор IN () – аналогично на =, но за множество от стойности</a:t>
            </a:r>
            <a:endParaRPr lang="bg-BG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sportgroups.location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sportgroups.dayOfWeek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sportgroups.hourOfTraining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smtClean="0"/>
              <a:t>sports.name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sportgroups</a:t>
            </a:r>
            <a:r>
              <a:rPr lang="en-US" dirty="0"/>
              <a:t> JOIN sports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sportgroups.sport_id</a:t>
            </a:r>
            <a:r>
              <a:rPr lang="en-US" dirty="0"/>
              <a:t> = sports.id;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3146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rmAutofit/>
          </a:bodyPr>
          <a:lstStyle/>
          <a:p>
            <a:r>
              <a:rPr lang="bg-BG" sz="2500" dirty="0" smtClean="0"/>
              <a:t>Резултат:</a:t>
            </a:r>
            <a:endParaRPr lang="bg-BG" sz="2500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10158" r="25460"/>
          <a:stretch/>
        </p:blipFill>
        <p:spPr bwMode="auto">
          <a:xfrm>
            <a:off x="1245704" y="1007165"/>
            <a:ext cx="8229600" cy="51697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3832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</p:spPr>
        <p:txBody>
          <a:bodyPr>
            <a:normAutofit fontScale="90000"/>
          </a:bodyPr>
          <a:lstStyle/>
          <a:p>
            <a:r>
              <a:rPr lang="bg-BG" sz="2500" b="1" dirty="0" smtClean="0"/>
              <a:t>Пример 2 : </a:t>
            </a:r>
            <a:r>
              <a:rPr lang="ru-RU" sz="2800" dirty="0"/>
              <a:t> </a:t>
            </a:r>
            <a:r>
              <a:rPr lang="ru-RU" sz="2800" dirty="0" smtClean="0"/>
              <a:t>Да се изведат всички </a:t>
            </a:r>
            <a:r>
              <a:rPr lang="ru-RU" sz="2800" dirty="0"/>
              <a:t>треньори заедно със спортовете, на които те тренират </a:t>
            </a:r>
            <a:r>
              <a:rPr lang="ru-RU" sz="2800" dirty="0" smtClean="0"/>
              <a:t>учениците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1964"/>
            <a:ext cx="10515600" cy="54894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Двете таблици </a:t>
            </a:r>
            <a:r>
              <a:rPr lang="en-US" sz="2400" dirty="0" smtClean="0"/>
              <a:t>coaches</a:t>
            </a:r>
            <a:r>
              <a:rPr lang="ru-RU" sz="2400" dirty="0" smtClean="0"/>
              <a:t> </a:t>
            </a:r>
            <a:r>
              <a:rPr lang="ru-RU" sz="2400" dirty="0"/>
              <a:t>и </a:t>
            </a:r>
            <a:r>
              <a:rPr lang="en-US" sz="2400" dirty="0" smtClean="0"/>
              <a:t>sports</a:t>
            </a:r>
            <a:r>
              <a:rPr lang="ru-RU" sz="2400" dirty="0" smtClean="0"/>
              <a:t> </a:t>
            </a:r>
            <a:r>
              <a:rPr lang="ru-RU" sz="2400" dirty="0"/>
              <a:t>обаче не са свързани директно, а са свързани посредством трета таблица – sportGroups – в нея присъства </a:t>
            </a:r>
            <a:r>
              <a:rPr lang="en-US" sz="2400" dirty="0" smtClean="0"/>
              <a:t>coach_</a:t>
            </a:r>
            <a:r>
              <a:rPr lang="ru-RU" sz="2400" dirty="0" smtClean="0"/>
              <a:t>id и </a:t>
            </a:r>
            <a:r>
              <a:rPr lang="en-US" sz="2400" dirty="0" smtClean="0"/>
              <a:t>sport_</a:t>
            </a:r>
            <a:r>
              <a:rPr lang="ru-RU" sz="2400" dirty="0" smtClean="0"/>
              <a:t>id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bg-BG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-12961" t="-4822" r="-7454" b="-6585"/>
          <a:stretch/>
        </p:blipFill>
        <p:spPr>
          <a:xfrm>
            <a:off x="1497330" y="2205990"/>
            <a:ext cx="6938010" cy="367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6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6510"/>
          </a:xfrm>
        </p:spPr>
        <p:txBody>
          <a:bodyPr>
            <a:normAutofit/>
          </a:bodyPr>
          <a:lstStyle/>
          <a:p>
            <a:r>
              <a:rPr lang="bg-BG" sz="2500" dirty="0" smtClean="0"/>
              <a:t>Резултат:</a:t>
            </a:r>
            <a:endParaRPr lang="bg-BG" sz="25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139686"/>
            <a:ext cx="10515600" cy="5393635"/>
          </a:xfrm>
        </p:spPr>
        <p:txBody>
          <a:bodyPr/>
          <a:lstStyle/>
          <a:p>
            <a:endParaRPr lang="bg-BG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12192" r="19238"/>
          <a:stretch/>
        </p:blipFill>
        <p:spPr bwMode="auto">
          <a:xfrm>
            <a:off x="2146299" y="1139687"/>
            <a:ext cx="7103717" cy="52213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0418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/>
          </a:bodyPr>
          <a:lstStyle/>
          <a:p>
            <a:r>
              <a:rPr lang="bg-BG" sz="2500" dirty="0" smtClean="0"/>
              <a:t>Вложен </a:t>
            </a:r>
            <a:r>
              <a:rPr lang="en-US" sz="2500" dirty="0" smtClean="0"/>
              <a:t>SELECT: </a:t>
            </a:r>
            <a:endParaRPr lang="bg-BG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1392"/>
            <a:ext cx="10757452" cy="34114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При таблици между които няма пряка връзка се налага да се „минава“ през една или друга таблица за да се стигне до </a:t>
            </a:r>
            <a:r>
              <a:rPr lang="ru-RU" sz="2000" dirty="0" smtClean="0"/>
              <a:t>трета</a:t>
            </a:r>
            <a:r>
              <a:rPr lang="en-US" sz="2000" dirty="0" smtClean="0"/>
              <a:t> , </a:t>
            </a:r>
            <a:r>
              <a:rPr lang="bg-BG" sz="2000" dirty="0" smtClean="0"/>
              <a:t>с из</a:t>
            </a:r>
            <a:r>
              <a:rPr lang="ru-RU" sz="2000" dirty="0" smtClean="0"/>
              <a:t>ползване </a:t>
            </a:r>
            <a:r>
              <a:rPr lang="ru-RU" sz="2000" dirty="0"/>
              <a:t>още един SELECT – </a:t>
            </a:r>
            <a:r>
              <a:rPr lang="ru-RU" sz="2000" dirty="0" smtClean="0"/>
              <a:t>него </a:t>
            </a:r>
            <a:r>
              <a:rPr lang="ru-RU" sz="2000" dirty="0"/>
              <a:t>ще наричаме вложен </a:t>
            </a:r>
            <a:r>
              <a:rPr lang="ru-RU" sz="2000" dirty="0" smtClean="0"/>
              <a:t>селект; търсим треньорите и спортовете, но ще ограничим </a:t>
            </a:r>
            <a:r>
              <a:rPr lang="ru-RU" sz="2000" dirty="0"/>
              <a:t>нашето търсене само за треньор с id 1- тоест </a:t>
            </a:r>
            <a:r>
              <a:rPr lang="ru-RU" sz="2000" dirty="0" smtClean="0"/>
              <a:t>като искаме </a:t>
            </a:r>
            <a:r>
              <a:rPr lang="ru-RU" sz="2000" dirty="0"/>
              <a:t>да разберем по какво е треньор </a:t>
            </a:r>
            <a:r>
              <a:rPr lang="ru-RU" sz="2000" dirty="0" smtClean="0"/>
              <a:t>той.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bg-BG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17" y="2090656"/>
            <a:ext cx="5761815" cy="33923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8200" y="548295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ru-RU" b="0" i="0" dirty="0" smtClean="0">
                <a:solidFill>
                  <a:srgbClr val="2B2B2B"/>
                </a:solidFill>
                <a:effectLst/>
                <a:latin typeface="Lato"/>
              </a:rPr>
              <a:t>Имаме две условия: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2B2B2B"/>
                </a:solidFill>
                <a:effectLst/>
                <a:latin typeface="inherit"/>
              </a:rPr>
              <a:t>ON – свързващо</a:t>
            </a:r>
            <a:endParaRPr lang="ru-RU" b="0" i="0" dirty="0" smtClean="0">
              <a:solidFill>
                <a:srgbClr val="2B2B2B"/>
              </a:solidFill>
              <a:effectLst/>
              <a:latin typeface="inherit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2B2B2B"/>
                </a:solidFill>
                <a:effectLst/>
                <a:latin typeface="inherit"/>
              </a:rPr>
              <a:t>WHERE – ограничаващо</a:t>
            </a:r>
            <a:endParaRPr lang="ru-RU" b="0" i="0" dirty="0">
              <a:solidFill>
                <a:srgbClr val="2B2B2B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94909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0218"/>
          </a:xfrm>
        </p:spPr>
        <p:txBody>
          <a:bodyPr>
            <a:normAutofit fontScale="90000"/>
          </a:bodyPr>
          <a:lstStyle/>
          <a:p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6376"/>
            <a:ext cx="8606333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4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39"/>
          </a:xfrm>
        </p:spPr>
        <p:txBody>
          <a:bodyPr>
            <a:normAutofit/>
          </a:bodyPr>
          <a:lstStyle/>
          <a:p>
            <a:r>
              <a:rPr lang="ru-RU" sz="2800" dirty="0"/>
              <a:t>Как да избегнем вложения </a:t>
            </a:r>
            <a:r>
              <a:rPr lang="en-US" sz="2800" dirty="0" smtClean="0"/>
              <a:t>SELECT</a:t>
            </a:r>
            <a:r>
              <a:rPr lang="ru-RU" sz="2800" dirty="0" smtClean="0"/>
              <a:t>?</a:t>
            </a:r>
            <a:endParaRPr lang="bg-BG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7481"/>
            <a:ext cx="10707806" cy="48394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С </a:t>
            </a:r>
            <a:r>
              <a:rPr lang="ru-RU" dirty="0"/>
              <a:t>JOIN  на трите таблици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SELECT </a:t>
            </a:r>
            <a:r>
              <a:rPr lang="en-US" dirty="0"/>
              <a:t>DISTINCT </a:t>
            </a:r>
            <a:r>
              <a:rPr lang="en-US" dirty="0" err="1"/>
              <a:t>coaches.name,sports.name</a:t>
            </a:r>
            <a:endParaRPr lang="en-US" dirty="0"/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from </a:t>
            </a:r>
            <a:r>
              <a:rPr lang="en-US" dirty="0"/>
              <a:t>coaches JOIN </a:t>
            </a:r>
            <a:r>
              <a:rPr lang="en-US" dirty="0" err="1"/>
              <a:t>sportgroups</a:t>
            </a:r>
            <a:endParaRPr lang="en-US" dirty="0"/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ON </a:t>
            </a:r>
            <a:r>
              <a:rPr lang="en-US" dirty="0"/>
              <a:t>coaches.id = </a:t>
            </a:r>
            <a:r>
              <a:rPr lang="en-US" dirty="0" err="1"/>
              <a:t>sportgroups.coach_id</a:t>
            </a:r>
            <a:endParaRPr lang="en-US" dirty="0"/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JOIN </a:t>
            </a:r>
            <a:r>
              <a:rPr lang="en-US" dirty="0"/>
              <a:t>sports</a:t>
            </a:r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ON </a:t>
            </a:r>
            <a:r>
              <a:rPr lang="en-US" dirty="0" err="1"/>
              <a:t>sportgroups.sport_id</a:t>
            </a:r>
            <a:r>
              <a:rPr lang="en-US" dirty="0"/>
              <a:t> = sports.id</a:t>
            </a:r>
            <a:r>
              <a:rPr lang="en-US" dirty="0" smtClean="0"/>
              <a:t>;</a:t>
            </a:r>
            <a:endParaRPr lang="bg-BG" dirty="0" smtClean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ru-RU" dirty="0" smtClean="0"/>
              <a:t>Добавяме </a:t>
            </a:r>
            <a:r>
              <a:rPr lang="ru-RU" dirty="0"/>
              <a:t>DISTINCT – което означава „без повторение“, тъй като в резултат на JOIN ще се проверява всеки ред с всеки ред, където е изпълнено условието в ON, и ще ни повтори треньорите, в случай че ги има повече от 1 път</a:t>
            </a:r>
            <a:r>
              <a:rPr lang="ru-RU" dirty="0" smtClean="0"/>
              <a:t>. </a:t>
            </a:r>
            <a:r>
              <a:rPr lang="ru-RU" dirty="0"/>
              <a:t>Резултатът ще бъде същият.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9092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514"/>
          </a:xfrm>
        </p:spPr>
        <p:txBody>
          <a:bodyPr>
            <a:normAutofit fontScale="90000"/>
          </a:bodyPr>
          <a:lstStyle/>
          <a:p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2072" y="1350963"/>
            <a:ext cx="8995800" cy="505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4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3866"/>
          </a:xfrm>
        </p:spPr>
        <p:txBody>
          <a:bodyPr>
            <a:normAutofit fontScale="90000"/>
          </a:bodyPr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9242"/>
            <a:ext cx="10515600" cy="4907721"/>
          </a:xfrm>
        </p:spPr>
        <p:txBody>
          <a:bodyPr/>
          <a:lstStyle/>
          <a:p>
            <a:pPr marL="0" indent="0">
              <a:buNone/>
            </a:pPr>
            <a:r>
              <a:rPr lang="bg-BG" dirty="0" smtClean="0"/>
              <a:t>Какво се случва?</a:t>
            </a:r>
          </a:p>
          <a:p>
            <a:pPr fontAlgn="base"/>
            <a:r>
              <a:rPr lang="bg-BG" dirty="0"/>
              <a:t>Към таблицата </a:t>
            </a:r>
            <a:r>
              <a:rPr lang="en-US" i="1" dirty="0"/>
              <a:t>coaches</a:t>
            </a:r>
            <a:r>
              <a:rPr lang="en-US" dirty="0"/>
              <a:t> </a:t>
            </a:r>
            <a:r>
              <a:rPr lang="bg-BG" dirty="0"/>
              <a:t>се добавя таблица </a:t>
            </a:r>
            <a:r>
              <a:rPr lang="en-US" i="1" dirty="0" err="1"/>
              <a:t>sportGroups</a:t>
            </a:r>
            <a:r>
              <a:rPr lang="en-US" dirty="0"/>
              <a:t> </a:t>
            </a:r>
            <a:r>
              <a:rPr lang="bg-BG" dirty="0"/>
              <a:t>на базата на </a:t>
            </a:r>
            <a:r>
              <a:rPr lang="en-US" dirty="0"/>
              <a:t>ON </a:t>
            </a:r>
            <a:r>
              <a:rPr lang="bg-BG" dirty="0"/>
              <a:t>условието между тях.</a:t>
            </a:r>
          </a:p>
          <a:p>
            <a:pPr fontAlgn="base"/>
            <a:r>
              <a:rPr lang="bg-BG" dirty="0"/>
              <a:t>Към резултатната таблица се добавя и таблицата </a:t>
            </a:r>
            <a:r>
              <a:rPr lang="en-US" dirty="0"/>
              <a:t>sports </a:t>
            </a:r>
            <a:r>
              <a:rPr lang="bg-BG" dirty="0"/>
              <a:t>отново на </a:t>
            </a:r>
            <a:r>
              <a:rPr lang="en-US" dirty="0"/>
              <a:t>ON </a:t>
            </a:r>
            <a:r>
              <a:rPr lang="bg-BG" dirty="0"/>
              <a:t>условието.</a:t>
            </a:r>
          </a:p>
          <a:p>
            <a:pPr fontAlgn="base"/>
            <a:r>
              <a:rPr lang="bg-BG" dirty="0"/>
              <a:t>В крайния резултат обаче нито една колона от </a:t>
            </a:r>
            <a:r>
              <a:rPr lang="en-US" i="1" dirty="0" err="1"/>
              <a:t>sportGroups</a:t>
            </a:r>
            <a:r>
              <a:rPr lang="en-US" dirty="0"/>
              <a:t> </a:t>
            </a:r>
            <a:r>
              <a:rPr lang="bg-BG" dirty="0"/>
              <a:t>не участва – ние я използваме просто защото тя свързва другите две таблици.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11904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344"/>
          </a:xfrm>
        </p:spPr>
        <p:txBody>
          <a:bodyPr>
            <a:normAutofit/>
          </a:bodyPr>
          <a:lstStyle/>
          <a:p>
            <a:r>
              <a:rPr lang="bg-BG" sz="2500" dirty="0" smtClean="0"/>
              <a:t>Сравнение между вложен и чист (от повече таблици) </a:t>
            </a:r>
            <a:r>
              <a:rPr lang="en-US" sz="2500" dirty="0" smtClean="0"/>
              <a:t>SELECT</a:t>
            </a:r>
            <a:endParaRPr lang="bg-BG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5719"/>
            <a:ext cx="10515600" cy="4771244"/>
          </a:xfrm>
        </p:spPr>
        <p:txBody>
          <a:bodyPr/>
          <a:lstStyle/>
          <a:p>
            <a:pPr marL="0" indent="0">
              <a:buNone/>
            </a:pPr>
            <a:r>
              <a:rPr lang="bg-BG" dirty="0" smtClean="0"/>
              <a:t>Чист </a:t>
            </a:r>
            <a:r>
              <a:rPr lang="en-US" dirty="0" smtClean="0"/>
              <a:t>SELECT </a:t>
            </a:r>
            <a:r>
              <a:rPr lang="bg-BG" dirty="0" smtClean="0"/>
              <a:t>с повече таблици:</a:t>
            </a:r>
          </a:p>
          <a:p>
            <a:pPr fontAlgn="base"/>
            <a:r>
              <a:rPr lang="ru-RU" b="1" dirty="0"/>
              <a:t>+ </a:t>
            </a:r>
            <a:r>
              <a:rPr lang="ru-RU" dirty="0"/>
              <a:t>заявката е по-лесно четима.</a:t>
            </a:r>
          </a:p>
          <a:p>
            <a:pPr fontAlgn="base"/>
            <a:r>
              <a:rPr lang="ru-RU" b="1" dirty="0"/>
              <a:t>–</a:t>
            </a:r>
            <a:r>
              <a:rPr lang="ru-RU" dirty="0"/>
              <a:t> заявката е по-бавна. Причината е, че при вложен селект съединението се прави с подмножество на таблицата, а не на целите таблици. Затова, когато е възможно се предпочита пред </a:t>
            </a:r>
            <a:r>
              <a:rPr lang="ru-RU" dirty="0" smtClean="0"/>
              <a:t>чистия</a:t>
            </a:r>
          </a:p>
          <a:p>
            <a:pPr fontAlgn="base"/>
            <a:endParaRPr lang="ru-RU" dirty="0"/>
          </a:p>
          <a:p>
            <a:pPr marL="0" indent="0" fontAlgn="base">
              <a:buNone/>
            </a:pPr>
            <a:r>
              <a:rPr lang="ru-RU" i="1" dirty="0"/>
              <a:t> JOIN </a:t>
            </a:r>
            <a:r>
              <a:rPr lang="ru-RU" i="1" dirty="0" smtClean="0"/>
              <a:t>се прави само </a:t>
            </a:r>
            <a:r>
              <a:rPr lang="ru-RU" i="1" dirty="0"/>
              <a:t>между таблици, които са споменати в SELECT и колони от тях ще присъстват в крайния резултат.</a:t>
            </a:r>
            <a:endParaRPr lang="ru-RU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30309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0093"/>
          </a:xfrm>
        </p:spPr>
        <p:txBody>
          <a:bodyPr>
            <a:normAutofit fontScale="90000"/>
          </a:bodyPr>
          <a:lstStyle/>
          <a:p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8992"/>
            <a:ext cx="10515600" cy="5207972"/>
          </a:xfrm>
        </p:spPr>
        <p:txBody>
          <a:bodyPr/>
          <a:lstStyle/>
          <a:p>
            <a:r>
              <a:rPr lang="ru-RU" dirty="0"/>
              <a:t>Какво ще се случи, обаче, ако в едната от таблиците стойността на колоната, по която се сравнява в свързващото условие е NULL? Сравненията с NULL винаги дават лъжа, така че такива редове няма да бъдат добавяни в резултата.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Например: </a:t>
            </a:r>
            <a:r>
              <a:rPr lang="ru-RU" dirty="0"/>
              <a:t>Да създадем една спортна група по футбол, но за сега не знаем кой ще я тренира, затова оставяме полето coach_id NULL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school_sport_clubs.sportgroups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(location, </a:t>
            </a:r>
            <a:r>
              <a:rPr lang="en-US" dirty="0" err="1"/>
              <a:t>dayOfWeek</a:t>
            </a:r>
            <a:r>
              <a:rPr lang="en-US" dirty="0"/>
              <a:t>, </a:t>
            </a:r>
            <a:r>
              <a:rPr lang="en-US" dirty="0" err="1"/>
              <a:t>hourOfTraining</a:t>
            </a:r>
            <a:r>
              <a:rPr lang="en-US" dirty="0"/>
              <a:t>, </a:t>
            </a:r>
            <a:r>
              <a:rPr lang="en-US" dirty="0" err="1"/>
              <a:t>sport_id,coach_id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VALUES ('Sofia-</a:t>
            </a:r>
            <a:r>
              <a:rPr lang="en-US" dirty="0" err="1"/>
              <a:t>Nadezhda</a:t>
            </a:r>
            <a:r>
              <a:rPr lang="en-US" dirty="0"/>
              <a:t>', 'Sunday', '08:00', 1,NULL);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85426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6728"/>
            <a:ext cx="10515600" cy="423081"/>
          </a:xfrm>
        </p:spPr>
        <p:txBody>
          <a:bodyPr>
            <a:normAutofit fontScale="90000"/>
          </a:bodyPr>
          <a:lstStyle/>
          <a:p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1003"/>
            <a:ext cx="10515600" cy="497596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Сега ще се изведем всички спортни групи, заедно с треньорите им – тоест ще съединим двете таблици </a:t>
            </a:r>
            <a:r>
              <a:rPr lang="ru-RU" i="1" dirty="0"/>
              <a:t>sportGroups</a:t>
            </a:r>
            <a:r>
              <a:rPr lang="ru-RU" dirty="0"/>
              <a:t> и </a:t>
            </a:r>
            <a:r>
              <a:rPr lang="ru-RU" i="1" dirty="0"/>
              <a:t>coaches  </a:t>
            </a:r>
            <a:r>
              <a:rPr lang="ru-RU" dirty="0"/>
              <a:t>на базата на външния ключ от едната към другата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sportgroups.location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sportgroups.dayOfWeek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sportgroups.hourOfTraining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sportgroups.sport_id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coaches.name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sportgroups</a:t>
            </a:r>
            <a:r>
              <a:rPr lang="en-US" dirty="0"/>
              <a:t> JOIN coaches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sportgroups.coach_id</a:t>
            </a:r>
            <a:r>
              <a:rPr lang="en-US" dirty="0"/>
              <a:t> = coaches.id;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0793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4809"/>
          </a:xfrm>
        </p:spPr>
        <p:txBody>
          <a:bodyPr>
            <a:normAutofit fontScale="90000"/>
          </a:bodyPr>
          <a:lstStyle/>
          <a:p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1946" y="887840"/>
            <a:ext cx="9155805" cy="514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04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Как </a:t>
            </a:r>
            <a:r>
              <a:rPr lang="ru-RU" dirty="0"/>
              <a:t>да направим така, че независимо, че треньор не е въведен, записът за спортната група да излезе, но с треньор </a:t>
            </a:r>
            <a:r>
              <a:rPr lang="ru-RU" dirty="0" smtClean="0"/>
              <a:t>NULL ? </a:t>
            </a:r>
            <a:r>
              <a:rPr lang="ru-RU" dirty="0"/>
              <a:t>Отговорът е чрез външно съединение.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31104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148" y="444637"/>
            <a:ext cx="10515600" cy="615537"/>
          </a:xfrm>
        </p:spPr>
        <p:txBody>
          <a:bodyPr>
            <a:normAutofit fontScale="90000"/>
          </a:bodyPr>
          <a:lstStyle/>
          <a:p>
            <a:r>
              <a:rPr lang="bg-BG" sz="2800" dirty="0" smtClean="0"/>
              <a:t>Външни съединения:</a:t>
            </a:r>
            <a:r>
              <a:rPr lang="en-US" sz="2800" b="1" dirty="0"/>
              <a:t> </a:t>
            </a:r>
            <a:r>
              <a:rPr lang="en-US" sz="2800" b="1" dirty="0" smtClean="0"/>
              <a:t>OUTER JOIN</a:t>
            </a:r>
            <a:r>
              <a:rPr lang="bg-BG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573" y="1133268"/>
            <a:ext cx="10833652" cy="5116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Външните съединения се делят на две – LEFT и RIGHT OUTER JOIN. Най-общо казано, те ни дават всички редове от лявата/дясната таблица, без значение от това дали има съответстващи им редове от дясната/лявата таблица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0" indent="0">
              <a:buNone/>
            </a:pPr>
            <a:endParaRPr lang="bg-BG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48" y="2121037"/>
            <a:ext cx="465772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17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663"/>
            <a:ext cx="10515600" cy="4730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При ляво </a:t>
            </a:r>
            <a:r>
              <a:rPr lang="ru-RU" dirty="0"/>
              <a:t>съединение „натежава“ лявата таблица, а при дясно – дясната. Думата  OUTER  не е задължителна, така, както и INNER. Нека да видим как ще се отрази на резултата добавянето на LEFT 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sportgroups.location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sportgroups.dayOfWeek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sportgroups.hourOfTraining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sportgroups.sport_id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coaches.name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sportgroups</a:t>
            </a:r>
            <a:r>
              <a:rPr lang="en-US" dirty="0"/>
              <a:t> LEFT OUTER JOIN coaches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sportgroups.coach_id</a:t>
            </a:r>
            <a:r>
              <a:rPr lang="en-US" dirty="0"/>
              <a:t> = coaches.id;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98557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/>
          </a:bodyPr>
          <a:lstStyle/>
          <a:p>
            <a:r>
              <a:rPr lang="bg-BG" sz="2500" dirty="0" smtClean="0"/>
              <a:t>Резултат:</a:t>
            </a:r>
            <a:endParaRPr lang="bg-BG" sz="25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999" y="1187355"/>
            <a:ext cx="9704380" cy="545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94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3" y="365126"/>
            <a:ext cx="10969487" cy="10222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500" dirty="0"/>
              <a:t>Какво ще се случи ако използваме RIGHT JOIN </a:t>
            </a:r>
            <a:r>
              <a:rPr lang="ru-RU" sz="2500" dirty="0" smtClean="0"/>
              <a:t>? </a:t>
            </a:r>
            <a:endParaRPr lang="bg-BG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078" y="1825625"/>
            <a:ext cx="10876722" cy="4351338"/>
          </a:xfrm>
        </p:spPr>
        <p:txBody>
          <a:bodyPr>
            <a:normAutofit fontScale="92500" lnSpcReduction="10000"/>
          </a:bodyPr>
          <a:lstStyle/>
          <a:p>
            <a:endParaRPr lang="bg-BG" dirty="0" smtClean="0"/>
          </a:p>
          <a:p>
            <a:endParaRPr lang="bg-BG" dirty="0"/>
          </a:p>
          <a:p>
            <a:endParaRPr lang="bg-BG" dirty="0" smtClean="0"/>
          </a:p>
          <a:p>
            <a:endParaRPr lang="bg-BG" dirty="0"/>
          </a:p>
          <a:p>
            <a:endParaRPr lang="bg-BG" dirty="0" smtClean="0"/>
          </a:p>
          <a:p>
            <a:endParaRPr lang="bg-BG" dirty="0"/>
          </a:p>
          <a:p>
            <a:endParaRPr lang="bg-BG" dirty="0" smtClean="0"/>
          </a:p>
          <a:p>
            <a:pPr marL="0" indent="0">
              <a:buNone/>
            </a:pPr>
            <a:r>
              <a:rPr lang="ru-RU" dirty="0" smtClean="0"/>
              <a:t>ще се изведат всички треньори и ако са записани в </a:t>
            </a:r>
            <a:r>
              <a:rPr lang="ru-RU" i="1" dirty="0" smtClean="0"/>
              <a:t>sportGroups</a:t>
            </a:r>
            <a:r>
              <a:rPr lang="ru-RU" dirty="0" smtClean="0"/>
              <a:t> да тренират някоя група- ще се появи и групата, ако не – данните за групата ще бъдат празни:</a:t>
            </a:r>
            <a:endParaRPr lang="bg-BG" dirty="0"/>
          </a:p>
          <a:p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958" y="1593125"/>
            <a:ext cx="6529365" cy="306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3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03500"/>
          </a:xfrm>
        </p:spPr>
        <p:txBody>
          <a:bodyPr>
            <a:normAutofit fontScale="90000"/>
          </a:bodyPr>
          <a:lstStyle/>
          <a:p>
            <a:r>
              <a:rPr lang="bg-BG" sz="2500" dirty="0" smtClean="0"/>
              <a:t>Резултат:</a:t>
            </a:r>
            <a:endParaRPr lang="bg-BG" sz="25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590" y="1009650"/>
            <a:ext cx="9190819" cy="51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813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ЗАДАЧА: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0904"/>
            <a:ext cx="10515600" cy="5236059"/>
          </a:xfrm>
        </p:spPr>
        <p:txBody>
          <a:bodyPr/>
          <a:lstStyle/>
          <a:p>
            <a:pPr marL="0" indent="0">
              <a:buNone/>
            </a:pPr>
            <a:r>
              <a:rPr lang="ru-RU" i="1" dirty="0"/>
              <a:t>Изведете списък с имената на учениците и класовете им, както и номера (id) на групата в която тренират за всички ученици, които тренират в понеделник от 08:00 и са при треньор с </a:t>
            </a:r>
            <a:r>
              <a:rPr lang="bg-BG" i="1" dirty="0" smtClean="0"/>
              <a:t>определено </a:t>
            </a:r>
            <a:r>
              <a:rPr lang="ru-RU" i="1" dirty="0" smtClean="0"/>
              <a:t>име, </a:t>
            </a:r>
            <a:r>
              <a:rPr lang="ru-RU" i="1" dirty="0"/>
              <a:t>но само за групите му по </a:t>
            </a:r>
            <a:r>
              <a:rPr lang="ru-RU" i="1" dirty="0" smtClean="0"/>
              <a:t>тенис.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63045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603</Words>
  <Application>Microsoft Office PowerPoint</Application>
  <PresentationFormat>Widescreen</PresentationFormat>
  <Paragraphs>88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inherit</vt:lpstr>
      <vt:lpstr>Lato</vt:lpstr>
      <vt:lpstr>Office Theme</vt:lpstr>
      <vt:lpstr>Многотабличен SELECT</vt:lpstr>
      <vt:lpstr>Какво ще се получи, ако искаме да извлечем резултати от повече от една таблица? Използваме JOIN и вложен SELECT</vt:lpstr>
      <vt:lpstr>Синтаксис на заявката:</vt:lpstr>
      <vt:lpstr>Пример1: Информация за всички групи(местоположение, дни от седмицата и време на тренировка ) и името на спорта  </vt:lpstr>
      <vt:lpstr>Резултат:</vt:lpstr>
      <vt:lpstr>Пример 2 :  Да се изведат всички треньори заедно със спортовете, на които те тренират учениците</vt:lpstr>
      <vt:lpstr>Резултат:</vt:lpstr>
      <vt:lpstr>Вложен SELECT: </vt:lpstr>
      <vt:lpstr>PowerPoint Presentation</vt:lpstr>
      <vt:lpstr>Как да избегнем вложения SELECT?</vt:lpstr>
      <vt:lpstr>PowerPoint Presentation</vt:lpstr>
      <vt:lpstr>PowerPoint Presentation</vt:lpstr>
      <vt:lpstr>Сравнение между вложен и чист (от повече таблици) SELECT</vt:lpstr>
      <vt:lpstr>PowerPoint Presentation</vt:lpstr>
      <vt:lpstr>PowerPoint Presentation</vt:lpstr>
      <vt:lpstr>PowerPoint Presentation</vt:lpstr>
      <vt:lpstr>PowerPoint Presentation</vt:lpstr>
      <vt:lpstr>Външни съединения: OUTER JOIN </vt:lpstr>
      <vt:lpstr>PowerPoint Presentation</vt:lpstr>
      <vt:lpstr>Резултат:</vt:lpstr>
      <vt:lpstr>Какво ще се случи ако използваме RIGHT JOIN ? </vt:lpstr>
      <vt:lpstr>Резултат:</vt:lpstr>
      <vt:lpstr>ЗАДАЧА: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Многотабличен SELECT</dc:title>
  <dc:creator>Mihaela</dc:creator>
  <cp:lastModifiedBy>Mihaela</cp:lastModifiedBy>
  <cp:revision>20</cp:revision>
  <dcterms:created xsi:type="dcterms:W3CDTF">2024-03-05T15:26:45Z</dcterms:created>
  <dcterms:modified xsi:type="dcterms:W3CDTF">2026-03-15T17:31:20Z</dcterms:modified>
</cp:coreProperties>
</file>