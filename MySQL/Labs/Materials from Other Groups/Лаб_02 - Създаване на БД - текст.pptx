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1" r:id="rId4"/>
    <p:sldId id="263" r:id="rId5"/>
    <p:sldId id="258" r:id="rId6"/>
    <p:sldId id="259" r:id="rId7"/>
    <p:sldId id="268" r:id="rId8"/>
    <p:sldId id="265" r:id="rId9"/>
    <p:sldId id="269" r:id="rId10"/>
    <p:sldId id="264" r:id="rId11"/>
    <p:sldId id="266" r:id="rId12"/>
    <p:sldId id="267" r:id="rId13"/>
    <p:sldId id="270" r:id="rId14"/>
    <p:sldId id="271" r:id="rId15"/>
    <p:sldId id="272" r:id="rId16"/>
    <p:sldId id="273" r:id="rId17"/>
    <p:sldId id="274" r:id="rId18"/>
    <p:sldId id="276" r:id="rId19"/>
    <p:sldId id="278" r:id="rId20"/>
    <p:sldId id="279" r:id="rId21"/>
    <p:sldId id="280" r:id="rId22"/>
    <p:sldId id="281" r:id="rId23"/>
    <p:sldId id="282" r:id="rId24"/>
    <p:sldId id="283" r:id="rId25"/>
    <p:sldId id="284" r:id="rId26"/>
    <p:sldId id="285" r:id="rId27"/>
    <p:sldId id="286" r:id="rId28"/>
    <p:sldId id="287" r:id="rId29"/>
    <p:sldId id="288" r:id="rId30"/>
    <p:sldId id="289" r:id="rId31"/>
    <p:sldId id="290" r:id="rId32"/>
    <p:sldId id="291" r:id="rId33"/>
    <p:sldId id="292" r:id="rId34"/>
    <p:sldId id="293" r:id="rId35"/>
    <p:sldId id="294" r:id="rId36"/>
  </p:sldIdLst>
  <p:sldSz cx="12192000" cy="6858000"/>
  <p:notesSz cx="6858000" cy="9144000"/>
  <p:defaultTextStyle>
    <a:defPPr>
      <a:defRPr lang="bg-B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5" autoAdjust="0"/>
    <p:restoredTop sz="94660"/>
  </p:normalViewPr>
  <p:slideViewPr>
    <p:cSldViewPr snapToGrid="0">
      <p:cViewPr varScale="1">
        <p:scale>
          <a:sx n="63" d="100"/>
          <a:sy n="63" d="100"/>
        </p:scale>
        <p:origin x="91" y="4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bg-BG"/>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bg-BG"/>
          </a:p>
        </p:txBody>
      </p:sp>
      <p:sp>
        <p:nvSpPr>
          <p:cNvPr id="4" name="Date Placeholder 3"/>
          <p:cNvSpPr>
            <a:spLocks noGrp="1"/>
          </p:cNvSpPr>
          <p:nvPr>
            <p:ph type="dt" sz="half" idx="10"/>
          </p:nvPr>
        </p:nvSpPr>
        <p:spPr/>
        <p:txBody>
          <a:bodyPr/>
          <a:lstStyle/>
          <a:p>
            <a:fld id="{63191170-A6D5-4DDC-B686-DF34F5EF1F61}" type="datetimeFigureOut">
              <a:rPr lang="bg-BG" smtClean="0"/>
              <a:t>05.03.2026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0BAFE19E-9DF2-4375-BB79-0B5A5E94595F}" type="slidenum">
              <a:rPr lang="bg-BG" smtClean="0"/>
              <a:t>‹#›</a:t>
            </a:fld>
            <a:endParaRPr lang="bg-BG"/>
          </a:p>
        </p:txBody>
      </p:sp>
    </p:spTree>
    <p:extLst>
      <p:ext uri="{BB962C8B-B14F-4D97-AF65-F5344CB8AC3E}">
        <p14:creationId xmlns:p14="http://schemas.microsoft.com/office/powerpoint/2010/main" val="7871400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bg-BG"/>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4" name="Date Placeholder 3"/>
          <p:cNvSpPr>
            <a:spLocks noGrp="1"/>
          </p:cNvSpPr>
          <p:nvPr>
            <p:ph type="dt" sz="half" idx="10"/>
          </p:nvPr>
        </p:nvSpPr>
        <p:spPr/>
        <p:txBody>
          <a:bodyPr/>
          <a:lstStyle/>
          <a:p>
            <a:fld id="{63191170-A6D5-4DDC-B686-DF34F5EF1F61}" type="datetimeFigureOut">
              <a:rPr lang="bg-BG" smtClean="0"/>
              <a:t>05.03.2026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0BAFE19E-9DF2-4375-BB79-0B5A5E94595F}" type="slidenum">
              <a:rPr lang="bg-BG" smtClean="0"/>
              <a:t>‹#›</a:t>
            </a:fld>
            <a:endParaRPr lang="bg-BG"/>
          </a:p>
        </p:txBody>
      </p:sp>
    </p:spTree>
    <p:extLst>
      <p:ext uri="{BB962C8B-B14F-4D97-AF65-F5344CB8AC3E}">
        <p14:creationId xmlns:p14="http://schemas.microsoft.com/office/powerpoint/2010/main" val="28970767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bg-BG"/>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191170-A6D5-4DDC-B686-DF34F5EF1F61}" type="datetimeFigureOut">
              <a:rPr lang="bg-BG" smtClean="0"/>
              <a:t>05.03.2026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0BAFE19E-9DF2-4375-BB79-0B5A5E94595F}" type="slidenum">
              <a:rPr lang="bg-BG" smtClean="0"/>
              <a:t>‹#›</a:t>
            </a:fld>
            <a:endParaRPr lang="bg-BG"/>
          </a:p>
        </p:txBody>
      </p:sp>
    </p:spTree>
    <p:extLst>
      <p:ext uri="{BB962C8B-B14F-4D97-AF65-F5344CB8AC3E}">
        <p14:creationId xmlns:p14="http://schemas.microsoft.com/office/powerpoint/2010/main" val="343783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bg-BG"/>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5" name="Date Placeholder 4"/>
          <p:cNvSpPr>
            <a:spLocks noGrp="1"/>
          </p:cNvSpPr>
          <p:nvPr>
            <p:ph type="dt" sz="half" idx="10"/>
          </p:nvPr>
        </p:nvSpPr>
        <p:spPr/>
        <p:txBody>
          <a:bodyPr/>
          <a:lstStyle/>
          <a:p>
            <a:fld id="{63191170-A6D5-4DDC-B686-DF34F5EF1F61}" type="datetimeFigureOut">
              <a:rPr lang="bg-BG" smtClean="0"/>
              <a:t>05.03.2026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0BAFE19E-9DF2-4375-BB79-0B5A5E94595F}" type="slidenum">
              <a:rPr lang="bg-BG" smtClean="0"/>
              <a:t>‹#›</a:t>
            </a:fld>
            <a:endParaRPr lang="bg-BG"/>
          </a:p>
        </p:txBody>
      </p:sp>
    </p:spTree>
    <p:extLst>
      <p:ext uri="{BB962C8B-B14F-4D97-AF65-F5344CB8AC3E}">
        <p14:creationId xmlns:p14="http://schemas.microsoft.com/office/powerpoint/2010/main" val="2902429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bg-BG"/>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7" name="Date Placeholder 6"/>
          <p:cNvSpPr>
            <a:spLocks noGrp="1"/>
          </p:cNvSpPr>
          <p:nvPr>
            <p:ph type="dt" sz="half" idx="10"/>
          </p:nvPr>
        </p:nvSpPr>
        <p:spPr/>
        <p:txBody>
          <a:bodyPr/>
          <a:lstStyle/>
          <a:p>
            <a:fld id="{63191170-A6D5-4DDC-B686-DF34F5EF1F61}" type="datetimeFigureOut">
              <a:rPr lang="bg-BG" smtClean="0"/>
              <a:t>05.03.2026 г.</a:t>
            </a:fld>
            <a:endParaRPr lang="bg-BG"/>
          </a:p>
        </p:txBody>
      </p:sp>
      <p:sp>
        <p:nvSpPr>
          <p:cNvPr id="8" name="Footer Placeholder 7"/>
          <p:cNvSpPr>
            <a:spLocks noGrp="1"/>
          </p:cNvSpPr>
          <p:nvPr>
            <p:ph type="ftr" sz="quarter" idx="11"/>
          </p:nvPr>
        </p:nvSpPr>
        <p:spPr/>
        <p:txBody>
          <a:bodyPr/>
          <a:lstStyle/>
          <a:p>
            <a:endParaRPr lang="bg-BG"/>
          </a:p>
        </p:txBody>
      </p:sp>
      <p:sp>
        <p:nvSpPr>
          <p:cNvPr id="9" name="Slide Number Placeholder 8"/>
          <p:cNvSpPr>
            <a:spLocks noGrp="1"/>
          </p:cNvSpPr>
          <p:nvPr>
            <p:ph type="sldNum" sz="quarter" idx="12"/>
          </p:nvPr>
        </p:nvSpPr>
        <p:spPr/>
        <p:txBody>
          <a:bodyPr/>
          <a:lstStyle/>
          <a:p>
            <a:fld id="{0BAFE19E-9DF2-4375-BB79-0B5A5E94595F}" type="slidenum">
              <a:rPr lang="bg-BG" smtClean="0"/>
              <a:t>‹#›</a:t>
            </a:fld>
            <a:endParaRPr lang="bg-BG"/>
          </a:p>
        </p:txBody>
      </p:sp>
    </p:spTree>
    <p:extLst>
      <p:ext uri="{BB962C8B-B14F-4D97-AF65-F5344CB8AC3E}">
        <p14:creationId xmlns:p14="http://schemas.microsoft.com/office/powerpoint/2010/main" val="2237445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bg-BG"/>
          </a:p>
        </p:txBody>
      </p:sp>
      <p:sp>
        <p:nvSpPr>
          <p:cNvPr id="3" name="Date Placeholder 2"/>
          <p:cNvSpPr>
            <a:spLocks noGrp="1"/>
          </p:cNvSpPr>
          <p:nvPr>
            <p:ph type="dt" sz="half" idx="10"/>
          </p:nvPr>
        </p:nvSpPr>
        <p:spPr/>
        <p:txBody>
          <a:bodyPr/>
          <a:lstStyle/>
          <a:p>
            <a:fld id="{63191170-A6D5-4DDC-B686-DF34F5EF1F61}" type="datetimeFigureOut">
              <a:rPr lang="bg-BG" smtClean="0"/>
              <a:t>05.03.2026 г.</a:t>
            </a:fld>
            <a:endParaRPr lang="bg-BG"/>
          </a:p>
        </p:txBody>
      </p:sp>
      <p:sp>
        <p:nvSpPr>
          <p:cNvPr id="4" name="Footer Placeholder 3"/>
          <p:cNvSpPr>
            <a:spLocks noGrp="1"/>
          </p:cNvSpPr>
          <p:nvPr>
            <p:ph type="ftr" sz="quarter" idx="11"/>
          </p:nvPr>
        </p:nvSpPr>
        <p:spPr/>
        <p:txBody>
          <a:bodyPr/>
          <a:lstStyle/>
          <a:p>
            <a:endParaRPr lang="bg-BG"/>
          </a:p>
        </p:txBody>
      </p:sp>
      <p:sp>
        <p:nvSpPr>
          <p:cNvPr id="5" name="Slide Number Placeholder 4"/>
          <p:cNvSpPr>
            <a:spLocks noGrp="1"/>
          </p:cNvSpPr>
          <p:nvPr>
            <p:ph type="sldNum" sz="quarter" idx="12"/>
          </p:nvPr>
        </p:nvSpPr>
        <p:spPr/>
        <p:txBody>
          <a:bodyPr/>
          <a:lstStyle/>
          <a:p>
            <a:fld id="{0BAFE19E-9DF2-4375-BB79-0B5A5E94595F}" type="slidenum">
              <a:rPr lang="bg-BG" smtClean="0"/>
              <a:t>‹#›</a:t>
            </a:fld>
            <a:endParaRPr lang="bg-BG"/>
          </a:p>
        </p:txBody>
      </p:sp>
    </p:spTree>
    <p:extLst>
      <p:ext uri="{BB962C8B-B14F-4D97-AF65-F5344CB8AC3E}">
        <p14:creationId xmlns:p14="http://schemas.microsoft.com/office/powerpoint/2010/main" val="26006611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191170-A6D5-4DDC-B686-DF34F5EF1F61}" type="datetimeFigureOut">
              <a:rPr lang="bg-BG" smtClean="0"/>
              <a:t>05.03.2026 г.</a:t>
            </a:fld>
            <a:endParaRPr lang="bg-BG"/>
          </a:p>
        </p:txBody>
      </p:sp>
      <p:sp>
        <p:nvSpPr>
          <p:cNvPr id="3" name="Footer Placeholder 2"/>
          <p:cNvSpPr>
            <a:spLocks noGrp="1"/>
          </p:cNvSpPr>
          <p:nvPr>
            <p:ph type="ftr" sz="quarter" idx="11"/>
          </p:nvPr>
        </p:nvSpPr>
        <p:spPr/>
        <p:txBody>
          <a:bodyPr/>
          <a:lstStyle/>
          <a:p>
            <a:endParaRPr lang="bg-BG"/>
          </a:p>
        </p:txBody>
      </p:sp>
      <p:sp>
        <p:nvSpPr>
          <p:cNvPr id="4" name="Slide Number Placeholder 3"/>
          <p:cNvSpPr>
            <a:spLocks noGrp="1"/>
          </p:cNvSpPr>
          <p:nvPr>
            <p:ph type="sldNum" sz="quarter" idx="12"/>
          </p:nvPr>
        </p:nvSpPr>
        <p:spPr/>
        <p:txBody>
          <a:bodyPr/>
          <a:lstStyle/>
          <a:p>
            <a:fld id="{0BAFE19E-9DF2-4375-BB79-0B5A5E94595F}" type="slidenum">
              <a:rPr lang="bg-BG" smtClean="0"/>
              <a:t>‹#›</a:t>
            </a:fld>
            <a:endParaRPr lang="bg-BG"/>
          </a:p>
        </p:txBody>
      </p:sp>
    </p:spTree>
    <p:extLst>
      <p:ext uri="{BB962C8B-B14F-4D97-AF65-F5344CB8AC3E}">
        <p14:creationId xmlns:p14="http://schemas.microsoft.com/office/powerpoint/2010/main" val="5796042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bg-BG"/>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191170-A6D5-4DDC-B686-DF34F5EF1F61}" type="datetimeFigureOut">
              <a:rPr lang="bg-BG" smtClean="0"/>
              <a:t>05.03.2026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0BAFE19E-9DF2-4375-BB79-0B5A5E94595F}" type="slidenum">
              <a:rPr lang="bg-BG" smtClean="0"/>
              <a:t>‹#›</a:t>
            </a:fld>
            <a:endParaRPr lang="bg-BG"/>
          </a:p>
        </p:txBody>
      </p:sp>
    </p:spTree>
    <p:extLst>
      <p:ext uri="{BB962C8B-B14F-4D97-AF65-F5344CB8AC3E}">
        <p14:creationId xmlns:p14="http://schemas.microsoft.com/office/powerpoint/2010/main" val="22354515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bg-BG"/>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bg-BG"/>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191170-A6D5-4DDC-B686-DF34F5EF1F61}" type="datetimeFigureOut">
              <a:rPr lang="bg-BG" smtClean="0"/>
              <a:t>05.03.2026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0BAFE19E-9DF2-4375-BB79-0B5A5E94595F}" type="slidenum">
              <a:rPr lang="bg-BG" smtClean="0"/>
              <a:t>‹#›</a:t>
            </a:fld>
            <a:endParaRPr lang="bg-BG"/>
          </a:p>
        </p:txBody>
      </p:sp>
    </p:spTree>
    <p:extLst>
      <p:ext uri="{BB962C8B-B14F-4D97-AF65-F5344CB8AC3E}">
        <p14:creationId xmlns:p14="http://schemas.microsoft.com/office/powerpoint/2010/main" val="15276458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bg-BG"/>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4" name="Date Placeholder 3"/>
          <p:cNvSpPr>
            <a:spLocks noGrp="1"/>
          </p:cNvSpPr>
          <p:nvPr>
            <p:ph type="dt" sz="half" idx="10"/>
          </p:nvPr>
        </p:nvSpPr>
        <p:spPr/>
        <p:txBody>
          <a:bodyPr/>
          <a:lstStyle/>
          <a:p>
            <a:fld id="{63191170-A6D5-4DDC-B686-DF34F5EF1F61}" type="datetimeFigureOut">
              <a:rPr lang="bg-BG" smtClean="0"/>
              <a:t>05.03.2026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0BAFE19E-9DF2-4375-BB79-0B5A5E94595F}" type="slidenum">
              <a:rPr lang="bg-BG" smtClean="0"/>
              <a:t>‹#›</a:t>
            </a:fld>
            <a:endParaRPr lang="bg-BG"/>
          </a:p>
        </p:txBody>
      </p:sp>
    </p:spTree>
    <p:extLst>
      <p:ext uri="{BB962C8B-B14F-4D97-AF65-F5344CB8AC3E}">
        <p14:creationId xmlns:p14="http://schemas.microsoft.com/office/powerpoint/2010/main" val="2461727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bg-BG"/>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4" name="Date Placeholder 3"/>
          <p:cNvSpPr>
            <a:spLocks noGrp="1"/>
          </p:cNvSpPr>
          <p:nvPr>
            <p:ph type="dt" sz="half" idx="10"/>
          </p:nvPr>
        </p:nvSpPr>
        <p:spPr/>
        <p:txBody>
          <a:bodyPr/>
          <a:lstStyle/>
          <a:p>
            <a:fld id="{63191170-A6D5-4DDC-B686-DF34F5EF1F61}" type="datetimeFigureOut">
              <a:rPr lang="bg-BG" smtClean="0"/>
              <a:t>05.03.2026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0BAFE19E-9DF2-4375-BB79-0B5A5E94595F}" type="slidenum">
              <a:rPr lang="bg-BG" smtClean="0"/>
              <a:t>‹#›</a:t>
            </a:fld>
            <a:endParaRPr lang="bg-BG"/>
          </a:p>
        </p:txBody>
      </p:sp>
    </p:spTree>
    <p:extLst>
      <p:ext uri="{BB962C8B-B14F-4D97-AF65-F5344CB8AC3E}">
        <p14:creationId xmlns:p14="http://schemas.microsoft.com/office/powerpoint/2010/main" val="739747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bg-BG"/>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191170-A6D5-4DDC-B686-DF34F5EF1F61}" type="datetimeFigureOut">
              <a:rPr lang="bg-BG" smtClean="0"/>
              <a:t>05.03.2026 г.</a:t>
            </a:fld>
            <a:endParaRPr lang="bg-BG"/>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bg-BG"/>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AFE19E-9DF2-4375-BB79-0B5A5E94595F}" type="slidenum">
              <a:rPr lang="bg-BG" smtClean="0"/>
              <a:t>‹#›</a:t>
            </a:fld>
            <a:endParaRPr lang="bg-BG"/>
          </a:p>
        </p:txBody>
      </p:sp>
    </p:spTree>
    <p:extLst>
      <p:ext uri="{BB962C8B-B14F-4D97-AF65-F5344CB8AC3E}">
        <p14:creationId xmlns:p14="http://schemas.microsoft.com/office/powerpoint/2010/main" val="40931219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bg-B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 Id="rId4" Type="http://schemas.openxmlformats.org/officeDocument/2006/relationships/image" Target="../media/image3.emf"/></Relationships>
</file>

<file path=ppt/slides/_rels/slide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 Id="rId4" Type="http://schemas.openxmlformats.org/officeDocument/2006/relationships/image" Target="../media/image3.emf"/></Relationships>
</file>

<file path=ppt/slides/_rels/slide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bg-BG" dirty="0"/>
              <a:t>Създаване на БД</a:t>
            </a:r>
          </a:p>
        </p:txBody>
      </p:sp>
      <p:sp>
        <p:nvSpPr>
          <p:cNvPr id="3" name="Subtitle 2"/>
          <p:cNvSpPr>
            <a:spLocks noGrp="1"/>
          </p:cNvSpPr>
          <p:nvPr>
            <p:ph type="subTitle" idx="1"/>
          </p:nvPr>
        </p:nvSpPr>
        <p:spPr/>
        <p:txBody>
          <a:bodyPr/>
          <a:lstStyle/>
          <a:p>
            <a:endParaRPr lang="bg-BG"/>
          </a:p>
        </p:txBody>
      </p:sp>
    </p:spTree>
    <p:extLst>
      <p:ext uri="{BB962C8B-B14F-4D97-AF65-F5344CB8AC3E}">
        <p14:creationId xmlns:p14="http://schemas.microsoft.com/office/powerpoint/2010/main" val="29122296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Задача:</a:t>
            </a:r>
          </a:p>
        </p:txBody>
      </p:sp>
      <p:sp>
        <p:nvSpPr>
          <p:cNvPr id="3" name="Content Placeholder 2"/>
          <p:cNvSpPr>
            <a:spLocks noGrp="1"/>
          </p:cNvSpPr>
          <p:nvPr>
            <p:ph idx="1"/>
          </p:nvPr>
        </p:nvSpPr>
        <p:spPr/>
        <p:txBody>
          <a:bodyPr/>
          <a:lstStyle/>
          <a:p>
            <a:r>
              <a:rPr lang="ru-RU" dirty="0"/>
              <a:t>По даден проект училище трябва да организира извънучилищни спортни клубове. Спортните клубове могат да бъдат първоначално два типа– по футбол и по волейбол, а на следващ етап ще се добавят още.  За всеки клуб може да има много наброй групи, които тренират в различни дни и в различни часове. Учениците могат да се присъединят към който и да е от двата типа клуба едновременно като се запишат в определена група в определен ден от седмицата и в определен час. За всяка от клубните групи има по един треньор, който тренира учениците.</a:t>
            </a:r>
            <a:endParaRPr lang="bg-BG" dirty="0"/>
          </a:p>
        </p:txBody>
      </p:sp>
    </p:spTree>
    <p:extLst>
      <p:ext uri="{BB962C8B-B14F-4D97-AF65-F5344CB8AC3E}">
        <p14:creationId xmlns:p14="http://schemas.microsoft.com/office/powerpoint/2010/main" val="1597967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81797"/>
          </a:xfrm>
        </p:spPr>
        <p:txBody>
          <a:bodyPr>
            <a:normAutofit/>
          </a:bodyPr>
          <a:lstStyle/>
          <a:p>
            <a:r>
              <a:rPr lang="bg-BG" sz="3200" dirty="0">
                <a:latin typeface="Arial" panose="020B0604020202020204" pitchFamily="34" charset="0"/>
                <a:cs typeface="Arial" panose="020B0604020202020204" pitchFamily="34" charset="0"/>
              </a:rPr>
              <a:t>Обекти, връзки, ключови атрибути:</a:t>
            </a:r>
          </a:p>
        </p:txBody>
      </p:sp>
      <p:sp>
        <p:nvSpPr>
          <p:cNvPr id="3" name="Content Placeholder 2"/>
          <p:cNvSpPr>
            <a:spLocks noGrp="1"/>
          </p:cNvSpPr>
          <p:nvPr>
            <p:ph idx="1"/>
          </p:nvPr>
        </p:nvSpPr>
        <p:spPr>
          <a:xfrm>
            <a:off x="397565" y="914399"/>
            <a:ext cx="10956235" cy="5262563"/>
          </a:xfrm>
        </p:spPr>
        <p:txBody>
          <a:bodyPr/>
          <a:lstStyle/>
          <a:p>
            <a:pPr marL="0" indent="0" fontAlgn="base">
              <a:spcBef>
                <a:spcPts val="0"/>
              </a:spcBef>
              <a:buNone/>
            </a:pPr>
            <a:r>
              <a:rPr lang="bg-BG" sz="2400" b="1" dirty="0"/>
              <a:t>Обекти в нашата база данни:</a:t>
            </a:r>
            <a:endParaRPr lang="bg-BG" sz="2400" dirty="0"/>
          </a:p>
          <a:p>
            <a:pPr fontAlgn="base">
              <a:spcBef>
                <a:spcPts val="0"/>
              </a:spcBef>
            </a:pPr>
            <a:r>
              <a:rPr lang="en-US" sz="2400" dirty="0" err="1"/>
              <a:t>SportGroups</a:t>
            </a:r>
            <a:endParaRPr lang="en-US" sz="2400" dirty="0"/>
          </a:p>
          <a:p>
            <a:pPr fontAlgn="base">
              <a:spcBef>
                <a:spcPts val="0"/>
              </a:spcBef>
            </a:pPr>
            <a:r>
              <a:rPr lang="en-US" sz="2400" dirty="0"/>
              <a:t>Students</a:t>
            </a:r>
          </a:p>
          <a:p>
            <a:pPr fontAlgn="base">
              <a:spcBef>
                <a:spcPts val="0"/>
              </a:spcBef>
            </a:pPr>
            <a:r>
              <a:rPr lang="en-US" sz="2400" dirty="0"/>
              <a:t>Coaches</a:t>
            </a:r>
          </a:p>
          <a:p>
            <a:pPr fontAlgn="base">
              <a:spcBef>
                <a:spcPts val="0"/>
              </a:spcBef>
            </a:pPr>
            <a:r>
              <a:rPr lang="en-US" sz="2400" dirty="0"/>
              <a:t>Sports</a:t>
            </a:r>
            <a:endParaRPr lang="bg-BG" sz="2400" dirty="0"/>
          </a:p>
          <a:p>
            <a:pPr marL="0" indent="0" fontAlgn="base">
              <a:spcBef>
                <a:spcPts val="0"/>
              </a:spcBef>
              <a:buNone/>
            </a:pPr>
            <a:r>
              <a:rPr lang="bg-BG" sz="2400" b="1" dirty="0"/>
              <a:t>Връзките между обектите:</a:t>
            </a:r>
          </a:p>
          <a:p>
            <a:pPr marL="0" indent="0" fontAlgn="base">
              <a:spcBef>
                <a:spcPts val="0"/>
              </a:spcBef>
              <a:buNone/>
            </a:pPr>
            <a:endParaRPr lang="bg-BG" sz="2400" b="1" dirty="0"/>
          </a:p>
          <a:p>
            <a:pPr fontAlgn="base">
              <a:spcBef>
                <a:spcPts val="0"/>
              </a:spcBef>
            </a:pPr>
            <a:endParaRPr lang="bg-BG" sz="2400" dirty="0"/>
          </a:p>
          <a:p>
            <a:pPr fontAlgn="base">
              <a:spcBef>
                <a:spcPts val="0"/>
              </a:spcBef>
            </a:pPr>
            <a:endParaRPr lang="en-US" sz="2400" dirty="0"/>
          </a:p>
          <a:p>
            <a:endParaRPr lang="bg-BG" dirty="0"/>
          </a:p>
        </p:txBody>
      </p:sp>
      <p:pic>
        <p:nvPicPr>
          <p:cNvPr id="4" name="Picture 3"/>
          <p:cNvPicPr>
            <a:picLocks noChangeAspect="1"/>
          </p:cNvPicPr>
          <p:nvPr/>
        </p:nvPicPr>
        <p:blipFill>
          <a:blip r:embed="rId2"/>
          <a:stretch>
            <a:fillRect/>
          </a:stretch>
        </p:blipFill>
        <p:spPr>
          <a:xfrm>
            <a:off x="499046" y="3134048"/>
            <a:ext cx="4514812" cy="823266"/>
          </a:xfrm>
          <a:prstGeom prst="rect">
            <a:avLst/>
          </a:prstGeom>
        </p:spPr>
      </p:pic>
      <p:pic>
        <p:nvPicPr>
          <p:cNvPr id="5" name="Picture 4"/>
          <p:cNvPicPr>
            <a:picLocks noChangeAspect="1"/>
          </p:cNvPicPr>
          <p:nvPr/>
        </p:nvPicPr>
        <p:blipFill>
          <a:blip r:embed="rId3"/>
          <a:stretch>
            <a:fillRect/>
          </a:stretch>
        </p:blipFill>
        <p:spPr>
          <a:xfrm>
            <a:off x="526244" y="4261966"/>
            <a:ext cx="4487614" cy="805172"/>
          </a:xfrm>
          <a:prstGeom prst="rect">
            <a:avLst/>
          </a:prstGeom>
        </p:spPr>
      </p:pic>
      <p:pic>
        <p:nvPicPr>
          <p:cNvPr id="6" name="Picture 5"/>
          <p:cNvPicPr>
            <a:picLocks noChangeAspect="1"/>
          </p:cNvPicPr>
          <p:nvPr/>
        </p:nvPicPr>
        <p:blipFill>
          <a:blip r:embed="rId4"/>
          <a:stretch>
            <a:fillRect/>
          </a:stretch>
        </p:blipFill>
        <p:spPr>
          <a:xfrm>
            <a:off x="526244" y="5371790"/>
            <a:ext cx="4487614" cy="805172"/>
          </a:xfrm>
          <a:prstGeom prst="rect">
            <a:avLst/>
          </a:prstGeom>
        </p:spPr>
      </p:pic>
    </p:spTree>
    <p:extLst>
      <p:ext uri="{BB962C8B-B14F-4D97-AF65-F5344CB8AC3E}">
        <p14:creationId xmlns:p14="http://schemas.microsoft.com/office/powerpoint/2010/main" val="9174899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81797"/>
          </a:xfrm>
        </p:spPr>
        <p:txBody>
          <a:bodyPr>
            <a:normAutofit/>
          </a:bodyPr>
          <a:lstStyle/>
          <a:p>
            <a:r>
              <a:rPr lang="bg-BG" sz="3200" dirty="0">
                <a:latin typeface="Arial" panose="020B0604020202020204" pitchFamily="34" charset="0"/>
                <a:cs typeface="Arial" panose="020B0604020202020204" pitchFamily="34" charset="0"/>
              </a:rPr>
              <a:t>Обекти, връзки, ключови атрибути:</a:t>
            </a:r>
          </a:p>
        </p:txBody>
      </p:sp>
      <p:sp>
        <p:nvSpPr>
          <p:cNvPr id="3" name="Content Placeholder 2"/>
          <p:cNvSpPr>
            <a:spLocks noGrp="1"/>
          </p:cNvSpPr>
          <p:nvPr>
            <p:ph idx="1"/>
          </p:nvPr>
        </p:nvSpPr>
        <p:spPr>
          <a:xfrm>
            <a:off x="397565" y="914399"/>
            <a:ext cx="10956235" cy="5262563"/>
          </a:xfrm>
        </p:spPr>
        <p:txBody>
          <a:bodyPr/>
          <a:lstStyle/>
          <a:p>
            <a:pPr marL="0" indent="0" fontAlgn="base">
              <a:spcBef>
                <a:spcPts val="0"/>
              </a:spcBef>
              <a:buNone/>
            </a:pPr>
            <a:r>
              <a:rPr lang="bg-BG" sz="2400" b="1" dirty="0"/>
              <a:t>Обекти в нашата база данни:</a:t>
            </a:r>
            <a:endParaRPr lang="bg-BG" sz="2400" dirty="0"/>
          </a:p>
          <a:p>
            <a:pPr fontAlgn="base">
              <a:spcBef>
                <a:spcPts val="0"/>
              </a:spcBef>
            </a:pPr>
            <a:r>
              <a:rPr lang="en-US" sz="2400" dirty="0" err="1"/>
              <a:t>SportGroups</a:t>
            </a:r>
            <a:endParaRPr lang="en-US" sz="2400" dirty="0"/>
          </a:p>
          <a:p>
            <a:pPr fontAlgn="base">
              <a:spcBef>
                <a:spcPts val="0"/>
              </a:spcBef>
            </a:pPr>
            <a:r>
              <a:rPr lang="en-US" sz="2400" dirty="0"/>
              <a:t>Students</a:t>
            </a:r>
          </a:p>
          <a:p>
            <a:pPr fontAlgn="base">
              <a:spcBef>
                <a:spcPts val="0"/>
              </a:spcBef>
            </a:pPr>
            <a:r>
              <a:rPr lang="en-US" sz="2400" dirty="0"/>
              <a:t>Coaches</a:t>
            </a:r>
          </a:p>
          <a:p>
            <a:pPr fontAlgn="base">
              <a:spcBef>
                <a:spcPts val="0"/>
              </a:spcBef>
            </a:pPr>
            <a:r>
              <a:rPr lang="en-US" sz="2400" dirty="0"/>
              <a:t>Sports</a:t>
            </a:r>
            <a:endParaRPr lang="bg-BG" sz="2400" dirty="0"/>
          </a:p>
          <a:p>
            <a:pPr marL="0" indent="0" fontAlgn="base">
              <a:spcBef>
                <a:spcPts val="0"/>
              </a:spcBef>
              <a:buNone/>
            </a:pPr>
            <a:r>
              <a:rPr lang="bg-BG" sz="2400" b="1" dirty="0"/>
              <a:t>Връзките между обектите:</a:t>
            </a:r>
          </a:p>
          <a:p>
            <a:pPr marL="0" indent="0" fontAlgn="base">
              <a:spcBef>
                <a:spcPts val="0"/>
              </a:spcBef>
              <a:buNone/>
            </a:pPr>
            <a:endParaRPr lang="bg-BG" sz="2400" b="1" dirty="0"/>
          </a:p>
          <a:p>
            <a:pPr fontAlgn="base">
              <a:spcBef>
                <a:spcPts val="0"/>
              </a:spcBef>
            </a:pPr>
            <a:endParaRPr lang="bg-BG" sz="2400" dirty="0"/>
          </a:p>
          <a:p>
            <a:pPr fontAlgn="base">
              <a:spcBef>
                <a:spcPts val="0"/>
              </a:spcBef>
            </a:pPr>
            <a:endParaRPr lang="en-US" sz="2400" dirty="0"/>
          </a:p>
          <a:p>
            <a:endParaRPr lang="bg-BG" dirty="0"/>
          </a:p>
        </p:txBody>
      </p:sp>
      <p:pic>
        <p:nvPicPr>
          <p:cNvPr id="4" name="Picture 3"/>
          <p:cNvPicPr>
            <a:picLocks noChangeAspect="1"/>
          </p:cNvPicPr>
          <p:nvPr/>
        </p:nvPicPr>
        <p:blipFill>
          <a:blip r:embed="rId2"/>
          <a:stretch>
            <a:fillRect/>
          </a:stretch>
        </p:blipFill>
        <p:spPr>
          <a:xfrm>
            <a:off x="499046" y="3134048"/>
            <a:ext cx="4514812" cy="823266"/>
          </a:xfrm>
          <a:prstGeom prst="rect">
            <a:avLst/>
          </a:prstGeom>
        </p:spPr>
      </p:pic>
      <p:pic>
        <p:nvPicPr>
          <p:cNvPr id="5" name="Picture 4"/>
          <p:cNvPicPr>
            <a:picLocks noChangeAspect="1"/>
          </p:cNvPicPr>
          <p:nvPr/>
        </p:nvPicPr>
        <p:blipFill>
          <a:blip r:embed="rId3"/>
          <a:stretch>
            <a:fillRect/>
          </a:stretch>
        </p:blipFill>
        <p:spPr>
          <a:xfrm>
            <a:off x="526244" y="4261966"/>
            <a:ext cx="4487614" cy="805172"/>
          </a:xfrm>
          <a:prstGeom prst="rect">
            <a:avLst/>
          </a:prstGeom>
        </p:spPr>
      </p:pic>
      <p:pic>
        <p:nvPicPr>
          <p:cNvPr id="6" name="Picture 5"/>
          <p:cNvPicPr>
            <a:picLocks noChangeAspect="1"/>
          </p:cNvPicPr>
          <p:nvPr/>
        </p:nvPicPr>
        <p:blipFill>
          <a:blip r:embed="rId4"/>
          <a:stretch>
            <a:fillRect/>
          </a:stretch>
        </p:blipFill>
        <p:spPr>
          <a:xfrm>
            <a:off x="526244" y="5371790"/>
            <a:ext cx="4487614" cy="805172"/>
          </a:xfrm>
          <a:prstGeom prst="rect">
            <a:avLst/>
          </a:prstGeom>
        </p:spPr>
      </p:pic>
    </p:spTree>
    <p:extLst>
      <p:ext uri="{BB962C8B-B14F-4D97-AF65-F5344CB8AC3E}">
        <p14:creationId xmlns:p14="http://schemas.microsoft.com/office/powerpoint/2010/main" val="26907099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7619"/>
          </a:xfrm>
        </p:spPr>
        <p:txBody>
          <a:bodyPr/>
          <a:lstStyle/>
          <a:p>
            <a:endParaRPr lang="bg-BG" dirty="0"/>
          </a:p>
        </p:txBody>
      </p:sp>
      <p:pic>
        <p:nvPicPr>
          <p:cNvPr id="4" name="Content Placeholder 4"/>
          <p:cNvPicPr>
            <a:picLocks noGrp="1" noChangeAspect="1"/>
          </p:cNvPicPr>
          <p:nvPr>
            <p:ph idx="1"/>
          </p:nvPr>
        </p:nvPicPr>
        <p:blipFill>
          <a:blip r:embed="rId2"/>
          <a:stretch>
            <a:fillRect/>
          </a:stretch>
        </p:blipFill>
        <p:spPr>
          <a:xfrm>
            <a:off x="5035417" y="1203767"/>
            <a:ext cx="5381798" cy="5123667"/>
          </a:xfrm>
          <a:prstGeom prst="rect">
            <a:avLst/>
          </a:prstGeom>
        </p:spPr>
      </p:pic>
    </p:spTree>
    <p:extLst>
      <p:ext uri="{BB962C8B-B14F-4D97-AF65-F5344CB8AC3E}">
        <p14:creationId xmlns:p14="http://schemas.microsoft.com/office/powerpoint/2010/main" val="31307916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Писане на </a:t>
            </a:r>
            <a:r>
              <a:rPr lang="en-US" dirty="0"/>
              <a:t>SQL Create  Database &amp; tables</a:t>
            </a:r>
            <a:endParaRPr lang="bg-BG" dirty="0"/>
          </a:p>
        </p:txBody>
      </p:sp>
      <p:sp>
        <p:nvSpPr>
          <p:cNvPr id="3" name="Content Placeholder 2"/>
          <p:cNvSpPr>
            <a:spLocks noGrp="1"/>
          </p:cNvSpPr>
          <p:nvPr>
            <p:ph idx="1"/>
          </p:nvPr>
        </p:nvSpPr>
        <p:spPr>
          <a:xfrm>
            <a:off x="838200" y="1423686"/>
            <a:ext cx="10515600" cy="4753277"/>
          </a:xfrm>
        </p:spPr>
        <p:txBody>
          <a:bodyPr>
            <a:normAutofit fontScale="92500" lnSpcReduction="20000"/>
          </a:bodyPr>
          <a:lstStyle/>
          <a:p>
            <a:pPr marL="0" indent="0">
              <a:buNone/>
            </a:pPr>
            <a:r>
              <a:rPr lang="en-US" dirty="0"/>
              <a:t>CREATE DATABASE </a:t>
            </a:r>
            <a:r>
              <a:rPr lang="en-US" dirty="0">
                <a:solidFill>
                  <a:srgbClr val="FF0000"/>
                </a:solidFill>
              </a:rPr>
              <a:t>_92_ksig;</a:t>
            </a:r>
          </a:p>
          <a:p>
            <a:pPr marL="0" indent="0">
              <a:buNone/>
            </a:pPr>
            <a:r>
              <a:rPr lang="en-US" dirty="0"/>
              <a:t>USE </a:t>
            </a:r>
            <a:r>
              <a:rPr lang="en-US" dirty="0">
                <a:solidFill>
                  <a:srgbClr val="FF0000"/>
                </a:solidFill>
              </a:rPr>
              <a:t>_92_ksig</a:t>
            </a:r>
            <a:r>
              <a:rPr lang="en-US" dirty="0"/>
              <a:t>;</a:t>
            </a:r>
          </a:p>
          <a:p>
            <a:endParaRPr lang="en-US" dirty="0"/>
          </a:p>
          <a:p>
            <a:pPr marL="0" indent="0">
              <a:buNone/>
            </a:pPr>
            <a:r>
              <a:rPr lang="en-US" dirty="0"/>
              <a:t>CREATE TABLE </a:t>
            </a:r>
            <a:r>
              <a:rPr lang="en-US" dirty="0">
                <a:solidFill>
                  <a:srgbClr val="00B0F0"/>
                </a:solidFill>
              </a:rPr>
              <a:t>students</a:t>
            </a:r>
            <a:r>
              <a:rPr lang="en-US" dirty="0"/>
              <a:t>(</a:t>
            </a:r>
          </a:p>
          <a:p>
            <a:pPr marL="0" indent="0">
              <a:buNone/>
            </a:pPr>
            <a:r>
              <a:rPr lang="en-US" dirty="0"/>
              <a:t>id INT AUTO_INCREMENT PRIMARY KEY,</a:t>
            </a:r>
          </a:p>
          <a:p>
            <a:pPr marL="0" indent="0">
              <a:buNone/>
            </a:pPr>
            <a:r>
              <a:rPr lang="en-US" dirty="0"/>
              <a:t>name VARCHAR(255) NOT NULL,</a:t>
            </a:r>
          </a:p>
          <a:p>
            <a:pPr marL="0" indent="0">
              <a:buNone/>
            </a:pPr>
            <a:r>
              <a:rPr lang="en-US" dirty="0" err="1"/>
              <a:t>egn</a:t>
            </a:r>
            <a:r>
              <a:rPr lang="en-US" dirty="0"/>
              <a:t> VARCHAR(10) NOT NULL UNIQUE,</a:t>
            </a:r>
          </a:p>
          <a:p>
            <a:pPr marL="0" indent="0">
              <a:buNone/>
            </a:pPr>
            <a:r>
              <a:rPr lang="en-US" dirty="0"/>
              <a:t>address VARCHAR(255) NOT NULL,</a:t>
            </a:r>
          </a:p>
          <a:p>
            <a:pPr marL="0" indent="0">
              <a:buNone/>
            </a:pPr>
            <a:r>
              <a:rPr lang="en-US" dirty="0"/>
              <a:t>phone VARCHAR(20) NULL DEFAULT NULL,</a:t>
            </a:r>
          </a:p>
          <a:p>
            <a:pPr marL="0" indent="0">
              <a:buNone/>
            </a:pPr>
            <a:r>
              <a:rPr lang="en-US" dirty="0"/>
              <a:t>class VARCHAR(10) NULL DEFAULT NULL   </a:t>
            </a:r>
          </a:p>
          <a:p>
            <a:pPr marL="0" indent="0">
              <a:buNone/>
            </a:pPr>
            <a:r>
              <a:rPr lang="en-US" dirty="0"/>
              <a:t>);</a:t>
            </a:r>
            <a:endParaRPr lang="bg-BG" dirty="0"/>
          </a:p>
        </p:txBody>
      </p:sp>
    </p:spTree>
    <p:extLst>
      <p:ext uri="{BB962C8B-B14F-4D97-AF65-F5344CB8AC3E}">
        <p14:creationId xmlns:p14="http://schemas.microsoft.com/office/powerpoint/2010/main" val="12231980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3476" y="399849"/>
            <a:ext cx="10515600" cy="688171"/>
          </a:xfrm>
        </p:spPr>
        <p:txBody>
          <a:bodyPr>
            <a:normAutofit fontScale="90000"/>
          </a:bodyPr>
          <a:lstStyle/>
          <a:p>
            <a:endParaRPr lang="bg-BG" dirty="0"/>
          </a:p>
        </p:txBody>
      </p:sp>
      <p:pic>
        <p:nvPicPr>
          <p:cNvPr id="4" name="Content Placeholder 3"/>
          <p:cNvPicPr>
            <a:picLocks noGrp="1" noChangeAspect="1"/>
          </p:cNvPicPr>
          <p:nvPr>
            <p:ph idx="1"/>
          </p:nvPr>
        </p:nvPicPr>
        <p:blipFill>
          <a:blip r:embed="rId2"/>
          <a:stretch>
            <a:fillRect/>
          </a:stretch>
        </p:blipFill>
        <p:spPr>
          <a:xfrm>
            <a:off x="803477" y="1250066"/>
            <a:ext cx="9544290" cy="5204689"/>
          </a:xfrm>
          <a:prstGeom prst="rect">
            <a:avLst/>
          </a:prstGeom>
        </p:spPr>
      </p:pic>
    </p:spTree>
    <p:extLst>
      <p:ext uri="{BB962C8B-B14F-4D97-AF65-F5344CB8AC3E}">
        <p14:creationId xmlns:p14="http://schemas.microsoft.com/office/powerpoint/2010/main" val="24422119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73366"/>
          </a:xfrm>
        </p:spPr>
        <p:txBody>
          <a:bodyPr/>
          <a:lstStyle/>
          <a:p>
            <a:endParaRPr lang="bg-BG" dirty="0"/>
          </a:p>
        </p:txBody>
      </p:sp>
      <p:sp>
        <p:nvSpPr>
          <p:cNvPr id="3" name="Content Placeholder 2"/>
          <p:cNvSpPr>
            <a:spLocks noGrp="1"/>
          </p:cNvSpPr>
          <p:nvPr>
            <p:ph idx="1"/>
          </p:nvPr>
        </p:nvSpPr>
        <p:spPr>
          <a:xfrm>
            <a:off x="838200" y="1435261"/>
            <a:ext cx="10515600" cy="4741702"/>
          </a:xfrm>
        </p:spPr>
        <p:txBody>
          <a:bodyPr>
            <a:normAutofit lnSpcReduction="10000"/>
          </a:bodyPr>
          <a:lstStyle/>
          <a:p>
            <a:pPr marL="0" indent="0">
              <a:buNone/>
            </a:pPr>
            <a:r>
              <a:rPr lang="en-US" dirty="0"/>
              <a:t>CREATE TABLE </a:t>
            </a:r>
            <a:r>
              <a:rPr lang="en-US" dirty="0">
                <a:solidFill>
                  <a:srgbClr val="00B0F0"/>
                </a:solidFill>
              </a:rPr>
              <a:t>sports</a:t>
            </a:r>
            <a:r>
              <a:rPr lang="en-US" dirty="0"/>
              <a:t>(</a:t>
            </a:r>
          </a:p>
          <a:p>
            <a:pPr marL="0" indent="0">
              <a:buNone/>
            </a:pPr>
            <a:r>
              <a:rPr lang="en-US" dirty="0"/>
              <a:t>id INT AUTO_INCREMENT PRIMARY KEY,</a:t>
            </a:r>
          </a:p>
          <a:p>
            <a:pPr marL="0" indent="0">
              <a:buNone/>
            </a:pPr>
            <a:r>
              <a:rPr lang="en-US" dirty="0"/>
              <a:t>name VARCHAR(255) NOT NULL</a:t>
            </a:r>
          </a:p>
          <a:p>
            <a:pPr marL="0" indent="0">
              <a:buNone/>
            </a:pPr>
            <a:r>
              <a:rPr lang="en-US" dirty="0"/>
              <a:t>);</a:t>
            </a:r>
          </a:p>
          <a:p>
            <a:endParaRPr lang="en-US" dirty="0"/>
          </a:p>
          <a:p>
            <a:pPr marL="0" indent="0">
              <a:buNone/>
            </a:pPr>
            <a:r>
              <a:rPr lang="en-US" dirty="0"/>
              <a:t>CREATE TABLE </a:t>
            </a:r>
            <a:r>
              <a:rPr lang="en-US" dirty="0">
                <a:solidFill>
                  <a:srgbClr val="00B0F0"/>
                </a:solidFill>
              </a:rPr>
              <a:t>coaches</a:t>
            </a:r>
            <a:r>
              <a:rPr lang="en-US" dirty="0"/>
              <a:t>(</a:t>
            </a:r>
          </a:p>
          <a:p>
            <a:pPr marL="0" indent="0">
              <a:buNone/>
            </a:pPr>
            <a:r>
              <a:rPr lang="en-US" dirty="0"/>
              <a:t>id INT AUTO_INCREMENT PRIMARY KEY,</a:t>
            </a:r>
          </a:p>
          <a:p>
            <a:pPr marL="0" indent="0">
              <a:buNone/>
            </a:pPr>
            <a:r>
              <a:rPr lang="en-US" dirty="0"/>
              <a:t>name VARCHAR(255) NOT NULL,</a:t>
            </a:r>
          </a:p>
          <a:p>
            <a:pPr marL="0" indent="0">
              <a:buNone/>
            </a:pPr>
            <a:r>
              <a:rPr lang="en-US" dirty="0" err="1"/>
              <a:t>egn</a:t>
            </a:r>
            <a:r>
              <a:rPr lang="en-US" dirty="0"/>
              <a:t> VARCHAR(10) NOT NULL UNIQUE</a:t>
            </a:r>
          </a:p>
          <a:p>
            <a:pPr marL="0" indent="0">
              <a:buNone/>
            </a:pPr>
            <a:r>
              <a:rPr lang="en-US" dirty="0"/>
              <a:t>);</a:t>
            </a:r>
          </a:p>
          <a:p>
            <a:endParaRPr lang="bg-BG" dirty="0"/>
          </a:p>
        </p:txBody>
      </p:sp>
    </p:spTree>
    <p:extLst>
      <p:ext uri="{BB962C8B-B14F-4D97-AF65-F5344CB8AC3E}">
        <p14:creationId xmlns:p14="http://schemas.microsoft.com/office/powerpoint/2010/main" val="19214929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68252"/>
          </a:xfrm>
        </p:spPr>
        <p:txBody>
          <a:bodyPr>
            <a:normAutofit fontScale="90000"/>
          </a:bodyPr>
          <a:lstStyle/>
          <a:p>
            <a:endParaRPr lang="bg-BG" dirty="0"/>
          </a:p>
        </p:txBody>
      </p:sp>
      <p:pic>
        <p:nvPicPr>
          <p:cNvPr id="4" name="Content Placeholder 3"/>
          <p:cNvPicPr>
            <a:picLocks noGrp="1" noChangeAspect="1"/>
          </p:cNvPicPr>
          <p:nvPr>
            <p:ph idx="1"/>
          </p:nvPr>
        </p:nvPicPr>
        <p:blipFill>
          <a:blip r:embed="rId2"/>
          <a:stretch>
            <a:fillRect/>
          </a:stretch>
        </p:blipFill>
        <p:spPr>
          <a:xfrm>
            <a:off x="1622005" y="1146175"/>
            <a:ext cx="8947990" cy="5030788"/>
          </a:xfrm>
          <a:prstGeom prst="rect">
            <a:avLst/>
          </a:prstGeom>
        </p:spPr>
      </p:pic>
    </p:spTree>
    <p:extLst>
      <p:ext uri="{BB962C8B-B14F-4D97-AF65-F5344CB8AC3E}">
        <p14:creationId xmlns:p14="http://schemas.microsoft.com/office/powerpoint/2010/main" val="31507027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60850"/>
          </a:xfrm>
        </p:spPr>
        <p:txBody>
          <a:bodyPr>
            <a:normAutofit fontScale="90000"/>
          </a:bodyPr>
          <a:lstStyle/>
          <a:p>
            <a:endParaRPr lang="bg-BG" dirty="0"/>
          </a:p>
        </p:txBody>
      </p:sp>
      <p:sp>
        <p:nvSpPr>
          <p:cNvPr id="3" name="Content Placeholder 2"/>
          <p:cNvSpPr>
            <a:spLocks noGrp="1"/>
          </p:cNvSpPr>
          <p:nvPr>
            <p:ph idx="1"/>
          </p:nvPr>
        </p:nvSpPr>
        <p:spPr>
          <a:xfrm>
            <a:off x="838200" y="1238491"/>
            <a:ext cx="10515600" cy="4938472"/>
          </a:xfrm>
        </p:spPr>
        <p:txBody>
          <a:bodyPr/>
          <a:lstStyle/>
          <a:p>
            <a:pPr marL="0" indent="0">
              <a:buNone/>
            </a:pPr>
            <a:r>
              <a:rPr lang="en-US" dirty="0"/>
              <a:t>CREATE TABLE </a:t>
            </a:r>
            <a:r>
              <a:rPr lang="en-US" dirty="0" err="1">
                <a:solidFill>
                  <a:srgbClr val="00B0F0"/>
                </a:solidFill>
              </a:rPr>
              <a:t>sportGroups</a:t>
            </a:r>
            <a:r>
              <a:rPr lang="en-US" dirty="0"/>
              <a:t>(</a:t>
            </a:r>
          </a:p>
          <a:p>
            <a:pPr marL="0" indent="0">
              <a:buNone/>
            </a:pPr>
            <a:r>
              <a:rPr lang="en-US" dirty="0"/>
              <a:t>id INT AUTO_INCREMENT PRIMARY KEY,</a:t>
            </a:r>
          </a:p>
          <a:p>
            <a:pPr marL="0" indent="0">
              <a:buNone/>
            </a:pPr>
            <a:r>
              <a:rPr lang="en-US" dirty="0"/>
              <a:t>location VARCHAR(255) NOT NULL,</a:t>
            </a:r>
          </a:p>
          <a:p>
            <a:pPr marL="0" indent="0">
              <a:buNone/>
            </a:pPr>
            <a:r>
              <a:rPr lang="en-US" dirty="0" err="1"/>
              <a:t>dayOfWeek</a:t>
            </a:r>
            <a:r>
              <a:rPr lang="en-US" dirty="0"/>
              <a:t> ENUM('Monday','Tuesday','Wednesday','Thursday','Friday','Saturday','Sunday'),</a:t>
            </a:r>
          </a:p>
          <a:p>
            <a:pPr marL="0" indent="0">
              <a:buNone/>
            </a:pPr>
            <a:r>
              <a:rPr lang="en-US" dirty="0" err="1"/>
              <a:t>hourOfTraining</a:t>
            </a:r>
            <a:r>
              <a:rPr lang="en-US" dirty="0"/>
              <a:t> TIME NOT NULL,</a:t>
            </a:r>
          </a:p>
          <a:p>
            <a:pPr marL="0" indent="0">
              <a:buNone/>
            </a:pPr>
            <a:r>
              <a:rPr lang="en-US" dirty="0"/>
              <a:t>UNIQUE KEY(</a:t>
            </a:r>
            <a:r>
              <a:rPr lang="en-US" dirty="0" err="1"/>
              <a:t>location,dayOfWeek,hourOfTraining</a:t>
            </a:r>
            <a:r>
              <a:rPr lang="en-US" dirty="0"/>
              <a:t>)</a:t>
            </a:r>
          </a:p>
          <a:p>
            <a:pPr marL="0" indent="0">
              <a:buNone/>
            </a:pPr>
            <a:r>
              <a:rPr lang="en-US" dirty="0"/>
              <a:t>);</a:t>
            </a:r>
            <a:endParaRPr lang="bg-BG" dirty="0"/>
          </a:p>
        </p:txBody>
      </p:sp>
    </p:spTree>
    <p:extLst>
      <p:ext uri="{BB962C8B-B14F-4D97-AF65-F5344CB8AC3E}">
        <p14:creationId xmlns:p14="http://schemas.microsoft.com/office/powerpoint/2010/main" val="6192984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50217"/>
          </a:xfrm>
        </p:spPr>
        <p:txBody>
          <a:bodyPr/>
          <a:lstStyle/>
          <a:p>
            <a:endParaRPr lang="bg-BG" dirty="0"/>
          </a:p>
        </p:txBody>
      </p:sp>
      <p:sp>
        <p:nvSpPr>
          <p:cNvPr id="3" name="Content Placeholder 2"/>
          <p:cNvSpPr>
            <a:spLocks noGrp="1"/>
          </p:cNvSpPr>
          <p:nvPr>
            <p:ph idx="1"/>
          </p:nvPr>
        </p:nvSpPr>
        <p:spPr>
          <a:xfrm>
            <a:off x="838200" y="1388962"/>
            <a:ext cx="10515600" cy="4788001"/>
          </a:xfrm>
        </p:spPr>
        <p:txBody>
          <a:bodyPr>
            <a:normAutofit fontScale="92500" lnSpcReduction="20000"/>
          </a:bodyPr>
          <a:lstStyle/>
          <a:p>
            <a:pPr marL="0" indent="0">
              <a:buNone/>
            </a:pPr>
            <a:r>
              <a:rPr lang="en-US" dirty="0"/>
              <a:t>ALTER TABLE </a:t>
            </a:r>
            <a:r>
              <a:rPr lang="en-US" dirty="0" err="1"/>
              <a:t>sportGroups</a:t>
            </a:r>
            <a:endParaRPr lang="en-US" dirty="0"/>
          </a:p>
          <a:p>
            <a:pPr marL="0" indent="0">
              <a:buNone/>
            </a:pPr>
            <a:r>
              <a:rPr lang="en-US" dirty="0"/>
              <a:t>ADD </a:t>
            </a:r>
            <a:r>
              <a:rPr lang="en-US" dirty="0" err="1"/>
              <a:t>sport_id</a:t>
            </a:r>
            <a:r>
              <a:rPr lang="en-US" dirty="0"/>
              <a:t> INT NOT NULL;</a:t>
            </a:r>
          </a:p>
          <a:p>
            <a:pPr marL="0" indent="0">
              <a:buNone/>
            </a:pPr>
            <a:endParaRPr lang="en-US" dirty="0"/>
          </a:p>
          <a:p>
            <a:pPr marL="0" indent="0">
              <a:buNone/>
            </a:pPr>
            <a:r>
              <a:rPr lang="en-US" dirty="0"/>
              <a:t>ALTER TABLE </a:t>
            </a:r>
            <a:r>
              <a:rPr lang="en-US" dirty="0" err="1"/>
              <a:t>sportGroups</a:t>
            </a:r>
            <a:endParaRPr lang="en-US" dirty="0"/>
          </a:p>
          <a:p>
            <a:pPr marL="0" indent="0">
              <a:buNone/>
            </a:pPr>
            <a:r>
              <a:rPr lang="en-US" dirty="0"/>
              <a:t>ADD CONSTRAINT FOREIGN KEY(</a:t>
            </a:r>
            <a:r>
              <a:rPr lang="en-US" dirty="0" err="1"/>
              <a:t>sport_id</a:t>
            </a:r>
            <a:r>
              <a:rPr lang="en-US" dirty="0"/>
              <a:t>) REFERENCES sports(id);</a:t>
            </a:r>
          </a:p>
          <a:p>
            <a:pPr marL="0" indent="0">
              <a:buNone/>
            </a:pPr>
            <a:endParaRPr lang="en-US" dirty="0"/>
          </a:p>
          <a:p>
            <a:pPr marL="0" indent="0">
              <a:buNone/>
            </a:pPr>
            <a:r>
              <a:rPr lang="en-US" dirty="0"/>
              <a:t>ALTER TABLE </a:t>
            </a:r>
            <a:r>
              <a:rPr lang="en-US" dirty="0" err="1"/>
              <a:t>sportGroups</a:t>
            </a:r>
            <a:endParaRPr lang="en-US" dirty="0"/>
          </a:p>
          <a:p>
            <a:pPr marL="0" indent="0">
              <a:buNone/>
            </a:pPr>
            <a:r>
              <a:rPr lang="en-US" dirty="0"/>
              <a:t>ADD </a:t>
            </a:r>
            <a:r>
              <a:rPr lang="en-US" dirty="0" err="1"/>
              <a:t>coach_id</a:t>
            </a:r>
            <a:r>
              <a:rPr lang="en-US" dirty="0"/>
              <a:t> INT;</a:t>
            </a:r>
          </a:p>
          <a:p>
            <a:pPr marL="0" indent="0">
              <a:buNone/>
            </a:pPr>
            <a:endParaRPr lang="en-US" dirty="0"/>
          </a:p>
          <a:p>
            <a:pPr marL="0" indent="0">
              <a:buNone/>
            </a:pPr>
            <a:r>
              <a:rPr lang="en-US" dirty="0"/>
              <a:t>ALTER TABLE </a:t>
            </a:r>
            <a:r>
              <a:rPr lang="en-US" dirty="0" err="1"/>
              <a:t>sportGroups</a:t>
            </a:r>
            <a:endParaRPr lang="en-US" dirty="0"/>
          </a:p>
          <a:p>
            <a:pPr marL="0" indent="0">
              <a:buNone/>
            </a:pPr>
            <a:r>
              <a:rPr lang="en-US" dirty="0"/>
              <a:t>ADD CONSTRAINT FOREIGN KEY (</a:t>
            </a:r>
            <a:r>
              <a:rPr lang="en-US" dirty="0" err="1"/>
              <a:t>coach_id</a:t>
            </a:r>
            <a:r>
              <a:rPr lang="en-US" dirty="0"/>
              <a:t>) REFERENCES coaches(id);</a:t>
            </a:r>
            <a:endParaRPr lang="bg-BG" dirty="0"/>
          </a:p>
        </p:txBody>
      </p:sp>
    </p:spTree>
    <p:extLst>
      <p:ext uri="{BB962C8B-B14F-4D97-AF65-F5344CB8AC3E}">
        <p14:creationId xmlns:p14="http://schemas.microsoft.com/office/powerpoint/2010/main" val="8311960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88171"/>
          </a:xfrm>
        </p:spPr>
        <p:txBody>
          <a:bodyPr>
            <a:normAutofit/>
          </a:bodyPr>
          <a:lstStyle/>
          <a:p>
            <a:r>
              <a:rPr lang="bg-BG" sz="2400" dirty="0"/>
              <a:t>Изглед на табл. </a:t>
            </a:r>
            <a:r>
              <a:rPr lang="en-US" sz="2400" dirty="0" err="1">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sportGroups</a:t>
            </a:r>
            <a:endParaRPr lang="bg-BG" sz="2400" dirty="0"/>
          </a:p>
        </p:txBody>
      </p:sp>
      <p:sp>
        <p:nvSpPr>
          <p:cNvPr id="3" name="Content Placeholder 2"/>
          <p:cNvSpPr>
            <a:spLocks noGrp="1"/>
          </p:cNvSpPr>
          <p:nvPr>
            <p:ph idx="1"/>
          </p:nvPr>
        </p:nvSpPr>
        <p:spPr>
          <a:xfrm>
            <a:off x="838200" y="1053296"/>
            <a:ext cx="10515600" cy="5123667"/>
          </a:xfrm>
        </p:spPr>
        <p:txBody>
          <a:bodyPr/>
          <a:lstStyle/>
          <a:p>
            <a:pPr marL="0" indent="0">
              <a:buNone/>
            </a:pPr>
            <a:endParaRPr lang="bg-BG" dirty="0"/>
          </a:p>
        </p:txBody>
      </p:sp>
      <p:sp>
        <p:nvSpPr>
          <p:cNvPr id="4" name="Rectangle 3"/>
          <p:cNvSpPr/>
          <p:nvPr/>
        </p:nvSpPr>
        <p:spPr>
          <a:xfrm>
            <a:off x="3048000" y="1103395"/>
            <a:ext cx="6443240" cy="5073568"/>
          </a:xfrm>
          <a:prstGeom prst="rect">
            <a:avLst/>
          </a:prstGeom>
        </p:spPr>
        <p:txBody>
          <a:bodyPr wrap="square">
            <a:spAutoFit/>
          </a:bodyPr>
          <a:lstStyle/>
          <a:p>
            <a:pPr>
              <a:lnSpc>
                <a:spcPct val="107000"/>
              </a:lnSpc>
              <a:spcAft>
                <a:spcPts val="800"/>
              </a:spcAft>
            </a:pPr>
            <a:r>
              <a:rPr lang="en-US" dirty="0">
                <a:effectLst/>
                <a:latin typeface="Calibri" panose="020F0502020204030204" pitchFamily="34" charset="0"/>
                <a:ea typeface="Calibri" panose="020F0502020204030204" pitchFamily="34" charset="0"/>
                <a:cs typeface="Times New Roman" panose="02020603050405020304" pitchFamily="18" charset="0"/>
              </a:rPr>
              <a:t>CREATE TABLE </a:t>
            </a:r>
            <a:r>
              <a:rPr lang="en-US" dirty="0" err="1">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sportGroups</a:t>
            </a:r>
            <a:r>
              <a:rPr lang="en-US" dirty="0">
                <a:effectLst/>
                <a:latin typeface="Calibri" panose="020F0502020204030204" pitchFamily="34" charset="0"/>
                <a:ea typeface="Calibri" panose="020F0502020204030204" pitchFamily="34" charset="0"/>
                <a:cs typeface="Times New Roman" panose="02020603050405020304" pitchFamily="18" charset="0"/>
              </a:rPr>
              <a:t>(</a:t>
            </a:r>
            <a:endParaRPr lang="bg-BG"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effectLst/>
                <a:latin typeface="Calibri" panose="020F0502020204030204" pitchFamily="34" charset="0"/>
                <a:ea typeface="Calibri" panose="020F0502020204030204" pitchFamily="34" charset="0"/>
                <a:cs typeface="Times New Roman" panose="02020603050405020304" pitchFamily="18" charset="0"/>
              </a:rPr>
              <a:t>id INT AUTO_INCREMENT PRIMARY KEY,</a:t>
            </a:r>
            <a:endParaRPr lang="bg-BG"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effectLst/>
                <a:latin typeface="Calibri" panose="020F0502020204030204" pitchFamily="34" charset="0"/>
                <a:ea typeface="Calibri" panose="020F0502020204030204" pitchFamily="34" charset="0"/>
                <a:cs typeface="Times New Roman" panose="02020603050405020304" pitchFamily="18" charset="0"/>
              </a:rPr>
              <a:t>location VARCHAR(255) NOT NULL,</a:t>
            </a:r>
            <a:endParaRPr lang="bg-BG"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err="1">
                <a:effectLst/>
                <a:latin typeface="Calibri" panose="020F0502020204030204" pitchFamily="34" charset="0"/>
                <a:ea typeface="Calibri" panose="020F0502020204030204" pitchFamily="34" charset="0"/>
                <a:cs typeface="Times New Roman" panose="02020603050405020304" pitchFamily="18" charset="0"/>
              </a:rPr>
              <a:t>dayOfWeek</a:t>
            </a:r>
            <a:endParaRPr lang="bg-BG"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effectLst/>
                <a:latin typeface="Calibri" panose="020F0502020204030204" pitchFamily="34" charset="0"/>
                <a:ea typeface="Calibri" panose="020F0502020204030204" pitchFamily="34" charset="0"/>
                <a:cs typeface="Times New Roman" panose="02020603050405020304" pitchFamily="18" charset="0"/>
              </a:rPr>
              <a:t>ENUM('Monday', 'Tuesday', 'Wednesday', 'Thursday', '</a:t>
            </a:r>
            <a:r>
              <a:rPr lang="en-US" dirty="0" err="1">
                <a:effectLst/>
                <a:latin typeface="Calibri" panose="020F0502020204030204" pitchFamily="34" charset="0"/>
                <a:ea typeface="Calibri" panose="020F0502020204030204" pitchFamily="34" charset="0"/>
                <a:cs typeface="Times New Roman" panose="02020603050405020304" pitchFamily="18" charset="0"/>
              </a:rPr>
              <a:t>Fraiday</a:t>
            </a:r>
            <a:r>
              <a:rPr lang="en-US" dirty="0">
                <a:effectLst/>
                <a:latin typeface="Calibri" panose="020F0502020204030204" pitchFamily="34" charset="0"/>
                <a:ea typeface="Calibri" panose="020F0502020204030204" pitchFamily="34" charset="0"/>
                <a:cs typeface="Times New Roman" panose="02020603050405020304" pitchFamily="18" charset="0"/>
              </a:rPr>
              <a:t>', 'Saturday', 'Sunday'),</a:t>
            </a:r>
            <a:endParaRPr lang="bg-BG"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err="1">
                <a:effectLst/>
                <a:latin typeface="Calibri" panose="020F0502020204030204" pitchFamily="34" charset="0"/>
                <a:ea typeface="Calibri" panose="020F0502020204030204" pitchFamily="34" charset="0"/>
                <a:cs typeface="Times New Roman" panose="02020603050405020304" pitchFamily="18" charset="0"/>
              </a:rPr>
              <a:t>hourOfTraining</a:t>
            </a:r>
            <a:r>
              <a:rPr lang="en-US" dirty="0">
                <a:effectLst/>
                <a:latin typeface="Calibri" panose="020F0502020204030204" pitchFamily="34" charset="0"/>
                <a:ea typeface="Calibri" panose="020F0502020204030204" pitchFamily="34" charset="0"/>
                <a:cs typeface="Times New Roman" panose="02020603050405020304" pitchFamily="18" charset="0"/>
              </a:rPr>
              <a:t> TIME NOT NULL,</a:t>
            </a:r>
            <a:endParaRPr lang="bg-BG"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err="1">
                <a:effectLst/>
                <a:latin typeface="Calibri" panose="020F0502020204030204" pitchFamily="34" charset="0"/>
                <a:ea typeface="Calibri" panose="020F0502020204030204" pitchFamily="34" charset="0"/>
                <a:cs typeface="Times New Roman" panose="02020603050405020304" pitchFamily="18" charset="0"/>
              </a:rPr>
              <a:t>sport_id</a:t>
            </a:r>
            <a:r>
              <a:rPr lang="en-US" dirty="0">
                <a:effectLst/>
                <a:latin typeface="Calibri" panose="020F0502020204030204" pitchFamily="34" charset="0"/>
                <a:ea typeface="Calibri" panose="020F0502020204030204" pitchFamily="34" charset="0"/>
                <a:cs typeface="Times New Roman" panose="02020603050405020304" pitchFamily="18" charset="0"/>
              </a:rPr>
              <a:t> INT NOT NULL,</a:t>
            </a:r>
            <a:endParaRPr lang="bg-BG"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err="1">
                <a:effectLst/>
                <a:latin typeface="Calibri" panose="020F0502020204030204" pitchFamily="34" charset="0"/>
                <a:ea typeface="Calibri" panose="020F0502020204030204" pitchFamily="34" charset="0"/>
                <a:cs typeface="Times New Roman" panose="02020603050405020304" pitchFamily="18" charset="0"/>
              </a:rPr>
              <a:t>coach_id</a:t>
            </a:r>
            <a:r>
              <a:rPr lang="en-US" dirty="0">
                <a:effectLst/>
                <a:latin typeface="Calibri" panose="020F0502020204030204" pitchFamily="34" charset="0"/>
                <a:ea typeface="Calibri" panose="020F0502020204030204" pitchFamily="34" charset="0"/>
                <a:cs typeface="Times New Roman" panose="02020603050405020304" pitchFamily="18" charset="0"/>
              </a:rPr>
              <a:t> INT NOT NULL,</a:t>
            </a:r>
            <a:endParaRPr lang="bg-BG"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effectLst/>
                <a:latin typeface="Calibri" panose="020F0502020204030204" pitchFamily="34" charset="0"/>
                <a:ea typeface="Calibri" panose="020F0502020204030204" pitchFamily="34" charset="0"/>
                <a:cs typeface="Times New Roman" panose="02020603050405020304" pitchFamily="18" charset="0"/>
              </a:rPr>
              <a:t>UNIQUE KEY (location, </a:t>
            </a:r>
            <a:r>
              <a:rPr lang="en-US" dirty="0" err="1">
                <a:effectLst/>
                <a:latin typeface="Calibri" panose="020F0502020204030204" pitchFamily="34" charset="0"/>
                <a:ea typeface="Calibri" panose="020F0502020204030204" pitchFamily="34" charset="0"/>
                <a:cs typeface="Times New Roman" panose="02020603050405020304" pitchFamily="18" charset="0"/>
              </a:rPr>
              <a:t>dayOfWeek</a:t>
            </a:r>
            <a:r>
              <a:rPr lang="en-US" dirty="0">
                <a:effectLst/>
                <a:latin typeface="Calibri" panose="020F0502020204030204" pitchFamily="34" charset="0"/>
                <a:ea typeface="Calibri" panose="020F0502020204030204" pitchFamily="34" charset="0"/>
                <a:cs typeface="Times New Roman" panose="02020603050405020304" pitchFamily="18" charset="0"/>
              </a:rPr>
              <a:t>, </a:t>
            </a:r>
            <a:r>
              <a:rPr lang="en-US" dirty="0" err="1">
                <a:effectLst/>
                <a:latin typeface="Calibri" panose="020F0502020204030204" pitchFamily="34" charset="0"/>
                <a:ea typeface="Calibri" panose="020F0502020204030204" pitchFamily="34" charset="0"/>
                <a:cs typeface="Times New Roman" panose="02020603050405020304" pitchFamily="18" charset="0"/>
              </a:rPr>
              <a:t>hourOfTraining</a:t>
            </a:r>
            <a:r>
              <a:rPr lang="en-US" dirty="0">
                <a:effectLst/>
                <a:latin typeface="Calibri" panose="020F0502020204030204" pitchFamily="34" charset="0"/>
                <a:ea typeface="Calibri" panose="020F0502020204030204" pitchFamily="34" charset="0"/>
                <a:cs typeface="Times New Roman" panose="02020603050405020304" pitchFamily="18" charset="0"/>
              </a:rPr>
              <a:t>),</a:t>
            </a:r>
            <a:endParaRPr lang="bg-BG"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effectLst/>
                <a:latin typeface="Calibri" panose="020F0502020204030204" pitchFamily="34" charset="0"/>
                <a:ea typeface="Calibri" panose="020F0502020204030204" pitchFamily="34" charset="0"/>
                <a:cs typeface="Times New Roman" panose="02020603050405020304" pitchFamily="18" charset="0"/>
              </a:rPr>
              <a:t>CONSTRAINT FOREIGN KEY (</a:t>
            </a:r>
            <a:r>
              <a:rPr lang="en-US" dirty="0" err="1">
                <a:effectLst/>
                <a:latin typeface="Calibri" panose="020F0502020204030204" pitchFamily="34" charset="0"/>
                <a:ea typeface="Calibri" panose="020F0502020204030204" pitchFamily="34" charset="0"/>
                <a:cs typeface="Times New Roman" panose="02020603050405020304" pitchFamily="18" charset="0"/>
              </a:rPr>
              <a:t>sport_id</a:t>
            </a:r>
            <a:r>
              <a:rPr lang="en-US" dirty="0">
                <a:effectLst/>
                <a:latin typeface="Calibri" panose="020F0502020204030204" pitchFamily="34" charset="0"/>
                <a:ea typeface="Calibri" panose="020F0502020204030204" pitchFamily="34" charset="0"/>
                <a:cs typeface="Times New Roman" panose="02020603050405020304" pitchFamily="18" charset="0"/>
              </a:rPr>
              <a:t>) REFERENCES sports(id) ,</a:t>
            </a:r>
            <a:endParaRPr lang="bg-BG"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effectLst/>
                <a:latin typeface="Calibri" panose="020F0502020204030204" pitchFamily="34" charset="0"/>
                <a:ea typeface="Calibri" panose="020F0502020204030204" pitchFamily="34" charset="0"/>
                <a:cs typeface="Times New Roman" panose="02020603050405020304" pitchFamily="18" charset="0"/>
              </a:rPr>
              <a:t>CONSTRAINT FOREIGN KEY (</a:t>
            </a:r>
            <a:r>
              <a:rPr lang="en-US" dirty="0" err="1">
                <a:effectLst/>
                <a:latin typeface="Calibri" panose="020F0502020204030204" pitchFamily="34" charset="0"/>
                <a:ea typeface="Calibri" panose="020F0502020204030204" pitchFamily="34" charset="0"/>
                <a:cs typeface="Times New Roman" panose="02020603050405020304" pitchFamily="18" charset="0"/>
              </a:rPr>
              <a:t>coach_id</a:t>
            </a:r>
            <a:r>
              <a:rPr lang="en-US" dirty="0">
                <a:effectLst/>
                <a:latin typeface="Calibri" panose="020F0502020204030204" pitchFamily="34" charset="0"/>
                <a:ea typeface="Calibri" panose="020F0502020204030204" pitchFamily="34" charset="0"/>
                <a:cs typeface="Times New Roman" panose="02020603050405020304" pitchFamily="18" charset="0"/>
              </a:rPr>
              <a:t>) REFERENCES coaches(id)</a:t>
            </a:r>
            <a:endParaRPr lang="bg-BG"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effectLst/>
                <a:latin typeface="Calibri" panose="020F0502020204030204" pitchFamily="34" charset="0"/>
                <a:ea typeface="Calibri" panose="020F0502020204030204" pitchFamily="34" charset="0"/>
                <a:cs typeface="Times New Roman" panose="02020603050405020304" pitchFamily="18" charset="0"/>
              </a:rPr>
              <a:t>);</a:t>
            </a:r>
            <a:endParaRPr lang="bg-BG"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092675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88275"/>
            <a:ext cx="10515600" cy="583999"/>
          </a:xfrm>
        </p:spPr>
        <p:txBody>
          <a:bodyPr>
            <a:normAutofit fontScale="90000"/>
          </a:bodyPr>
          <a:lstStyle/>
          <a:p>
            <a:endParaRPr lang="bg-BG" dirty="0"/>
          </a:p>
        </p:txBody>
      </p:sp>
      <p:pic>
        <p:nvPicPr>
          <p:cNvPr id="4" name="Content Placeholder 3"/>
          <p:cNvPicPr>
            <a:picLocks noGrp="1" noChangeAspect="1"/>
          </p:cNvPicPr>
          <p:nvPr>
            <p:ph idx="1"/>
          </p:nvPr>
        </p:nvPicPr>
        <p:blipFill>
          <a:blip r:embed="rId2"/>
          <a:stretch>
            <a:fillRect/>
          </a:stretch>
        </p:blipFill>
        <p:spPr>
          <a:xfrm>
            <a:off x="1559886" y="1076325"/>
            <a:ext cx="9072228" cy="5100638"/>
          </a:xfrm>
          <a:prstGeom prst="rect">
            <a:avLst/>
          </a:prstGeom>
        </p:spPr>
      </p:pic>
    </p:spTree>
    <p:extLst>
      <p:ext uri="{BB962C8B-B14F-4D97-AF65-F5344CB8AC3E}">
        <p14:creationId xmlns:p14="http://schemas.microsoft.com/office/powerpoint/2010/main" val="35612854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8734" y="365125"/>
            <a:ext cx="10775066" cy="711321"/>
          </a:xfrm>
        </p:spPr>
        <p:txBody>
          <a:bodyPr>
            <a:normAutofit fontScale="90000"/>
          </a:bodyPr>
          <a:lstStyle/>
          <a:p>
            <a:r>
              <a:rPr lang="bg-BG" sz="2400" dirty="0"/>
              <a:t>Създаване на допълнителна таблица </a:t>
            </a:r>
            <a:r>
              <a:rPr lang="en-US" sz="2700" b="1" i="1" dirty="0" err="1">
                <a:solidFill>
                  <a:srgbClr val="00B0F0"/>
                </a:solidFill>
              </a:rPr>
              <a:t>student_sport</a:t>
            </a:r>
            <a:r>
              <a:rPr lang="bg-BG" sz="2400" dirty="0"/>
              <a:t>, разбиваща отношение М:М между таблици </a:t>
            </a:r>
            <a:r>
              <a:rPr lang="en-US" sz="2400" dirty="0">
                <a:solidFill>
                  <a:srgbClr val="00B0F0"/>
                </a:solidFill>
              </a:rPr>
              <a:t>students </a:t>
            </a:r>
            <a:r>
              <a:rPr lang="en-US" sz="2400" dirty="0" err="1">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sportGroups</a:t>
            </a:r>
            <a:r>
              <a:rPr lang="en-US" sz="24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 </a:t>
            </a:r>
            <a:endParaRPr lang="bg-BG" sz="2400" dirty="0"/>
          </a:p>
        </p:txBody>
      </p:sp>
      <p:sp>
        <p:nvSpPr>
          <p:cNvPr id="3" name="Content Placeholder 2"/>
          <p:cNvSpPr>
            <a:spLocks noGrp="1"/>
          </p:cNvSpPr>
          <p:nvPr>
            <p:ph idx="1"/>
          </p:nvPr>
        </p:nvSpPr>
        <p:spPr>
          <a:xfrm>
            <a:off x="578734" y="1192192"/>
            <a:ext cx="10775066" cy="4984771"/>
          </a:xfrm>
        </p:spPr>
        <p:txBody>
          <a:bodyPr/>
          <a:lstStyle/>
          <a:p>
            <a:pPr marL="0" indent="0">
              <a:buNone/>
            </a:pPr>
            <a:r>
              <a:rPr lang="en-US" dirty="0"/>
              <a:t>CREATE TABLE  </a:t>
            </a:r>
            <a:r>
              <a:rPr lang="en-US" dirty="0" err="1">
                <a:solidFill>
                  <a:srgbClr val="00B0F0"/>
                </a:solidFill>
              </a:rPr>
              <a:t>student_sport</a:t>
            </a:r>
            <a:r>
              <a:rPr lang="en-US" dirty="0"/>
              <a:t>(</a:t>
            </a:r>
          </a:p>
          <a:p>
            <a:pPr marL="0" indent="0">
              <a:buNone/>
            </a:pPr>
            <a:r>
              <a:rPr lang="en-US" dirty="0" err="1"/>
              <a:t>student_id</a:t>
            </a:r>
            <a:r>
              <a:rPr lang="en-US" dirty="0"/>
              <a:t> INT NOT NULL,</a:t>
            </a:r>
          </a:p>
          <a:p>
            <a:pPr marL="0" indent="0">
              <a:buNone/>
            </a:pPr>
            <a:r>
              <a:rPr lang="en-US" dirty="0" err="1"/>
              <a:t>sportGroup_id</a:t>
            </a:r>
            <a:r>
              <a:rPr lang="en-US" dirty="0"/>
              <a:t> INT NOT NULL,</a:t>
            </a:r>
          </a:p>
          <a:p>
            <a:pPr marL="0" indent="0">
              <a:buNone/>
            </a:pPr>
            <a:r>
              <a:rPr lang="en-US" dirty="0"/>
              <a:t>CONSTRAINT FOREIGN KEY (</a:t>
            </a:r>
            <a:r>
              <a:rPr lang="en-US" dirty="0" err="1"/>
              <a:t>student_id</a:t>
            </a:r>
            <a:r>
              <a:rPr lang="en-US" dirty="0"/>
              <a:t>) REFERENCES students(id),</a:t>
            </a:r>
          </a:p>
          <a:p>
            <a:pPr marL="0" indent="0">
              <a:buNone/>
            </a:pPr>
            <a:r>
              <a:rPr lang="en-US" dirty="0"/>
              <a:t>CONSTRAINT FOREIGN KEY (</a:t>
            </a:r>
            <a:r>
              <a:rPr lang="en-US" dirty="0" err="1"/>
              <a:t>sportGroup_id</a:t>
            </a:r>
            <a:r>
              <a:rPr lang="en-US" dirty="0"/>
              <a:t>) REFERENCES </a:t>
            </a:r>
            <a:r>
              <a:rPr lang="en-US" dirty="0" err="1"/>
              <a:t>sportGroups</a:t>
            </a:r>
            <a:r>
              <a:rPr lang="en-US" dirty="0"/>
              <a:t>(id),</a:t>
            </a:r>
          </a:p>
          <a:p>
            <a:pPr marL="0" indent="0">
              <a:buNone/>
            </a:pPr>
            <a:r>
              <a:rPr lang="en-US" dirty="0"/>
              <a:t>PRIMARY KEY (</a:t>
            </a:r>
            <a:r>
              <a:rPr lang="en-US" dirty="0" err="1"/>
              <a:t>student_id</a:t>
            </a:r>
            <a:r>
              <a:rPr lang="en-US" dirty="0"/>
              <a:t>, </a:t>
            </a:r>
            <a:r>
              <a:rPr lang="en-US" dirty="0" err="1"/>
              <a:t>sportGroup_id</a:t>
            </a:r>
            <a:r>
              <a:rPr lang="en-US" dirty="0"/>
              <a:t>)</a:t>
            </a:r>
          </a:p>
          <a:p>
            <a:pPr marL="0" indent="0">
              <a:buNone/>
            </a:pPr>
            <a:r>
              <a:rPr lang="en-US" dirty="0"/>
              <a:t>);</a:t>
            </a:r>
            <a:endParaRPr lang="bg-BG" dirty="0"/>
          </a:p>
        </p:txBody>
      </p:sp>
    </p:spTree>
    <p:extLst>
      <p:ext uri="{BB962C8B-B14F-4D97-AF65-F5344CB8AC3E}">
        <p14:creationId xmlns:p14="http://schemas.microsoft.com/office/powerpoint/2010/main" val="20450692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54075"/>
          </a:xfrm>
        </p:spPr>
        <p:txBody>
          <a:bodyPr/>
          <a:lstStyle/>
          <a:p>
            <a:endParaRPr lang="bg-BG" dirty="0"/>
          </a:p>
        </p:txBody>
      </p:sp>
      <p:pic>
        <p:nvPicPr>
          <p:cNvPr id="4" name="Content Placeholder 3"/>
          <p:cNvPicPr>
            <a:picLocks noGrp="1" noChangeAspect="1"/>
          </p:cNvPicPr>
          <p:nvPr>
            <p:ph idx="1"/>
          </p:nvPr>
        </p:nvPicPr>
        <p:blipFill>
          <a:blip r:embed="rId2"/>
          <a:stretch>
            <a:fillRect/>
          </a:stretch>
        </p:blipFill>
        <p:spPr>
          <a:xfrm>
            <a:off x="1686948" y="1219200"/>
            <a:ext cx="8818104" cy="4957763"/>
          </a:xfrm>
          <a:prstGeom prst="rect">
            <a:avLst/>
          </a:prstGeom>
        </p:spPr>
      </p:pic>
    </p:spTree>
    <p:extLst>
      <p:ext uri="{BB962C8B-B14F-4D97-AF65-F5344CB8AC3E}">
        <p14:creationId xmlns:p14="http://schemas.microsoft.com/office/powerpoint/2010/main" val="5803248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20336"/>
          </a:xfrm>
        </p:spPr>
        <p:txBody>
          <a:bodyPr>
            <a:normAutofit/>
          </a:bodyPr>
          <a:lstStyle/>
          <a:p>
            <a:r>
              <a:rPr lang="bg-BG" sz="2800" dirty="0"/>
              <a:t>Заявки за вмъкване</a:t>
            </a:r>
          </a:p>
        </p:txBody>
      </p:sp>
      <p:sp>
        <p:nvSpPr>
          <p:cNvPr id="3" name="Content Placeholder 2"/>
          <p:cNvSpPr>
            <a:spLocks noGrp="1"/>
          </p:cNvSpPr>
          <p:nvPr>
            <p:ph idx="1"/>
          </p:nvPr>
        </p:nvSpPr>
        <p:spPr/>
        <p:txBody>
          <a:bodyPr/>
          <a:lstStyle/>
          <a:p>
            <a:pPr marL="0" indent="0">
              <a:buNone/>
            </a:pPr>
            <a:r>
              <a:rPr lang="ru-RU" dirty="0"/>
              <a:t>Заявки INSERT:</a:t>
            </a:r>
          </a:p>
          <a:p>
            <a:pPr marL="0" indent="0">
              <a:buNone/>
            </a:pPr>
            <a:r>
              <a:rPr lang="ru-RU" dirty="0"/>
              <a:t>Заявките INSERT, както им подсказва името, се използват за вмъкване на данни в таблица.</a:t>
            </a:r>
          </a:p>
          <a:p>
            <a:pPr marL="0" indent="0">
              <a:buNone/>
            </a:pPr>
            <a:endParaRPr lang="ru-RU" dirty="0"/>
          </a:p>
          <a:p>
            <a:pPr marL="0" indent="0">
              <a:buNone/>
            </a:pPr>
            <a:r>
              <a:rPr lang="ru-RU" dirty="0"/>
              <a:t>Синтаксис:</a:t>
            </a:r>
          </a:p>
          <a:p>
            <a:pPr marL="0" indent="0">
              <a:buNone/>
            </a:pPr>
            <a:endParaRPr lang="ru-RU" dirty="0"/>
          </a:p>
          <a:p>
            <a:pPr marL="0" indent="0">
              <a:buNone/>
            </a:pPr>
            <a:r>
              <a:rPr lang="ru-RU" dirty="0"/>
              <a:t>INSERT INTO &lt;таблица&gt;(колона1,колона2,колона N,…)</a:t>
            </a:r>
          </a:p>
          <a:p>
            <a:pPr marL="0" indent="0">
              <a:buNone/>
            </a:pPr>
            <a:r>
              <a:rPr lang="ru-RU" dirty="0"/>
              <a:t>VALUES(стойност1,стойност2,стойностN,…);</a:t>
            </a:r>
          </a:p>
          <a:p>
            <a:pPr marL="0" indent="0">
              <a:buNone/>
            </a:pPr>
            <a:endParaRPr lang="bg-BG" dirty="0"/>
          </a:p>
        </p:txBody>
      </p:sp>
    </p:spTree>
    <p:extLst>
      <p:ext uri="{BB962C8B-B14F-4D97-AF65-F5344CB8AC3E}">
        <p14:creationId xmlns:p14="http://schemas.microsoft.com/office/powerpoint/2010/main" val="11211597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61310"/>
          </a:xfrm>
        </p:spPr>
        <p:txBody>
          <a:bodyPr/>
          <a:lstStyle/>
          <a:p>
            <a:endParaRPr lang="bg-BG" dirty="0"/>
          </a:p>
        </p:txBody>
      </p:sp>
      <p:sp>
        <p:nvSpPr>
          <p:cNvPr id="3" name="Content Placeholder 2"/>
          <p:cNvSpPr>
            <a:spLocks noGrp="1"/>
          </p:cNvSpPr>
          <p:nvPr>
            <p:ph idx="1"/>
          </p:nvPr>
        </p:nvSpPr>
        <p:spPr>
          <a:xfrm>
            <a:off x="838200" y="1378226"/>
            <a:ext cx="10515600" cy="4798737"/>
          </a:xfrm>
        </p:spPr>
        <p:txBody>
          <a:bodyPr/>
          <a:lstStyle/>
          <a:p>
            <a:r>
              <a:rPr lang="bg-BG" dirty="0"/>
              <a:t>Например нека да вмъкнем 2 спорта в таблицата </a:t>
            </a:r>
            <a:r>
              <a:rPr lang="en-US" dirty="0"/>
              <a:t>sports:</a:t>
            </a:r>
          </a:p>
          <a:p>
            <a:pPr marL="0" indent="0">
              <a:buNone/>
            </a:pPr>
            <a:r>
              <a:rPr lang="en-US" dirty="0"/>
              <a:t>USE </a:t>
            </a:r>
            <a:r>
              <a:rPr lang="bg-BG" dirty="0"/>
              <a:t>_92_</a:t>
            </a:r>
            <a:r>
              <a:rPr lang="en-US" dirty="0" err="1"/>
              <a:t>ksig</a:t>
            </a:r>
            <a:r>
              <a:rPr lang="en-US" dirty="0"/>
              <a:t>;</a:t>
            </a:r>
          </a:p>
          <a:p>
            <a:pPr marL="0" indent="0">
              <a:buNone/>
            </a:pPr>
            <a:r>
              <a:rPr lang="en-US" dirty="0"/>
              <a:t>INSERT INTO `sports` (`name`) VALUES ('Football');</a:t>
            </a:r>
          </a:p>
          <a:p>
            <a:pPr marL="0" indent="0">
              <a:buNone/>
            </a:pPr>
            <a:r>
              <a:rPr lang="en-US" dirty="0"/>
              <a:t>INSERT INTO `sports` (`name`) VALUES ('Volleyball');</a:t>
            </a:r>
          </a:p>
          <a:p>
            <a:pPr marL="0" indent="0">
              <a:buNone/>
            </a:pPr>
            <a:endParaRPr lang="en-US" dirty="0"/>
          </a:p>
          <a:p>
            <a:pPr marL="0" indent="0">
              <a:buNone/>
            </a:pPr>
            <a:r>
              <a:rPr lang="ru-RU" dirty="0"/>
              <a:t>Апострофите при изписването на имената на колоните или на таблиците не са задължителни, но единичните кавички при изписване на стрингове – да.</a:t>
            </a:r>
            <a:endParaRPr lang="en-US" dirty="0"/>
          </a:p>
          <a:p>
            <a:pPr marL="0" indent="0">
              <a:buNone/>
            </a:pPr>
            <a:r>
              <a:rPr lang="ru-RU" dirty="0"/>
              <a:t> Също така може да вмъквате и повече от един записи на един път. </a:t>
            </a:r>
            <a:endParaRPr lang="bg-BG" dirty="0"/>
          </a:p>
        </p:txBody>
      </p:sp>
    </p:spTree>
    <p:extLst>
      <p:ext uri="{BB962C8B-B14F-4D97-AF65-F5344CB8AC3E}">
        <p14:creationId xmlns:p14="http://schemas.microsoft.com/office/powerpoint/2010/main" val="5810891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03583"/>
            <a:ext cx="10515600" cy="689113"/>
          </a:xfrm>
        </p:spPr>
        <p:txBody>
          <a:bodyPr>
            <a:normAutofit fontScale="90000"/>
          </a:bodyPr>
          <a:lstStyle/>
          <a:p>
            <a:r>
              <a:rPr lang="en-US" dirty="0">
                <a:solidFill>
                  <a:srgbClr val="00B0F0"/>
                </a:solidFill>
              </a:rPr>
              <a:t>sports</a:t>
            </a:r>
            <a:r>
              <a:rPr lang="bg-BG" dirty="0">
                <a:solidFill>
                  <a:srgbClr val="00B0F0"/>
                </a:solidFill>
              </a:rPr>
              <a:t>:</a:t>
            </a:r>
          </a:p>
        </p:txBody>
      </p:sp>
      <p:sp>
        <p:nvSpPr>
          <p:cNvPr id="3" name="Content Placeholder 2"/>
          <p:cNvSpPr>
            <a:spLocks noGrp="1"/>
          </p:cNvSpPr>
          <p:nvPr>
            <p:ph idx="1"/>
          </p:nvPr>
        </p:nvSpPr>
        <p:spPr>
          <a:xfrm>
            <a:off x="596348" y="1192696"/>
            <a:ext cx="11105322" cy="4984267"/>
          </a:xfrm>
        </p:spPr>
        <p:txBody>
          <a:bodyPr>
            <a:normAutofit/>
          </a:bodyPr>
          <a:lstStyle/>
          <a:p>
            <a:pPr marL="0" indent="0">
              <a:buNone/>
            </a:pPr>
            <a:r>
              <a:rPr lang="en-US" dirty="0"/>
              <a:t>INSERT INTO sports</a:t>
            </a:r>
            <a:endParaRPr lang="bg-BG" dirty="0"/>
          </a:p>
          <a:p>
            <a:pPr marL="0" indent="0">
              <a:buNone/>
            </a:pPr>
            <a:r>
              <a:rPr lang="en-US" dirty="0"/>
              <a:t>VALUES</a:t>
            </a:r>
            <a:endParaRPr lang="bg-BG" dirty="0"/>
          </a:p>
          <a:p>
            <a:pPr marL="0" indent="0">
              <a:buNone/>
            </a:pPr>
            <a:r>
              <a:rPr lang="en-US" dirty="0"/>
              <a:t>(null, '</a:t>
            </a:r>
            <a:r>
              <a:rPr lang="en-US" dirty="0" err="1"/>
              <a:t>Footbal</a:t>
            </a:r>
            <a:r>
              <a:rPr lang="en-US" dirty="0"/>
              <a:t>'),</a:t>
            </a:r>
            <a:endParaRPr lang="bg-BG" dirty="0"/>
          </a:p>
          <a:p>
            <a:pPr marL="0" indent="0">
              <a:buNone/>
            </a:pPr>
            <a:r>
              <a:rPr lang="en-US" dirty="0"/>
              <a:t>(null, '</a:t>
            </a:r>
            <a:r>
              <a:rPr lang="en-US" dirty="0" err="1"/>
              <a:t>VolLeybal</a:t>
            </a:r>
            <a:r>
              <a:rPr lang="en-US" dirty="0"/>
              <a:t>'),</a:t>
            </a:r>
            <a:endParaRPr lang="bg-BG" dirty="0"/>
          </a:p>
          <a:p>
            <a:pPr marL="0" indent="0">
              <a:buNone/>
            </a:pPr>
            <a:r>
              <a:rPr lang="en-US" dirty="0"/>
              <a:t>(null, 'Tennis');</a:t>
            </a:r>
          </a:p>
          <a:p>
            <a:pPr marL="0" indent="0">
              <a:buNone/>
            </a:pPr>
            <a:r>
              <a:rPr lang="ru-RU" dirty="0"/>
              <a:t>Защо не посочихме колона id и стойност за нея? Защото при декларацията на колоната сме я дефинирали като AUTO_INCREMENT –тоест сървърът ще се грижи да я увеличава с единица всеки път, когато правим нов запис в нея. Съответно id на ‘футбол’ е 1, на ‘волейбол’ е 2 и тн.</a:t>
            </a:r>
            <a:endParaRPr lang="bg-BG" dirty="0"/>
          </a:p>
          <a:p>
            <a:endParaRPr lang="bg-BG" dirty="0"/>
          </a:p>
        </p:txBody>
      </p:sp>
    </p:spTree>
    <p:extLst>
      <p:ext uri="{BB962C8B-B14F-4D97-AF65-F5344CB8AC3E}">
        <p14:creationId xmlns:p14="http://schemas.microsoft.com/office/powerpoint/2010/main" val="14962510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14318"/>
          </a:xfrm>
        </p:spPr>
        <p:txBody>
          <a:bodyPr/>
          <a:lstStyle/>
          <a:p>
            <a:r>
              <a:rPr lang="en-US" dirty="0">
                <a:solidFill>
                  <a:srgbClr val="00B0F0"/>
                </a:solidFill>
              </a:rPr>
              <a:t>coaches:</a:t>
            </a:r>
            <a:endParaRPr lang="bg-BG" dirty="0">
              <a:solidFill>
                <a:srgbClr val="00B0F0"/>
              </a:solidFill>
            </a:endParaRPr>
          </a:p>
        </p:txBody>
      </p:sp>
      <p:sp>
        <p:nvSpPr>
          <p:cNvPr id="3" name="Content Placeholder 2"/>
          <p:cNvSpPr>
            <a:spLocks noGrp="1"/>
          </p:cNvSpPr>
          <p:nvPr>
            <p:ph idx="1"/>
          </p:nvPr>
        </p:nvSpPr>
        <p:spPr>
          <a:xfrm>
            <a:off x="838200" y="1179444"/>
            <a:ext cx="10515600" cy="4997519"/>
          </a:xfrm>
        </p:spPr>
        <p:txBody>
          <a:bodyPr/>
          <a:lstStyle/>
          <a:p>
            <a:r>
              <a:rPr lang="ru-RU" dirty="0"/>
              <a:t>Например нека вмъкнем няколко треньора:</a:t>
            </a:r>
            <a:endParaRPr lang="bg-BG" dirty="0"/>
          </a:p>
          <a:p>
            <a:pPr marL="0" indent="0">
              <a:buNone/>
            </a:pPr>
            <a:r>
              <a:rPr lang="en-US" dirty="0"/>
              <a:t>INSERT INTO coaches (name, </a:t>
            </a:r>
            <a:r>
              <a:rPr lang="en-US" dirty="0" err="1"/>
              <a:t>egn</a:t>
            </a:r>
            <a:r>
              <a:rPr lang="en-US" dirty="0"/>
              <a:t>)</a:t>
            </a:r>
            <a:endParaRPr lang="bg-BG" dirty="0"/>
          </a:p>
          <a:p>
            <a:pPr marL="0" indent="0">
              <a:buNone/>
            </a:pPr>
            <a:r>
              <a:rPr lang="en-US" dirty="0"/>
              <a:t>VALUES</a:t>
            </a:r>
            <a:endParaRPr lang="bg-BG" dirty="0"/>
          </a:p>
          <a:p>
            <a:pPr marL="0" indent="0">
              <a:buNone/>
            </a:pPr>
            <a:r>
              <a:rPr lang="en-US" dirty="0"/>
              <a:t>('Ivan Petkov','7509041245'),</a:t>
            </a:r>
            <a:endParaRPr lang="bg-BG" dirty="0"/>
          </a:p>
          <a:p>
            <a:pPr marL="0" indent="0">
              <a:buNone/>
            </a:pPr>
            <a:r>
              <a:rPr lang="en-US" dirty="0"/>
              <a:t>('</a:t>
            </a:r>
            <a:r>
              <a:rPr lang="en-US" dirty="0" err="1"/>
              <a:t>Georgi</a:t>
            </a:r>
            <a:r>
              <a:rPr lang="en-US" dirty="0"/>
              <a:t> </a:t>
            </a:r>
            <a:r>
              <a:rPr lang="en-US" dirty="0" err="1"/>
              <a:t>Todorov</a:t>
            </a:r>
            <a:r>
              <a:rPr lang="en-US" dirty="0"/>
              <a:t>', '8010091245'),</a:t>
            </a:r>
            <a:endParaRPr lang="bg-BG" dirty="0"/>
          </a:p>
          <a:p>
            <a:pPr marL="0" indent="0">
              <a:buNone/>
            </a:pPr>
            <a:r>
              <a:rPr lang="en-US" dirty="0"/>
              <a:t>('</a:t>
            </a:r>
            <a:r>
              <a:rPr lang="en-US" dirty="0" err="1"/>
              <a:t>Ilian</a:t>
            </a:r>
            <a:r>
              <a:rPr lang="en-US" dirty="0"/>
              <a:t> </a:t>
            </a:r>
            <a:r>
              <a:rPr lang="en-US" dirty="0" err="1"/>
              <a:t>Todorov</a:t>
            </a:r>
            <a:r>
              <a:rPr lang="en-US" dirty="0"/>
              <a:t>', '8407106352'),</a:t>
            </a:r>
            <a:endParaRPr lang="bg-BG" dirty="0"/>
          </a:p>
          <a:p>
            <a:pPr marL="0" indent="0">
              <a:buNone/>
            </a:pPr>
            <a:r>
              <a:rPr lang="en-US" dirty="0"/>
              <a:t>('</a:t>
            </a:r>
            <a:r>
              <a:rPr lang="en-US" dirty="0" err="1"/>
              <a:t>Todor</a:t>
            </a:r>
            <a:r>
              <a:rPr lang="en-US" dirty="0"/>
              <a:t> Ivanov', '8302160980'),</a:t>
            </a:r>
            <a:endParaRPr lang="bg-BG" dirty="0"/>
          </a:p>
          <a:p>
            <a:pPr marL="0" indent="0">
              <a:buNone/>
            </a:pPr>
            <a:r>
              <a:rPr lang="en-US" dirty="0"/>
              <a:t>('</a:t>
            </a:r>
            <a:r>
              <a:rPr lang="en-US" dirty="0" err="1"/>
              <a:t>Slavi</a:t>
            </a:r>
            <a:r>
              <a:rPr lang="en-US" dirty="0"/>
              <a:t> </a:t>
            </a:r>
            <a:r>
              <a:rPr lang="en-US" dirty="0" err="1"/>
              <a:t>Petkov</a:t>
            </a:r>
            <a:r>
              <a:rPr lang="en-US" dirty="0"/>
              <a:t>', '106041278');</a:t>
            </a:r>
            <a:endParaRPr lang="bg-BG" dirty="0"/>
          </a:p>
        </p:txBody>
      </p:sp>
    </p:spTree>
    <p:extLst>
      <p:ext uri="{BB962C8B-B14F-4D97-AF65-F5344CB8AC3E}">
        <p14:creationId xmlns:p14="http://schemas.microsoft.com/office/powerpoint/2010/main" val="25268019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2284"/>
          </a:xfrm>
        </p:spPr>
        <p:txBody>
          <a:bodyPr>
            <a:normAutofit fontScale="90000"/>
          </a:bodyPr>
          <a:lstStyle/>
          <a:p>
            <a:r>
              <a:rPr lang="en-US" dirty="0"/>
              <a:t>students:</a:t>
            </a:r>
            <a:endParaRPr lang="bg-BG" dirty="0"/>
          </a:p>
        </p:txBody>
      </p:sp>
      <p:sp>
        <p:nvSpPr>
          <p:cNvPr id="3" name="Content Placeholder 2"/>
          <p:cNvSpPr>
            <a:spLocks noGrp="1"/>
          </p:cNvSpPr>
          <p:nvPr>
            <p:ph idx="1"/>
          </p:nvPr>
        </p:nvSpPr>
        <p:spPr>
          <a:xfrm>
            <a:off x="838200" y="1139688"/>
            <a:ext cx="10515600" cy="5037276"/>
          </a:xfrm>
        </p:spPr>
        <p:txBody>
          <a:bodyPr>
            <a:normAutofit/>
          </a:bodyPr>
          <a:lstStyle/>
          <a:p>
            <a:r>
              <a:rPr lang="ru-RU" dirty="0"/>
              <a:t>Например нека вмъкнем няколко </a:t>
            </a:r>
            <a:r>
              <a:rPr lang="bg-BG" dirty="0"/>
              <a:t>ученика</a:t>
            </a:r>
            <a:r>
              <a:rPr lang="ru-RU" dirty="0"/>
              <a:t>:</a:t>
            </a:r>
            <a:endParaRPr lang="bg-BG" dirty="0"/>
          </a:p>
          <a:p>
            <a:pPr marL="0" indent="0">
              <a:buNone/>
            </a:pPr>
            <a:r>
              <a:rPr lang="en-US" dirty="0"/>
              <a:t>INSERT INTO students (name, </a:t>
            </a:r>
            <a:r>
              <a:rPr lang="en-US" dirty="0" err="1"/>
              <a:t>egn</a:t>
            </a:r>
            <a:r>
              <a:rPr lang="en-US" dirty="0"/>
              <a:t>, address, phone, class)</a:t>
            </a:r>
            <a:endParaRPr lang="bg-BG" dirty="0"/>
          </a:p>
          <a:p>
            <a:pPr marL="0" indent="0">
              <a:buNone/>
            </a:pPr>
            <a:r>
              <a:rPr lang="en-US" dirty="0"/>
              <a:t>VALUES</a:t>
            </a:r>
            <a:endParaRPr lang="bg-BG" dirty="0"/>
          </a:p>
          <a:p>
            <a:pPr marL="0" indent="0">
              <a:buNone/>
            </a:pPr>
            <a:r>
              <a:rPr lang="en-US" dirty="0"/>
              <a:t>('</a:t>
            </a:r>
            <a:r>
              <a:rPr lang="en-US" dirty="0" err="1"/>
              <a:t>Iliayan</a:t>
            </a:r>
            <a:r>
              <a:rPr lang="en-US" dirty="0"/>
              <a:t> Ivanov', '9401150045', 'Sofia-Mladost1', '0895345123', '10'),</a:t>
            </a:r>
            <a:endParaRPr lang="bg-BG" dirty="0"/>
          </a:p>
          <a:p>
            <a:pPr marL="0" indent="0">
              <a:buNone/>
            </a:pPr>
            <a:r>
              <a:rPr lang="en-US" dirty="0"/>
              <a:t>('Ivan </a:t>
            </a:r>
            <a:r>
              <a:rPr lang="en-US" dirty="0" err="1"/>
              <a:t>Iliev</a:t>
            </a:r>
            <a:r>
              <a:rPr lang="en-US" dirty="0"/>
              <a:t>', '9510104512', 'Sofia-</a:t>
            </a:r>
            <a:r>
              <a:rPr lang="en-US" dirty="0" err="1"/>
              <a:t>Lulin</a:t>
            </a:r>
            <a:r>
              <a:rPr lang="en-US" dirty="0"/>
              <a:t>', '0896786453', '11'),</a:t>
            </a:r>
            <a:endParaRPr lang="bg-BG" dirty="0"/>
          </a:p>
          <a:p>
            <a:pPr marL="0" indent="0">
              <a:buNone/>
            </a:pPr>
            <a:r>
              <a:rPr lang="en-US" dirty="0"/>
              <a:t>('Elena </a:t>
            </a:r>
            <a:r>
              <a:rPr lang="en-US" dirty="0" err="1"/>
              <a:t>Petrova</a:t>
            </a:r>
            <a:r>
              <a:rPr lang="en-US" dirty="0"/>
              <a:t>', '9505052154', 'Sofia-Mladost2', '0899123456', '11'),</a:t>
            </a:r>
            <a:endParaRPr lang="bg-BG" dirty="0"/>
          </a:p>
          <a:p>
            <a:pPr marL="0" indent="0">
              <a:buNone/>
            </a:pPr>
            <a:r>
              <a:rPr lang="en-US" dirty="0"/>
              <a:t>('Ivan </a:t>
            </a:r>
            <a:r>
              <a:rPr lang="en-US" dirty="0" err="1"/>
              <a:t>Iliev</a:t>
            </a:r>
            <a:r>
              <a:rPr lang="en-US" dirty="0"/>
              <a:t>', '9510104542', 'Sofia-Mladost3', '0897123456','11'),</a:t>
            </a:r>
            <a:endParaRPr lang="bg-BG" dirty="0"/>
          </a:p>
          <a:p>
            <a:pPr marL="0" indent="0">
              <a:buNone/>
            </a:pPr>
            <a:r>
              <a:rPr lang="en-US" dirty="0"/>
              <a:t>('Maria </a:t>
            </a:r>
            <a:r>
              <a:rPr lang="en-US" dirty="0" err="1"/>
              <a:t>Dimova</a:t>
            </a:r>
            <a:r>
              <a:rPr lang="en-US" dirty="0"/>
              <a:t>', '9510104547', 'Sofia-Maldost4', '088898654', '11'),</a:t>
            </a:r>
            <a:endParaRPr lang="bg-BG" dirty="0"/>
          </a:p>
          <a:p>
            <a:pPr marL="0" indent="0">
              <a:buNone/>
            </a:pPr>
            <a:r>
              <a:rPr lang="en-US" dirty="0"/>
              <a:t>('</a:t>
            </a:r>
            <a:r>
              <a:rPr lang="en-US" dirty="0" err="1"/>
              <a:t>Antoaneta</a:t>
            </a:r>
            <a:r>
              <a:rPr lang="en-US" dirty="0"/>
              <a:t> </a:t>
            </a:r>
            <a:r>
              <a:rPr lang="en-US" dirty="0" err="1"/>
              <a:t>Ivanova</a:t>
            </a:r>
            <a:r>
              <a:rPr lang="en-US" dirty="0"/>
              <a:t>', '9411104547', 'Sofia-</a:t>
            </a:r>
            <a:r>
              <a:rPr lang="en-US" dirty="0" err="1"/>
              <a:t>Krasno</a:t>
            </a:r>
            <a:r>
              <a:rPr lang="en-US" dirty="0"/>
              <a:t> selo','0877123456','10');</a:t>
            </a:r>
            <a:endParaRPr lang="bg-BG" dirty="0"/>
          </a:p>
          <a:p>
            <a:endParaRPr lang="bg-BG" dirty="0"/>
          </a:p>
        </p:txBody>
      </p:sp>
    </p:spTree>
    <p:extLst>
      <p:ext uri="{BB962C8B-B14F-4D97-AF65-F5344CB8AC3E}">
        <p14:creationId xmlns:p14="http://schemas.microsoft.com/office/powerpoint/2010/main" val="5219403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36023"/>
          </a:xfrm>
        </p:spPr>
        <p:txBody>
          <a:bodyPr>
            <a:normAutofit fontScale="90000"/>
          </a:bodyPr>
          <a:lstStyle/>
          <a:p>
            <a:endParaRPr lang="bg-BG" dirty="0"/>
          </a:p>
        </p:txBody>
      </p:sp>
      <p:pic>
        <p:nvPicPr>
          <p:cNvPr id="4" name="Content Placeholder 3"/>
          <p:cNvPicPr>
            <a:picLocks noGrp="1" noChangeAspect="1"/>
          </p:cNvPicPr>
          <p:nvPr>
            <p:ph idx="1"/>
          </p:nvPr>
        </p:nvPicPr>
        <p:blipFill>
          <a:blip r:embed="rId2"/>
          <a:stretch>
            <a:fillRect/>
          </a:stretch>
        </p:blipFill>
        <p:spPr>
          <a:xfrm>
            <a:off x="1662948" y="1192213"/>
            <a:ext cx="8866104" cy="4984750"/>
          </a:xfrm>
          <a:prstGeom prst="rect">
            <a:avLst/>
          </a:prstGeom>
        </p:spPr>
      </p:pic>
    </p:spTree>
    <p:extLst>
      <p:ext uri="{BB962C8B-B14F-4D97-AF65-F5344CB8AC3E}">
        <p14:creationId xmlns:p14="http://schemas.microsoft.com/office/powerpoint/2010/main" val="27296715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48058"/>
          </a:xfrm>
        </p:spPr>
        <p:txBody>
          <a:bodyPr/>
          <a:lstStyle/>
          <a:p>
            <a:r>
              <a:rPr lang="en-US" dirty="0" err="1">
                <a:solidFill>
                  <a:srgbClr val="00B0F0"/>
                </a:solidFill>
              </a:rPr>
              <a:t>sportGroups</a:t>
            </a:r>
            <a:r>
              <a:rPr lang="en-US" dirty="0">
                <a:solidFill>
                  <a:srgbClr val="00B0F0"/>
                </a:solidFill>
              </a:rPr>
              <a:t>:</a:t>
            </a:r>
            <a:endParaRPr lang="bg-BG" dirty="0">
              <a:solidFill>
                <a:srgbClr val="00B0F0"/>
              </a:solidFill>
            </a:endParaRPr>
          </a:p>
        </p:txBody>
      </p:sp>
      <p:sp>
        <p:nvSpPr>
          <p:cNvPr id="3" name="Content Placeholder 2"/>
          <p:cNvSpPr>
            <a:spLocks noGrp="1"/>
          </p:cNvSpPr>
          <p:nvPr>
            <p:ph idx="1"/>
          </p:nvPr>
        </p:nvSpPr>
        <p:spPr>
          <a:xfrm>
            <a:off x="838200" y="1351722"/>
            <a:ext cx="10515600" cy="4825241"/>
          </a:xfrm>
        </p:spPr>
        <p:txBody>
          <a:bodyPr/>
          <a:lstStyle/>
          <a:p>
            <a:pPr marL="0" indent="0">
              <a:buNone/>
            </a:pPr>
            <a:r>
              <a:rPr lang="en-US" dirty="0"/>
              <a:t>INSERT INTO </a:t>
            </a:r>
            <a:r>
              <a:rPr lang="en-US" dirty="0" err="1"/>
              <a:t>sportGroups</a:t>
            </a:r>
            <a:r>
              <a:rPr lang="en-US" dirty="0"/>
              <a:t>(location, </a:t>
            </a:r>
            <a:r>
              <a:rPr lang="en-US" dirty="0" err="1"/>
              <a:t>dayOfWeek</a:t>
            </a:r>
            <a:r>
              <a:rPr lang="en-US" dirty="0"/>
              <a:t>, </a:t>
            </a:r>
            <a:r>
              <a:rPr lang="en-US" dirty="0" err="1"/>
              <a:t>hourOfTraining</a:t>
            </a:r>
            <a:r>
              <a:rPr lang="en-US" dirty="0"/>
              <a:t>, </a:t>
            </a:r>
            <a:r>
              <a:rPr lang="en-US" dirty="0" err="1"/>
              <a:t>sport_id</a:t>
            </a:r>
            <a:r>
              <a:rPr lang="en-US" dirty="0"/>
              <a:t>, </a:t>
            </a:r>
            <a:r>
              <a:rPr lang="en-US" dirty="0" err="1"/>
              <a:t>coach_id</a:t>
            </a:r>
            <a:r>
              <a:rPr lang="en-US" dirty="0"/>
              <a:t>)</a:t>
            </a:r>
            <a:endParaRPr lang="bg-BG" dirty="0"/>
          </a:p>
          <a:p>
            <a:pPr marL="0" indent="0">
              <a:buNone/>
            </a:pPr>
            <a:r>
              <a:rPr lang="en-US" dirty="0"/>
              <a:t>VALUES</a:t>
            </a:r>
            <a:endParaRPr lang="bg-BG" dirty="0"/>
          </a:p>
          <a:p>
            <a:pPr marL="0" indent="0">
              <a:buNone/>
            </a:pPr>
            <a:r>
              <a:rPr lang="en-US" dirty="0"/>
              <a:t>('Sofia-Mladost1','Monday', '08:00:00',1,1),</a:t>
            </a:r>
            <a:endParaRPr lang="bg-BG" dirty="0"/>
          </a:p>
          <a:p>
            <a:pPr marL="0" indent="0">
              <a:buNone/>
            </a:pPr>
            <a:r>
              <a:rPr lang="en-US" dirty="0"/>
              <a:t>('Sofia-Mladost1','Monday', '09:00:00',1,2),</a:t>
            </a:r>
            <a:endParaRPr lang="bg-BG" dirty="0"/>
          </a:p>
          <a:p>
            <a:pPr marL="0" indent="0">
              <a:buNone/>
            </a:pPr>
            <a:r>
              <a:rPr lang="en-US" dirty="0"/>
              <a:t>('Sofia-</a:t>
            </a:r>
            <a:r>
              <a:rPr lang="en-US" dirty="0" err="1"/>
              <a:t>Lulin</a:t>
            </a:r>
            <a:r>
              <a:rPr lang="en-US" dirty="0"/>
              <a:t>','Sunday', '08:00:00',2,1),</a:t>
            </a:r>
            <a:endParaRPr lang="bg-BG" dirty="0"/>
          </a:p>
          <a:p>
            <a:pPr marL="0" indent="0">
              <a:buNone/>
            </a:pPr>
            <a:r>
              <a:rPr lang="en-US" dirty="0"/>
              <a:t>('Sofia-</a:t>
            </a:r>
            <a:r>
              <a:rPr lang="en-US" dirty="0" err="1"/>
              <a:t>Lulin</a:t>
            </a:r>
            <a:r>
              <a:rPr lang="en-US" dirty="0"/>
              <a:t>','Sunday', '09:30:00', 2,2),</a:t>
            </a:r>
            <a:endParaRPr lang="bg-BG" dirty="0"/>
          </a:p>
          <a:p>
            <a:pPr marL="0" indent="0">
              <a:buNone/>
            </a:pPr>
            <a:r>
              <a:rPr lang="en-US" dirty="0"/>
              <a:t>('Plovdiv', 'Monday', '12:00:00’, 3,4);</a:t>
            </a:r>
            <a:endParaRPr lang="bg-BG" dirty="0"/>
          </a:p>
          <a:p>
            <a:endParaRPr lang="bg-BG" dirty="0"/>
          </a:p>
        </p:txBody>
      </p:sp>
    </p:spTree>
    <p:extLst>
      <p:ext uri="{BB962C8B-B14F-4D97-AF65-F5344CB8AC3E}">
        <p14:creationId xmlns:p14="http://schemas.microsoft.com/office/powerpoint/2010/main" val="33907512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48058"/>
          </a:xfrm>
        </p:spPr>
        <p:txBody>
          <a:bodyPr>
            <a:normAutofit/>
          </a:bodyPr>
          <a:lstStyle/>
          <a:p>
            <a:r>
              <a:rPr lang="en-US" dirty="0" err="1">
                <a:solidFill>
                  <a:srgbClr val="00B0F0"/>
                </a:solidFill>
              </a:rPr>
              <a:t>student_sport</a:t>
            </a:r>
            <a:r>
              <a:rPr lang="en-US" dirty="0">
                <a:solidFill>
                  <a:srgbClr val="00B0F0"/>
                </a:solidFill>
              </a:rPr>
              <a:t>:</a:t>
            </a:r>
            <a:endParaRPr lang="bg-BG" dirty="0">
              <a:solidFill>
                <a:srgbClr val="00B0F0"/>
              </a:solidFill>
            </a:endParaRPr>
          </a:p>
        </p:txBody>
      </p:sp>
      <p:sp>
        <p:nvSpPr>
          <p:cNvPr id="3" name="Content Placeholder 2"/>
          <p:cNvSpPr>
            <a:spLocks noGrp="1"/>
          </p:cNvSpPr>
          <p:nvPr>
            <p:ph idx="1"/>
          </p:nvPr>
        </p:nvSpPr>
        <p:spPr>
          <a:xfrm>
            <a:off x="838200" y="1351722"/>
            <a:ext cx="10515600" cy="4825241"/>
          </a:xfrm>
        </p:spPr>
        <p:txBody>
          <a:bodyPr>
            <a:normAutofit lnSpcReduction="10000"/>
          </a:bodyPr>
          <a:lstStyle/>
          <a:p>
            <a:pPr marL="0" indent="0">
              <a:buNone/>
            </a:pPr>
            <a:r>
              <a:rPr lang="en-US" dirty="0"/>
              <a:t>INSERT INTO </a:t>
            </a:r>
            <a:r>
              <a:rPr lang="en-US" dirty="0" err="1"/>
              <a:t>student_sport</a:t>
            </a:r>
            <a:endParaRPr lang="bg-BG" dirty="0"/>
          </a:p>
          <a:p>
            <a:pPr marL="0" indent="0">
              <a:buNone/>
            </a:pPr>
            <a:r>
              <a:rPr lang="en-US" dirty="0"/>
              <a:t>VALUES</a:t>
            </a:r>
            <a:endParaRPr lang="bg-BG" dirty="0"/>
          </a:p>
          <a:p>
            <a:pPr marL="0" indent="0">
              <a:buNone/>
            </a:pPr>
            <a:r>
              <a:rPr lang="en-US" dirty="0"/>
              <a:t>(1,1),</a:t>
            </a:r>
            <a:endParaRPr lang="bg-BG" dirty="0"/>
          </a:p>
          <a:p>
            <a:pPr marL="0" indent="0">
              <a:buNone/>
            </a:pPr>
            <a:r>
              <a:rPr lang="en-US" dirty="0"/>
              <a:t>(2,1),</a:t>
            </a:r>
            <a:endParaRPr lang="bg-BG" dirty="0"/>
          </a:p>
          <a:p>
            <a:pPr marL="0" indent="0">
              <a:buNone/>
            </a:pPr>
            <a:r>
              <a:rPr lang="en-US" dirty="0"/>
              <a:t>(3,1),</a:t>
            </a:r>
            <a:endParaRPr lang="bg-BG" dirty="0"/>
          </a:p>
          <a:p>
            <a:pPr marL="0" indent="0">
              <a:buNone/>
            </a:pPr>
            <a:r>
              <a:rPr lang="en-US" dirty="0"/>
              <a:t>(4,2),</a:t>
            </a:r>
            <a:endParaRPr lang="bg-BG" dirty="0"/>
          </a:p>
          <a:p>
            <a:pPr marL="0" indent="0">
              <a:buNone/>
            </a:pPr>
            <a:r>
              <a:rPr lang="en-US" dirty="0"/>
              <a:t>(5,2),</a:t>
            </a:r>
            <a:endParaRPr lang="bg-BG" dirty="0"/>
          </a:p>
          <a:p>
            <a:pPr marL="0" indent="0">
              <a:buNone/>
            </a:pPr>
            <a:r>
              <a:rPr lang="en-US" dirty="0"/>
              <a:t>(1,3),</a:t>
            </a:r>
          </a:p>
          <a:p>
            <a:pPr marL="0" indent="0">
              <a:buNone/>
            </a:pPr>
            <a:r>
              <a:rPr lang="en-US" dirty="0"/>
              <a:t>(2,3),</a:t>
            </a:r>
            <a:endParaRPr lang="bg-BG" dirty="0"/>
          </a:p>
          <a:p>
            <a:pPr marL="0" indent="0">
              <a:buNone/>
            </a:pPr>
            <a:r>
              <a:rPr lang="en-US" dirty="0"/>
              <a:t>(3,3);</a:t>
            </a:r>
            <a:endParaRPr lang="bg-BG" dirty="0"/>
          </a:p>
          <a:p>
            <a:pPr marL="0" indent="0">
              <a:buNone/>
            </a:pPr>
            <a:endParaRPr lang="bg-BG" dirty="0"/>
          </a:p>
          <a:p>
            <a:endParaRPr lang="bg-BG" dirty="0"/>
          </a:p>
        </p:txBody>
      </p:sp>
    </p:spTree>
    <p:extLst>
      <p:ext uri="{BB962C8B-B14F-4D97-AF65-F5344CB8AC3E}">
        <p14:creationId xmlns:p14="http://schemas.microsoft.com/office/powerpoint/2010/main" val="30902562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34805"/>
          </a:xfrm>
        </p:spPr>
        <p:txBody>
          <a:bodyPr/>
          <a:lstStyle/>
          <a:p>
            <a:r>
              <a:rPr lang="bg-BG" dirty="0"/>
              <a:t>Заявка </a:t>
            </a:r>
            <a:r>
              <a:rPr lang="en-US" dirty="0"/>
              <a:t>UPDATE</a:t>
            </a:r>
            <a:endParaRPr lang="bg-BG" dirty="0"/>
          </a:p>
        </p:txBody>
      </p:sp>
      <p:sp>
        <p:nvSpPr>
          <p:cNvPr id="3" name="Content Placeholder 2"/>
          <p:cNvSpPr>
            <a:spLocks noGrp="1"/>
          </p:cNvSpPr>
          <p:nvPr>
            <p:ph idx="1"/>
          </p:nvPr>
        </p:nvSpPr>
        <p:spPr>
          <a:xfrm>
            <a:off x="838200" y="1099930"/>
            <a:ext cx="10515600" cy="5077033"/>
          </a:xfrm>
        </p:spPr>
        <p:txBody>
          <a:bodyPr>
            <a:normAutofit fontScale="92500" lnSpcReduction="20000"/>
          </a:bodyPr>
          <a:lstStyle/>
          <a:p>
            <a:pPr marL="0" indent="0">
              <a:buNone/>
            </a:pPr>
            <a:r>
              <a:rPr lang="ru-RU" dirty="0"/>
              <a:t>А сега сме се сетили, че сме допуснали правописна грешка в името на първия треньор. Дали да изтрием целия ред или да редактираме само името? Естествено, че ще редактираме само името. Става чрез заявки UPDATE. Те позволяват обновяване (редактиране) на стойностите на колоните за вече направени записи.</a:t>
            </a:r>
          </a:p>
          <a:p>
            <a:pPr marL="0" indent="0">
              <a:buNone/>
            </a:pPr>
            <a:r>
              <a:rPr lang="ru-RU" dirty="0"/>
              <a:t>Синтаксис:</a:t>
            </a:r>
          </a:p>
          <a:p>
            <a:pPr marL="0" indent="0">
              <a:buNone/>
            </a:pPr>
            <a:endParaRPr lang="ru-RU" dirty="0"/>
          </a:p>
          <a:p>
            <a:pPr marL="0" indent="0">
              <a:buNone/>
            </a:pPr>
            <a:r>
              <a:rPr lang="ru-RU" dirty="0"/>
              <a:t>UPDATE &lt;таблица&gt;</a:t>
            </a:r>
          </a:p>
          <a:p>
            <a:pPr marL="0" indent="0">
              <a:buNone/>
            </a:pPr>
            <a:r>
              <a:rPr lang="ru-RU" dirty="0"/>
              <a:t>SET &lt;колона1&gt; = &lt;нова стойност&gt;,</a:t>
            </a:r>
          </a:p>
          <a:p>
            <a:pPr marL="0" indent="0">
              <a:buNone/>
            </a:pPr>
            <a:r>
              <a:rPr lang="ru-RU" dirty="0"/>
              <a:t>&lt;колона2&gt; = &lt;нова стойност&gt;</a:t>
            </a:r>
          </a:p>
          <a:p>
            <a:pPr marL="0" indent="0">
              <a:buNone/>
            </a:pPr>
            <a:r>
              <a:rPr lang="ru-RU" dirty="0"/>
              <a:t>WHERE &lt;условие&gt;;</a:t>
            </a:r>
          </a:p>
          <a:p>
            <a:pPr marL="0" indent="0">
              <a:buNone/>
            </a:pPr>
            <a:r>
              <a:rPr lang="ru-RU" dirty="0"/>
              <a:t>&lt;условие&gt; – логическо условие, с което да се определи кой ред ще се обновява.</a:t>
            </a:r>
          </a:p>
          <a:p>
            <a:pPr marL="0" indent="0">
              <a:buNone/>
            </a:pPr>
            <a:endParaRPr lang="ru-RU" dirty="0"/>
          </a:p>
        </p:txBody>
      </p:sp>
    </p:spTree>
    <p:extLst>
      <p:ext uri="{BB962C8B-B14F-4D97-AF65-F5344CB8AC3E}">
        <p14:creationId xmlns:p14="http://schemas.microsoft.com/office/powerpoint/2010/main" val="34055982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01066"/>
          </a:xfrm>
        </p:spPr>
        <p:txBody>
          <a:bodyPr/>
          <a:lstStyle/>
          <a:p>
            <a:r>
              <a:rPr lang="en-US" dirty="0"/>
              <a:t>UPDATE</a:t>
            </a:r>
            <a:endParaRPr lang="bg-BG" dirty="0"/>
          </a:p>
        </p:txBody>
      </p:sp>
      <p:sp>
        <p:nvSpPr>
          <p:cNvPr id="3" name="Content Placeholder 2"/>
          <p:cNvSpPr>
            <a:spLocks noGrp="1"/>
          </p:cNvSpPr>
          <p:nvPr>
            <p:ph idx="1"/>
          </p:nvPr>
        </p:nvSpPr>
        <p:spPr/>
        <p:txBody>
          <a:bodyPr/>
          <a:lstStyle/>
          <a:p>
            <a:pPr marL="0" indent="0">
              <a:buNone/>
            </a:pPr>
            <a:r>
              <a:rPr lang="ru-RU" dirty="0"/>
              <a:t>Ето как ще ъпдейтнем треньора:</a:t>
            </a:r>
          </a:p>
          <a:p>
            <a:pPr marL="0" indent="0">
              <a:buNone/>
            </a:pPr>
            <a:endParaRPr lang="ru-RU" dirty="0"/>
          </a:p>
          <a:p>
            <a:pPr marL="0" indent="0">
              <a:buNone/>
            </a:pPr>
            <a:r>
              <a:rPr lang="ru-RU" dirty="0"/>
              <a:t>UPDATE coaches </a:t>
            </a:r>
          </a:p>
          <a:p>
            <a:pPr marL="0" indent="0">
              <a:buNone/>
            </a:pPr>
            <a:r>
              <a:rPr lang="ru-RU" dirty="0"/>
              <a:t>SET name = 'Иван Тодоров Петров'</a:t>
            </a:r>
          </a:p>
          <a:p>
            <a:pPr marL="0" indent="0">
              <a:buNone/>
            </a:pPr>
            <a:r>
              <a:rPr lang="ru-RU" dirty="0"/>
              <a:t>WHERE id= 1;</a:t>
            </a:r>
            <a:endParaRPr lang="bg-BG" dirty="0"/>
          </a:p>
          <a:p>
            <a:endParaRPr lang="bg-BG" dirty="0"/>
          </a:p>
        </p:txBody>
      </p:sp>
    </p:spTree>
    <p:extLst>
      <p:ext uri="{BB962C8B-B14F-4D97-AF65-F5344CB8AC3E}">
        <p14:creationId xmlns:p14="http://schemas.microsoft.com/office/powerpoint/2010/main" val="41567425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bg-BG" dirty="0"/>
              <a:t>Заявка </a:t>
            </a:r>
            <a:r>
              <a:rPr lang="en-US" dirty="0"/>
              <a:t>DELETE</a:t>
            </a:r>
            <a:endParaRPr lang="bg-BG" dirty="0"/>
          </a:p>
        </p:txBody>
      </p:sp>
      <p:sp>
        <p:nvSpPr>
          <p:cNvPr id="3" name="Content Placeholder 2"/>
          <p:cNvSpPr>
            <a:spLocks noGrp="1"/>
          </p:cNvSpPr>
          <p:nvPr>
            <p:ph idx="1"/>
          </p:nvPr>
        </p:nvSpPr>
        <p:spPr/>
        <p:txBody>
          <a:bodyPr/>
          <a:lstStyle/>
          <a:p>
            <a:r>
              <a:rPr lang="ru-RU" dirty="0"/>
              <a:t>За да изтрием съществуващ ред използваме следния синтаксис:</a:t>
            </a:r>
          </a:p>
          <a:p>
            <a:endParaRPr lang="ru-RU" dirty="0"/>
          </a:p>
          <a:p>
            <a:pPr marL="0" indent="0">
              <a:buNone/>
            </a:pPr>
            <a:r>
              <a:rPr lang="ru-RU" dirty="0"/>
              <a:t>DELETE FROM &lt;таблица&gt;</a:t>
            </a:r>
          </a:p>
          <a:p>
            <a:pPr marL="0" indent="0">
              <a:buNone/>
            </a:pPr>
            <a:r>
              <a:rPr lang="ru-RU" dirty="0"/>
              <a:t>WHERE &lt;условие&gt;;</a:t>
            </a:r>
            <a:endParaRPr lang="bg-BG" dirty="0"/>
          </a:p>
        </p:txBody>
      </p:sp>
    </p:spTree>
    <p:extLst>
      <p:ext uri="{BB962C8B-B14F-4D97-AF65-F5344CB8AC3E}">
        <p14:creationId xmlns:p14="http://schemas.microsoft.com/office/powerpoint/2010/main" val="40086352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0823"/>
          </a:xfrm>
        </p:spPr>
        <p:txBody>
          <a:bodyPr>
            <a:normAutofit/>
          </a:bodyPr>
          <a:lstStyle/>
          <a:p>
            <a:r>
              <a:rPr lang="ru-RU" dirty="0"/>
              <a:t>Еднотабличен SELECT:</a:t>
            </a:r>
            <a:endParaRPr lang="bg-BG" dirty="0"/>
          </a:p>
        </p:txBody>
      </p:sp>
      <p:sp>
        <p:nvSpPr>
          <p:cNvPr id="3" name="Content Placeholder 2"/>
          <p:cNvSpPr>
            <a:spLocks noGrp="1"/>
          </p:cNvSpPr>
          <p:nvPr>
            <p:ph idx="1"/>
          </p:nvPr>
        </p:nvSpPr>
        <p:spPr>
          <a:xfrm>
            <a:off x="838200" y="1099930"/>
            <a:ext cx="10515600" cy="5077033"/>
          </a:xfrm>
        </p:spPr>
        <p:txBody>
          <a:bodyPr>
            <a:normAutofit fontScale="92500" lnSpcReduction="20000"/>
          </a:bodyPr>
          <a:lstStyle/>
          <a:p>
            <a:r>
              <a:rPr lang="ru-RU" dirty="0"/>
              <a:t>Еднотабличните SELECT заявки имат за цел да извлекат информация от една таблица по определени критерии.</a:t>
            </a:r>
            <a:endParaRPr lang="en-US" dirty="0"/>
          </a:p>
          <a:p>
            <a:r>
              <a:rPr lang="ru-RU" dirty="0"/>
              <a:t> Например търсим кои са всички ученици. Или пък всички ученици на които адресът им е „Младост“ и тн.</a:t>
            </a:r>
          </a:p>
          <a:p>
            <a:endParaRPr lang="ru-RU" dirty="0"/>
          </a:p>
          <a:p>
            <a:r>
              <a:rPr lang="ru-RU" dirty="0"/>
              <a:t>Синтаксис на еднотабличен SELECT:</a:t>
            </a:r>
          </a:p>
          <a:p>
            <a:r>
              <a:rPr lang="ru-RU" dirty="0"/>
              <a:t>След SELECT изброяваме колоните, разделени със запетая или символа ” * “, ако искаме всички колони. После уточняваме във FROM от коя таблица са тези колони и накрая ако има някакви критерии ги задаваме в where клаузата(ограничаващо условие).</a:t>
            </a:r>
          </a:p>
          <a:p>
            <a:endParaRPr lang="ru-RU" dirty="0"/>
          </a:p>
          <a:p>
            <a:pPr marL="0" indent="0">
              <a:buNone/>
            </a:pPr>
            <a:r>
              <a:rPr lang="ru-RU" dirty="0"/>
              <a:t>SELECT &lt;колона1&gt;,&lt;колона2&gt;,&lt;колонаN&gt;</a:t>
            </a:r>
          </a:p>
          <a:p>
            <a:pPr marL="0" indent="0">
              <a:buNone/>
            </a:pPr>
            <a:r>
              <a:rPr lang="ru-RU" dirty="0"/>
              <a:t>FROM &lt;таблица&gt;</a:t>
            </a:r>
          </a:p>
          <a:p>
            <a:pPr marL="0" indent="0">
              <a:buNone/>
            </a:pPr>
            <a:r>
              <a:rPr lang="ru-RU" dirty="0"/>
              <a:t>WHERE &lt;условие&gt;;     -&gt;ограничаващо условие</a:t>
            </a:r>
            <a:endParaRPr lang="bg-BG" dirty="0"/>
          </a:p>
        </p:txBody>
      </p:sp>
    </p:spTree>
    <p:extLst>
      <p:ext uri="{BB962C8B-B14F-4D97-AF65-F5344CB8AC3E}">
        <p14:creationId xmlns:p14="http://schemas.microsoft.com/office/powerpoint/2010/main" val="11137072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87814"/>
          </a:xfrm>
        </p:spPr>
        <p:txBody>
          <a:bodyPr/>
          <a:lstStyle/>
          <a:p>
            <a:r>
              <a:rPr lang="ru-RU" dirty="0"/>
              <a:t>SELECT</a:t>
            </a:r>
            <a:endParaRPr lang="bg-BG" dirty="0"/>
          </a:p>
        </p:txBody>
      </p:sp>
      <p:sp>
        <p:nvSpPr>
          <p:cNvPr id="3" name="Content Placeholder 2"/>
          <p:cNvSpPr>
            <a:spLocks noGrp="1"/>
          </p:cNvSpPr>
          <p:nvPr>
            <p:ph idx="1"/>
          </p:nvPr>
        </p:nvSpPr>
        <p:spPr>
          <a:xfrm>
            <a:off x="838199" y="1152940"/>
            <a:ext cx="10942983" cy="5024023"/>
          </a:xfrm>
        </p:spPr>
        <p:txBody>
          <a:bodyPr/>
          <a:lstStyle/>
          <a:p>
            <a:r>
              <a:rPr lang="bg-BG" dirty="0"/>
              <a:t>Например – нека да изведем информацията за всички ученици от </a:t>
            </a:r>
            <a:r>
              <a:rPr lang="en-US" dirty="0"/>
              <a:t>:</a:t>
            </a:r>
          </a:p>
          <a:p>
            <a:endParaRPr lang="en-US" dirty="0"/>
          </a:p>
          <a:p>
            <a:pPr marL="0" indent="0">
              <a:buNone/>
            </a:pPr>
            <a:r>
              <a:rPr lang="en-US" dirty="0"/>
              <a:t>SELECT id, </a:t>
            </a:r>
            <a:r>
              <a:rPr lang="en-US" dirty="0" err="1"/>
              <a:t>name,egn,address,phone,class</a:t>
            </a:r>
            <a:endParaRPr lang="en-US" dirty="0"/>
          </a:p>
          <a:p>
            <a:pPr marL="0" indent="0">
              <a:buNone/>
            </a:pPr>
            <a:r>
              <a:rPr lang="en-US" dirty="0"/>
              <a:t>FROM students;</a:t>
            </a:r>
          </a:p>
          <a:p>
            <a:pPr marL="0" indent="0">
              <a:buNone/>
            </a:pPr>
            <a:endParaRPr lang="en-US" dirty="0"/>
          </a:p>
          <a:p>
            <a:r>
              <a:rPr lang="bg-BG" dirty="0"/>
              <a:t>В случая нямаме ограничаващи условия, затова пропускаме </a:t>
            </a:r>
            <a:r>
              <a:rPr lang="en-US" dirty="0"/>
              <a:t>where </a:t>
            </a:r>
            <a:r>
              <a:rPr lang="bg-BG" dirty="0"/>
              <a:t>клаузата.</a:t>
            </a:r>
          </a:p>
        </p:txBody>
      </p:sp>
    </p:spTree>
    <p:extLst>
      <p:ext uri="{BB962C8B-B14F-4D97-AF65-F5344CB8AC3E}">
        <p14:creationId xmlns:p14="http://schemas.microsoft.com/office/powerpoint/2010/main" val="38536009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95049"/>
          </a:xfrm>
        </p:spPr>
        <p:txBody>
          <a:bodyPr/>
          <a:lstStyle/>
          <a:p>
            <a:endParaRPr lang="bg-BG" dirty="0"/>
          </a:p>
        </p:txBody>
      </p:sp>
      <p:pic>
        <p:nvPicPr>
          <p:cNvPr id="4" name="Content Placeholder 3"/>
          <p:cNvPicPr>
            <a:picLocks noGrp="1" noChangeAspect="1"/>
          </p:cNvPicPr>
          <p:nvPr>
            <p:ph idx="1"/>
          </p:nvPr>
        </p:nvPicPr>
        <p:blipFill>
          <a:blip r:embed="rId2"/>
          <a:stretch>
            <a:fillRect/>
          </a:stretch>
        </p:blipFill>
        <p:spPr>
          <a:xfrm>
            <a:off x="1627652" y="1152525"/>
            <a:ext cx="8936695" cy="5024438"/>
          </a:xfrm>
          <a:prstGeom prst="rect">
            <a:avLst/>
          </a:prstGeom>
        </p:spPr>
      </p:pic>
    </p:spTree>
    <p:extLst>
      <p:ext uri="{BB962C8B-B14F-4D97-AF65-F5344CB8AC3E}">
        <p14:creationId xmlns:p14="http://schemas.microsoft.com/office/powerpoint/2010/main" val="31212975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60092"/>
          </a:xfrm>
        </p:spPr>
        <p:txBody>
          <a:bodyPr/>
          <a:lstStyle/>
          <a:p>
            <a:r>
              <a:rPr lang="ru-RU" dirty="0"/>
              <a:t>SELECT</a:t>
            </a:r>
            <a:endParaRPr lang="bg-BG" dirty="0"/>
          </a:p>
        </p:txBody>
      </p:sp>
      <p:sp>
        <p:nvSpPr>
          <p:cNvPr id="3" name="Content Placeholder 2"/>
          <p:cNvSpPr>
            <a:spLocks noGrp="1"/>
          </p:cNvSpPr>
          <p:nvPr>
            <p:ph idx="1"/>
          </p:nvPr>
        </p:nvSpPr>
        <p:spPr/>
        <p:txBody>
          <a:bodyPr/>
          <a:lstStyle/>
          <a:p>
            <a:r>
              <a:rPr lang="ru-RU" dirty="0"/>
              <a:t>Нека да изведем всички ученици, на които id-тата са между 2 и 5.</a:t>
            </a:r>
          </a:p>
          <a:p>
            <a:endParaRPr lang="ru-RU" dirty="0"/>
          </a:p>
          <a:p>
            <a:pPr marL="0" indent="0">
              <a:buNone/>
            </a:pPr>
            <a:r>
              <a:rPr lang="ru-RU" dirty="0"/>
              <a:t>SELECT *</a:t>
            </a:r>
          </a:p>
          <a:p>
            <a:pPr marL="0" indent="0">
              <a:buNone/>
            </a:pPr>
            <a:r>
              <a:rPr lang="ru-RU" dirty="0"/>
              <a:t>FROM students</a:t>
            </a:r>
          </a:p>
          <a:p>
            <a:pPr marL="0" indent="0">
              <a:buNone/>
            </a:pPr>
            <a:r>
              <a:rPr lang="ru-RU" dirty="0"/>
              <a:t>WHERE id &gt;= 2 AND id &lt;= 5</a:t>
            </a:r>
            <a:endParaRPr lang="bg-BG" dirty="0"/>
          </a:p>
        </p:txBody>
      </p:sp>
    </p:spTree>
    <p:extLst>
      <p:ext uri="{BB962C8B-B14F-4D97-AF65-F5344CB8AC3E}">
        <p14:creationId xmlns:p14="http://schemas.microsoft.com/office/powerpoint/2010/main" val="19305225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27571"/>
          </a:xfrm>
        </p:spPr>
        <p:txBody>
          <a:bodyPr/>
          <a:lstStyle/>
          <a:p>
            <a:endParaRPr lang="bg-BG" dirty="0"/>
          </a:p>
        </p:txBody>
      </p:sp>
      <p:pic>
        <p:nvPicPr>
          <p:cNvPr id="4" name="Content Placeholder 3"/>
          <p:cNvPicPr>
            <a:picLocks noGrp="1" noChangeAspect="1"/>
          </p:cNvPicPr>
          <p:nvPr>
            <p:ph idx="1"/>
          </p:nvPr>
        </p:nvPicPr>
        <p:blipFill>
          <a:blip r:embed="rId2"/>
          <a:stretch>
            <a:fillRect/>
          </a:stretch>
        </p:blipFill>
        <p:spPr>
          <a:xfrm>
            <a:off x="2226255" y="1825625"/>
            <a:ext cx="7739489" cy="4351338"/>
          </a:xfrm>
          <a:prstGeom prst="rect">
            <a:avLst/>
          </a:prstGeom>
        </p:spPr>
      </p:pic>
    </p:spTree>
    <p:extLst>
      <p:ext uri="{BB962C8B-B14F-4D97-AF65-F5344CB8AC3E}">
        <p14:creationId xmlns:p14="http://schemas.microsoft.com/office/powerpoint/2010/main" val="14181201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48058"/>
          </a:xfrm>
        </p:spPr>
        <p:txBody>
          <a:bodyPr/>
          <a:lstStyle/>
          <a:p>
            <a:endParaRPr lang="bg-BG" dirty="0"/>
          </a:p>
        </p:txBody>
      </p:sp>
      <p:sp>
        <p:nvSpPr>
          <p:cNvPr id="3" name="Content Placeholder 2"/>
          <p:cNvSpPr>
            <a:spLocks noGrp="1"/>
          </p:cNvSpPr>
          <p:nvPr>
            <p:ph idx="1"/>
          </p:nvPr>
        </p:nvSpPr>
        <p:spPr>
          <a:xfrm>
            <a:off x="838200" y="1470991"/>
            <a:ext cx="10515600" cy="4705972"/>
          </a:xfrm>
        </p:spPr>
        <p:txBody>
          <a:bodyPr/>
          <a:lstStyle/>
          <a:p>
            <a:r>
              <a:rPr lang="bg-BG" dirty="0"/>
              <a:t>Аналогично можем да използваме и оператор </a:t>
            </a:r>
            <a:r>
              <a:rPr lang="en-US" dirty="0"/>
              <a:t>BETWEEN:</a:t>
            </a:r>
          </a:p>
          <a:p>
            <a:endParaRPr lang="en-US" dirty="0"/>
          </a:p>
          <a:p>
            <a:pPr marL="0" indent="0">
              <a:buNone/>
            </a:pPr>
            <a:r>
              <a:rPr lang="en-US" dirty="0"/>
              <a:t>SELECT *</a:t>
            </a:r>
          </a:p>
          <a:p>
            <a:pPr marL="0" indent="0">
              <a:buNone/>
            </a:pPr>
            <a:r>
              <a:rPr lang="en-US" dirty="0"/>
              <a:t>FROM students</a:t>
            </a:r>
          </a:p>
          <a:p>
            <a:pPr marL="0" indent="0">
              <a:buNone/>
            </a:pPr>
            <a:r>
              <a:rPr lang="en-US" dirty="0"/>
              <a:t>WHERE id BETWEEN 2 AND 5</a:t>
            </a:r>
            <a:endParaRPr lang="bg-BG" dirty="0"/>
          </a:p>
        </p:txBody>
      </p:sp>
    </p:spTree>
    <p:extLst>
      <p:ext uri="{BB962C8B-B14F-4D97-AF65-F5344CB8AC3E}">
        <p14:creationId xmlns:p14="http://schemas.microsoft.com/office/powerpoint/2010/main" val="39756780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bg-BG"/>
          </a:p>
        </p:txBody>
      </p:sp>
      <p:pic>
        <p:nvPicPr>
          <p:cNvPr id="4" name="Content Placeholder 3"/>
          <p:cNvPicPr>
            <a:picLocks noGrp="1" noChangeAspect="1"/>
          </p:cNvPicPr>
          <p:nvPr>
            <p:ph idx="1"/>
          </p:nvPr>
        </p:nvPicPr>
        <p:blipFill>
          <a:blip r:embed="rId2"/>
          <a:stretch>
            <a:fillRect/>
          </a:stretch>
        </p:blipFill>
        <p:spPr>
          <a:xfrm>
            <a:off x="2226255" y="1825625"/>
            <a:ext cx="7739489" cy="4351338"/>
          </a:xfrm>
          <a:prstGeom prst="rect">
            <a:avLst/>
          </a:prstGeom>
        </p:spPr>
      </p:pic>
    </p:spTree>
    <p:extLst>
      <p:ext uri="{BB962C8B-B14F-4D97-AF65-F5344CB8AC3E}">
        <p14:creationId xmlns:p14="http://schemas.microsoft.com/office/powerpoint/2010/main" val="7193889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87814"/>
          </a:xfrm>
        </p:spPr>
        <p:txBody>
          <a:bodyPr/>
          <a:lstStyle/>
          <a:p>
            <a:endParaRPr lang="bg-BG" dirty="0"/>
          </a:p>
        </p:txBody>
      </p:sp>
      <p:sp>
        <p:nvSpPr>
          <p:cNvPr id="3" name="Content Placeholder 2"/>
          <p:cNvSpPr>
            <a:spLocks noGrp="1"/>
          </p:cNvSpPr>
          <p:nvPr>
            <p:ph idx="1"/>
          </p:nvPr>
        </p:nvSpPr>
        <p:spPr>
          <a:xfrm>
            <a:off x="838200" y="1391478"/>
            <a:ext cx="10515600" cy="4785485"/>
          </a:xfrm>
        </p:spPr>
        <p:txBody>
          <a:bodyPr>
            <a:normAutofit fontScale="85000" lnSpcReduction="20000"/>
          </a:bodyPr>
          <a:lstStyle/>
          <a:p>
            <a:r>
              <a:rPr lang="ru-RU" dirty="0"/>
              <a:t>Да изведем информацията за всички студенти, на които имената им започват с буквата „I“:</a:t>
            </a:r>
          </a:p>
          <a:p>
            <a:endParaRPr lang="ru-RU" dirty="0"/>
          </a:p>
          <a:p>
            <a:pPr marL="0" indent="0">
              <a:buNone/>
            </a:pPr>
            <a:r>
              <a:rPr lang="ru-RU" dirty="0"/>
              <a:t>SELECT *</a:t>
            </a:r>
          </a:p>
          <a:p>
            <a:pPr marL="0" indent="0">
              <a:buNone/>
            </a:pPr>
            <a:r>
              <a:rPr lang="ru-RU" dirty="0"/>
              <a:t>FROM school_sport_clubs.students</a:t>
            </a:r>
          </a:p>
          <a:p>
            <a:pPr marL="0" indent="0">
              <a:buNone/>
            </a:pPr>
            <a:r>
              <a:rPr lang="ru-RU" dirty="0"/>
              <a:t>WHERE name LIKE 'I%';</a:t>
            </a:r>
            <a:endParaRPr lang="en-US" dirty="0"/>
          </a:p>
          <a:p>
            <a:pPr marL="0" indent="0">
              <a:buNone/>
            </a:pPr>
            <a:endParaRPr lang="ru-RU" dirty="0"/>
          </a:p>
          <a:p>
            <a:r>
              <a:rPr lang="ru-RU" dirty="0"/>
              <a:t>Такова търсене може да се реализира чрез маска за търсене – чрез оператор LIKE. В кавичките след него се задава т.нар. маска. Например:</a:t>
            </a:r>
          </a:p>
          <a:p>
            <a:endParaRPr lang="ru-RU" dirty="0"/>
          </a:p>
          <a:p>
            <a:pPr marL="0" indent="0">
              <a:buNone/>
            </a:pPr>
            <a:r>
              <a:rPr lang="ru-RU" dirty="0"/>
              <a:t>започва с </a:t>
            </a:r>
            <a:r>
              <a:rPr lang="en-US" dirty="0"/>
              <a:t>I</a:t>
            </a:r>
            <a:r>
              <a:rPr lang="ru-RU" dirty="0"/>
              <a:t> -&gt; ‘</a:t>
            </a:r>
            <a:r>
              <a:rPr lang="en-US" dirty="0"/>
              <a:t>I</a:t>
            </a:r>
            <a:r>
              <a:rPr lang="ru-RU" dirty="0"/>
              <a:t>%‘</a:t>
            </a:r>
          </a:p>
          <a:p>
            <a:pPr marL="0" indent="0">
              <a:buNone/>
            </a:pPr>
            <a:r>
              <a:rPr lang="ru-RU" dirty="0"/>
              <a:t>завършва на </a:t>
            </a:r>
            <a:r>
              <a:rPr lang="en-US" dirty="0"/>
              <a:t>I</a:t>
            </a:r>
            <a:r>
              <a:rPr lang="ru-RU" dirty="0"/>
              <a:t> -&gt; ‘%</a:t>
            </a:r>
            <a:r>
              <a:rPr lang="en-US" dirty="0"/>
              <a:t>I</a:t>
            </a:r>
            <a:r>
              <a:rPr lang="ru-RU" dirty="0"/>
              <a:t>‘</a:t>
            </a:r>
          </a:p>
          <a:p>
            <a:pPr marL="0" indent="0">
              <a:buNone/>
            </a:pPr>
            <a:r>
              <a:rPr lang="ru-RU" dirty="0"/>
              <a:t>съдържа </a:t>
            </a:r>
            <a:r>
              <a:rPr lang="en-US" dirty="0"/>
              <a:t>I</a:t>
            </a:r>
            <a:r>
              <a:rPr lang="ru-RU" dirty="0"/>
              <a:t> -&gt; ‘%</a:t>
            </a:r>
            <a:r>
              <a:rPr lang="en-US" dirty="0"/>
              <a:t>I</a:t>
            </a:r>
            <a:r>
              <a:rPr lang="ru-RU" dirty="0"/>
              <a:t>%‘</a:t>
            </a:r>
            <a:endParaRPr lang="bg-BG" dirty="0"/>
          </a:p>
        </p:txBody>
      </p:sp>
    </p:spTree>
    <p:extLst>
      <p:ext uri="{BB962C8B-B14F-4D97-AF65-F5344CB8AC3E}">
        <p14:creationId xmlns:p14="http://schemas.microsoft.com/office/powerpoint/2010/main" val="15836533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34805"/>
          </a:xfrm>
        </p:spPr>
        <p:txBody>
          <a:bodyPr/>
          <a:lstStyle/>
          <a:p>
            <a:endParaRPr lang="bg-BG" dirty="0"/>
          </a:p>
        </p:txBody>
      </p:sp>
      <p:pic>
        <p:nvPicPr>
          <p:cNvPr id="4" name="Content Placeholder 3"/>
          <p:cNvPicPr>
            <a:picLocks noGrp="1" noChangeAspect="1"/>
          </p:cNvPicPr>
          <p:nvPr>
            <p:ph idx="1"/>
          </p:nvPr>
        </p:nvPicPr>
        <p:blipFill>
          <a:blip r:embed="rId2"/>
          <a:stretch>
            <a:fillRect/>
          </a:stretch>
        </p:blipFill>
        <p:spPr>
          <a:xfrm>
            <a:off x="1710949" y="1246188"/>
            <a:ext cx="8770102" cy="4930775"/>
          </a:xfrm>
          <a:prstGeom prst="rect">
            <a:avLst/>
          </a:prstGeom>
        </p:spPr>
      </p:pic>
    </p:spTree>
    <p:extLst>
      <p:ext uri="{BB962C8B-B14F-4D97-AF65-F5344CB8AC3E}">
        <p14:creationId xmlns:p14="http://schemas.microsoft.com/office/powerpoint/2010/main" val="23228896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300</TotalTime>
  <Words>1417</Words>
  <Application>Microsoft Office PowerPoint</Application>
  <PresentationFormat>Widescreen</PresentationFormat>
  <Paragraphs>201</Paragraphs>
  <Slides>35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Calibri</vt:lpstr>
      <vt:lpstr>Calibri Light</vt:lpstr>
      <vt:lpstr>Office Theme</vt:lpstr>
      <vt:lpstr>Създаване на БД</vt:lpstr>
      <vt:lpstr>Задача:</vt:lpstr>
      <vt:lpstr>Обекти, връзки, ключови атрибути:</vt:lpstr>
      <vt:lpstr>Обекти, връзки, ключови атрибути:</vt:lpstr>
      <vt:lpstr>PowerPoint Presentation</vt:lpstr>
      <vt:lpstr>Писане на SQL Create  Database &amp; tables</vt:lpstr>
      <vt:lpstr>PowerPoint Presentation</vt:lpstr>
      <vt:lpstr>PowerPoint Presentation</vt:lpstr>
      <vt:lpstr>PowerPoint Presentation</vt:lpstr>
      <vt:lpstr>PowerPoint Presentation</vt:lpstr>
      <vt:lpstr>PowerPoint Presentation</vt:lpstr>
      <vt:lpstr>Изглед на табл. sportGroups</vt:lpstr>
      <vt:lpstr>PowerPoint Presentation</vt:lpstr>
      <vt:lpstr>Създаване на допълнителна таблица student_sport, разбиваща отношение М:М между таблици students sportGroups </vt:lpstr>
      <vt:lpstr>PowerPoint Presentation</vt:lpstr>
      <vt:lpstr>Заявки за вмъкване</vt:lpstr>
      <vt:lpstr>PowerPoint Presentation</vt:lpstr>
      <vt:lpstr>sports:</vt:lpstr>
      <vt:lpstr>coaches:</vt:lpstr>
      <vt:lpstr>students:</vt:lpstr>
      <vt:lpstr>PowerPoint Presentation</vt:lpstr>
      <vt:lpstr>sportGroups:</vt:lpstr>
      <vt:lpstr>student_sport:</vt:lpstr>
      <vt:lpstr>Заявка UPDATE</vt:lpstr>
      <vt:lpstr>UPDATE</vt:lpstr>
      <vt:lpstr>Заявка DELETE</vt:lpstr>
      <vt:lpstr>Еднотабличен SELECT:</vt:lpstr>
      <vt:lpstr>SELECT</vt:lpstr>
      <vt:lpstr>PowerPoint Presentation</vt:lpstr>
      <vt:lpstr>SELECT</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Създаване на БД</dc:title>
  <dc:creator>Mihaela</dc:creator>
  <cp:lastModifiedBy>T4130A</cp:lastModifiedBy>
  <cp:revision>18</cp:revision>
  <dcterms:created xsi:type="dcterms:W3CDTF">2025-02-23T15:56:30Z</dcterms:created>
  <dcterms:modified xsi:type="dcterms:W3CDTF">2026-03-05T13:28:34Z</dcterms:modified>
</cp:coreProperties>
</file>