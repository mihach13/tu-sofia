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vml" ContentType="application/vnd.openxmlformats-officedocument.vmlDrawing"/>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3" r:id="rId9"/>
    <p:sldId id="283" r:id="rId10"/>
    <p:sldId id="263" r:id="rId11"/>
    <p:sldId id="272" r:id="rId12"/>
    <p:sldId id="265" r:id="rId13"/>
    <p:sldId id="266" r:id="rId14"/>
    <p:sldId id="267" r:id="rId15"/>
    <p:sldId id="269" r:id="rId16"/>
    <p:sldId id="270" r:id="rId17"/>
    <p:sldId id="271" r:id="rId18"/>
    <p:sldId id="274" r:id="rId19"/>
    <p:sldId id="275" r:id="rId20"/>
    <p:sldId id="276" r:id="rId21"/>
    <p:sldId id="277" r:id="rId22"/>
    <p:sldId id="278" r:id="rId23"/>
    <p:sldId id="284" r:id="rId24"/>
    <p:sldId id="285" r:id="rId25"/>
    <p:sldId id="286" r:id="rId26"/>
    <p:sldId id="279" r:id="rId27"/>
    <p:sldId id="280" r:id="rId28"/>
    <p:sldId id="281" r:id="rId29"/>
    <p:sldId id="282" r:id="rId30"/>
  </p:sldIdLst>
  <p:sldSz cx="12192000" cy="6858000"/>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5" d="100"/>
          <a:sy n="115" d="100"/>
        </p:scale>
        <p:origin x="4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bg-B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bg-BG"/>
          </a:p>
        </p:txBody>
      </p:sp>
      <p:sp>
        <p:nvSpPr>
          <p:cNvPr id="4" name="Date Placeholder 3"/>
          <p:cNvSpPr>
            <a:spLocks noGrp="1"/>
          </p:cNvSpPr>
          <p:nvPr>
            <p:ph type="dt" sz="half" idx="10"/>
          </p:nvPr>
        </p:nvSpPr>
        <p:spPr/>
        <p:txBody>
          <a:bodyPr/>
          <a:lstStyle/>
          <a:p>
            <a:fld id="{EE6575E7-AAF8-42E7-8446-45C44585EB7C}" type="datetimeFigureOut">
              <a:rPr lang="bg-BG" smtClean="0"/>
              <a:t>25.02.2026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3218090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bg-B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p:cNvSpPr>
            <a:spLocks noGrp="1"/>
          </p:cNvSpPr>
          <p:nvPr>
            <p:ph type="dt" sz="half" idx="10"/>
          </p:nvPr>
        </p:nvSpPr>
        <p:spPr/>
        <p:txBody>
          <a:bodyPr/>
          <a:lstStyle/>
          <a:p>
            <a:fld id="{EE6575E7-AAF8-42E7-8446-45C44585EB7C}" type="datetimeFigureOut">
              <a:rPr lang="bg-BG" smtClean="0"/>
              <a:t>25.02.2026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2665591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bg-B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6575E7-AAF8-42E7-8446-45C44585EB7C}" type="datetimeFigureOut">
              <a:rPr lang="bg-BG" smtClean="0"/>
              <a:t>25.02.2026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716535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bg-BG"/>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Date Placeholder 4"/>
          <p:cNvSpPr>
            <a:spLocks noGrp="1"/>
          </p:cNvSpPr>
          <p:nvPr>
            <p:ph type="dt" sz="half" idx="10"/>
          </p:nvPr>
        </p:nvSpPr>
        <p:spPr/>
        <p:txBody>
          <a:bodyPr/>
          <a:lstStyle/>
          <a:p>
            <a:fld id="{EE6575E7-AAF8-42E7-8446-45C44585EB7C}" type="datetimeFigureOut">
              <a:rPr lang="bg-BG" smtClean="0"/>
              <a:t>25.02.2026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1792964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bg-B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7" name="Date Placeholder 6"/>
          <p:cNvSpPr>
            <a:spLocks noGrp="1"/>
          </p:cNvSpPr>
          <p:nvPr>
            <p:ph type="dt" sz="half" idx="10"/>
          </p:nvPr>
        </p:nvSpPr>
        <p:spPr/>
        <p:txBody>
          <a:bodyPr/>
          <a:lstStyle/>
          <a:p>
            <a:fld id="{EE6575E7-AAF8-42E7-8446-45C44585EB7C}" type="datetimeFigureOut">
              <a:rPr lang="bg-BG" smtClean="0"/>
              <a:t>25.02.2026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4001736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bg-BG"/>
          </a:p>
        </p:txBody>
      </p:sp>
      <p:sp>
        <p:nvSpPr>
          <p:cNvPr id="3" name="Date Placeholder 2"/>
          <p:cNvSpPr>
            <a:spLocks noGrp="1"/>
          </p:cNvSpPr>
          <p:nvPr>
            <p:ph type="dt" sz="half" idx="10"/>
          </p:nvPr>
        </p:nvSpPr>
        <p:spPr/>
        <p:txBody>
          <a:bodyPr/>
          <a:lstStyle/>
          <a:p>
            <a:fld id="{EE6575E7-AAF8-42E7-8446-45C44585EB7C}" type="datetimeFigureOut">
              <a:rPr lang="bg-BG" smtClean="0"/>
              <a:t>25.02.2026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3461534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6575E7-AAF8-42E7-8446-45C44585EB7C}" type="datetimeFigureOut">
              <a:rPr lang="bg-BG" smtClean="0"/>
              <a:t>25.02.2026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647653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6575E7-AAF8-42E7-8446-45C44585EB7C}" type="datetimeFigureOut">
              <a:rPr lang="bg-BG" smtClean="0"/>
              <a:t>25.02.2026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959132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bg-B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6575E7-AAF8-42E7-8446-45C44585EB7C}" type="datetimeFigureOut">
              <a:rPr lang="bg-BG" smtClean="0"/>
              <a:t>25.02.2026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3541608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bg-B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p:cNvSpPr>
            <a:spLocks noGrp="1"/>
          </p:cNvSpPr>
          <p:nvPr>
            <p:ph type="dt" sz="half" idx="10"/>
          </p:nvPr>
        </p:nvSpPr>
        <p:spPr/>
        <p:txBody>
          <a:bodyPr/>
          <a:lstStyle/>
          <a:p>
            <a:fld id="{EE6575E7-AAF8-42E7-8446-45C44585EB7C}" type="datetimeFigureOut">
              <a:rPr lang="bg-BG" smtClean="0"/>
              <a:t>25.02.2026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3849412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bg-B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p:cNvSpPr>
            <a:spLocks noGrp="1"/>
          </p:cNvSpPr>
          <p:nvPr>
            <p:ph type="dt" sz="half" idx="10"/>
          </p:nvPr>
        </p:nvSpPr>
        <p:spPr/>
        <p:txBody>
          <a:bodyPr/>
          <a:lstStyle/>
          <a:p>
            <a:fld id="{EE6575E7-AAF8-42E7-8446-45C44585EB7C}" type="datetimeFigureOut">
              <a:rPr lang="bg-BG" smtClean="0"/>
              <a:t>25.02.2026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95EB2FB1-359E-4971-8FBC-45AB64F97ED5}" type="slidenum">
              <a:rPr lang="bg-BG" smtClean="0"/>
              <a:t>‹#›</a:t>
            </a:fld>
            <a:endParaRPr lang="bg-BG"/>
          </a:p>
        </p:txBody>
      </p:sp>
    </p:spTree>
    <p:extLst>
      <p:ext uri="{BB962C8B-B14F-4D97-AF65-F5344CB8AC3E}">
        <p14:creationId xmlns:p14="http://schemas.microsoft.com/office/powerpoint/2010/main" val="2888463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bg-B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6575E7-AAF8-42E7-8446-45C44585EB7C}" type="datetimeFigureOut">
              <a:rPr lang="bg-BG" smtClean="0"/>
              <a:t>25.02.2026 г.</a:t>
            </a:fld>
            <a:endParaRPr lang="bg-B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g-B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EB2FB1-359E-4971-8FBC-45AB64F97ED5}" type="slidenum">
              <a:rPr lang="bg-BG" smtClean="0"/>
              <a:t>‹#›</a:t>
            </a:fld>
            <a:endParaRPr lang="bg-BG"/>
          </a:p>
        </p:txBody>
      </p:sp>
    </p:spTree>
    <p:extLst>
      <p:ext uri="{BB962C8B-B14F-4D97-AF65-F5344CB8AC3E}">
        <p14:creationId xmlns:p14="http://schemas.microsoft.com/office/powerpoint/2010/main" val="1104415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package" Target="../embeddings/Microsoft_Visio_Drawing1.vsdx"/><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package" Target="../embeddings/Microsoft_Visio_Drawing2.vsdx"/><Relationship Id="rId7" Type="http://schemas.openxmlformats.org/officeDocument/2006/relationships/package" Target="../embeddings/Microsoft_Visio_Drawing4.vsdx"/><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package" Target="../embeddings/Microsoft_Visio_Drawing3.vsdx"/><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bg-BG" sz="3600" dirty="0">
                <a:latin typeface="Arial" panose="020B0604020202020204" pitchFamily="34" charset="0"/>
                <a:cs typeface="Arial" panose="020B0604020202020204" pitchFamily="34" charset="0"/>
              </a:rPr>
              <a:t>Структура на СУБД.  </a:t>
            </a:r>
            <a:r>
              <a:rPr lang="en-US" sz="3600" dirty="0">
                <a:latin typeface="Arial" panose="020B0604020202020204" pitchFamily="34" charset="0"/>
                <a:cs typeface="Arial" panose="020B0604020202020204" pitchFamily="34" charset="0"/>
              </a:rPr>
              <a:t>ER </a:t>
            </a:r>
            <a:r>
              <a:rPr lang="bg-BG" sz="3600" dirty="0">
                <a:latin typeface="Arial" panose="020B0604020202020204" pitchFamily="34" charset="0"/>
                <a:cs typeface="Arial" panose="020B0604020202020204" pitchFamily="34" charset="0"/>
              </a:rPr>
              <a:t>модел. Анализ и проектиране на релации. Типове данни. Създаване на БД с помощта на </a:t>
            </a:r>
            <a:r>
              <a:rPr lang="en-US" sz="3600" dirty="0">
                <a:latin typeface="Arial" panose="020B0604020202020204" pitchFamily="34" charset="0"/>
                <a:cs typeface="Arial" panose="020B0604020202020204" pitchFamily="34" charset="0"/>
              </a:rPr>
              <a:t>SQL</a:t>
            </a:r>
            <a:endParaRPr lang="bg-BG" sz="36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p:txBody>
          <a:bodyPr/>
          <a:lstStyle/>
          <a:p>
            <a:endParaRPr lang="bg-BG"/>
          </a:p>
        </p:txBody>
      </p:sp>
    </p:spTree>
    <p:extLst>
      <p:ext uri="{BB962C8B-B14F-4D97-AF65-F5344CB8AC3E}">
        <p14:creationId xmlns:p14="http://schemas.microsoft.com/office/powerpoint/2010/main" val="2152152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3575"/>
          </a:xfrm>
        </p:spPr>
        <p:txBody>
          <a:bodyPr>
            <a:normAutofit/>
          </a:bodyPr>
          <a:lstStyle/>
          <a:p>
            <a:r>
              <a:rPr lang="bg-BG" sz="3200" dirty="0">
                <a:latin typeface="Arial" panose="020B0604020202020204" pitchFamily="34" charset="0"/>
                <a:cs typeface="Arial" panose="020B0604020202020204" pitchFamily="34" charset="0"/>
              </a:rPr>
              <a:t>БД</a:t>
            </a:r>
            <a:r>
              <a:rPr lang="bg-BG" sz="2000" dirty="0">
                <a:latin typeface="Arial" panose="020B0604020202020204" pitchFamily="34" charset="0"/>
                <a:cs typeface="Arial" panose="020B0604020202020204" pitchFamily="34" charset="0"/>
              </a:rPr>
              <a:t> </a:t>
            </a:r>
          </a:p>
        </p:txBody>
      </p:sp>
      <p:sp>
        <p:nvSpPr>
          <p:cNvPr id="3" name="Content Placeholder 2"/>
          <p:cNvSpPr>
            <a:spLocks noGrp="1"/>
          </p:cNvSpPr>
          <p:nvPr>
            <p:ph idx="1"/>
          </p:nvPr>
        </p:nvSpPr>
        <p:spPr>
          <a:xfrm>
            <a:off x="457200" y="1028700"/>
            <a:ext cx="11506200" cy="5148263"/>
          </a:xfrm>
        </p:spPr>
        <p:txBody>
          <a:bodyPr>
            <a:normAutofit/>
          </a:bodyPr>
          <a:lstStyle/>
          <a:p>
            <a:pPr marL="0" indent="0" algn="just">
              <a:buNone/>
            </a:pPr>
            <a:r>
              <a:rPr lang="bg-BG" sz="2400" dirty="0"/>
              <a:t>Релационни БД – информация, съхранявана в таблици (записи и атрибути – свойства, полета). Софтуер за поддържане и управление на БД – СУБД</a:t>
            </a:r>
            <a:r>
              <a:rPr lang="en-US" sz="2400" dirty="0"/>
              <a:t>;</a:t>
            </a:r>
            <a:r>
              <a:rPr lang="bg-BG" sz="2400" dirty="0"/>
              <a:t>Предимства от използване СУБД – намаляване на обема данни (отстраняване на повторение и осигуряване на интегритет), коректност и цялост на данните; независимост на софтуера от информацията и др.</a:t>
            </a:r>
            <a:endParaRPr lang="en-US" sz="2400" dirty="0"/>
          </a:p>
          <a:p>
            <a:pPr marL="0" indent="0" algn="just">
              <a:buNone/>
            </a:pPr>
            <a:r>
              <a:rPr lang="ru-RU" sz="2400" dirty="0"/>
              <a:t>СУБД са изградена от две части</a:t>
            </a:r>
            <a:r>
              <a:rPr lang="en-US" sz="2400" dirty="0"/>
              <a:t>:</a:t>
            </a:r>
          </a:p>
          <a:p>
            <a:r>
              <a:rPr lang="ru-RU" sz="2400" dirty="0"/>
              <a:t>Сървър на базата от данни: Това е софтуерен продукт, който осигурява запазването на данните и предоставя интерфейс за достъп до тях. Сървърът се грижи за осигуряването на цялостност и за защитата на информацията.</a:t>
            </a:r>
          </a:p>
          <a:p>
            <a:r>
              <a:rPr lang="ru-RU" sz="2400" dirty="0"/>
              <a:t>Сервизни програми: За поддръжката на всяка система много често са нужни и допълнителни програми, които нямат пряка връзка с конкретния софтуерен продукт. Такива програми например се използват за създаването на резервни копия, за оптимизиране на данните, за събиране на статистическа информация, за допълнителни настройки на сървъра, за тестване на интегритета на системата, и т.н.</a:t>
            </a:r>
          </a:p>
          <a:p>
            <a:pPr marL="0" indent="0" algn="just">
              <a:buNone/>
            </a:pPr>
            <a:endParaRPr lang="bg-BG" sz="2400" dirty="0"/>
          </a:p>
          <a:p>
            <a:pPr marL="0" indent="0" algn="just">
              <a:buNone/>
            </a:pPr>
            <a:endParaRPr lang="bg-BG" sz="2400" dirty="0"/>
          </a:p>
        </p:txBody>
      </p:sp>
    </p:spTree>
    <p:extLst>
      <p:ext uri="{BB962C8B-B14F-4D97-AF65-F5344CB8AC3E}">
        <p14:creationId xmlns:p14="http://schemas.microsoft.com/office/powerpoint/2010/main" val="663434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1375"/>
          </a:xfrm>
        </p:spPr>
        <p:txBody>
          <a:bodyPr>
            <a:normAutofit/>
          </a:bodyPr>
          <a:lstStyle/>
          <a:p>
            <a:r>
              <a:rPr lang="bg-BG" sz="3200" dirty="0">
                <a:latin typeface="Arial" panose="020B0604020202020204" pitchFamily="34" charset="0"/>
                <a:cs typeface="Arial" panose="020B0604020202020204" pitchFamily="34" charset="0"/>
              </a:rPr>
              <a:t>Концептуален модел на БД; </a:t>
            </a:r>
            <a:r>
              <a:rPr lang="en-US" sz="3200" dirty="0">
                <a:latin typeface="Arial" panose="020B0604020202020204" pitchFamily="34" charset="0"/>
                <a:cs typeface="Arial" panose="020B0604020202020204" pitchFamily="34" charset="0"/>
              </a:rPr>
              <a:t>ER </a:t>
            </a:r>
            <a:r>
              <a:rPr lang="bg-BG" sz="3200" dirty="0">
                <a:latin typeface="Arial" panose="020B0604020202020204" pitchFamily="34" charset="0"/>
                <a:cs typeface="Arial" panose="020B0604020202020204" pitchFamily="34" charset="0"/>
              </a:rPr>
              <a:t>диаграма</a:t>
            </a:r>
            <a:endParaRPr lang="bg-BG" sz="3200" dirty="0"/>
          </a:p>
        </p:txBody>
      </p:sp>
      <p:sp>
        <p:nvSpPr>
          <p:cNvPr id="3" name="Content Placeholder 2"/>
          <p:cNvSpPr>
            <a:spLocks noGrp="1"/>
          </p:cNvSpPr>
          <p:nvPr>
            <p:ph idx="1"/>
          </p:nvPr>
        </p:nvSpPr>
        <p:spPr>
          <a:xfrm>
            <a:off x="355600" y="990600"/>
            <a:ext cx="11506200" cy="5524500"/>
          </a:xfrm>
        </p:spPr>
        <p:txBody>
          <a:bodyPr>
            <a:noAutofit/>
          </a:bodyPr>
          <a:lstStyle/>
          <a:p>
            <a:pPr marL="0" indent="0">
              <a:buNone/>
            </a:pPr>
            <a:r>
              <a:rPr lang="bg-BG" sz="2600" b="1" i="1" dirty="0"/>
              <a:t>Концептуалният модел </a:t>
            </a:r>
            <a:r>
              <a:rPr lang="bg-BG" sz="2600" dirty="0"/>
              <a:t>на данните се явява начален прототип на бъдещата БД</a:t>
            </a:r>
            <a:r>
              <a:rPr lang="en-US" sz="2600" dirty="0"/>
              <a:t>. </a:t>
            </a:r>
            <a:endParaRPr lang="bg-BG" sz="2600" dirty="0"/>
          </a:p>
          <a:p>
            <a:pPr algn="just"/>
            <a:r>
              <a:rPr lang="bg-BG" sz="2600" dirty="0"/>
              <a:t>Концептуалният модел на данните представлява анализ на поставеното от възложителя задание. В него се определят необходимите за базата данни обекти, техните характеристики и ограничения както и връзките и взаимодействията между тях.</a:t>
            </a:r>
          </a:p>
          <a:p>
            <a:pPr algn="just"/>
            <a:r>
              <a:rPr lang="bg-BG" sz="2600" dirty="0"/>
              <a:t>При проектирането на база данни първо се започва от анализ на предметната област. Нужно е първо да се изясни абстрактно семантиката на разглежданите обекти. В последствие се преминава и до изготвяне на конкретния им модел и връзката им с конкретни типове данни.</a:t>
            </a:r>
          </a:p>
          <a:p>
            <a:pPr marL="0" indent="0" algn="just">
              <a:buNone/>
            </a:pPr>
            <a:r>
              <a:rPr lang="bg-BG" sz="2600" b="1" dirty="0"/>
              <a:t>ER </a:t>
            </a:r>
            <a:r>
              <a:rPr lang="bg-BG" sz="2600" dirty="0"/>
              <a:t>моделът е един от известните семантични модели за бази данни. Характерно за него е използването на графично представяне на базата данни, чрез „ER диаграма“. </a:t>
            </a:r>
            <a:endParaRPr lang="bg-BG"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3906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10515600" cy="414337"/>
          </a:xfrm>
        </p:spPr>
        <p:txBody>
          <a:bodyPr>
            <a:noAutofit/>
          </a:bodyPr>
          <a:lstStyle/>
          <a:p>
            <a:r>
              <a:rPr lang="bg-BG" sz="3200" dirty="0"/>
              <a:t>Компоненти на </a:t>
            </a:r>
            <a:r>
              <a:rPr lang="bg-BG" sz="3200" b="1" dirty="0"/>
              <a:t>ER</a:t>
            </a:r>
            <a:r>
              <a:rPr lang="bg-BG" sz="3200" dirty="0"/>
              <a:t> диаграма - обекти </a:t>
            </a:r>
          </a:p>
        </p:txBody>
      </p:sp>
      <p:sp>
        <p:nvSpPr>
          <p:cNvPr id="6" name="Content Placeholder 5"/>
          <p:cNvSpPr>
            <a:spLocks noGrp="1"/>
          </p:cNvSpPr>
          <p:nvPr>
            <p:ph idx="1"/>
          </p:nvPr>
        </p:nvSpPr>
        <p:spPr>
          <a:xfrm>
            <a:off x="479425" y="1422400"/>
            <a:ext cx="10515600" cy="4838700"/>
          </a:xfrm>
        </p:spPr>
        <p:txBody>
          <a:bodyPr/>
          <a:lstStyle/>
          <a:p>
            <a:pPr marL="0" indent="0" algn="just">
              <a:buNone/>
            </a:pPr>
            <a:r>
              <a:rPr lang="bg-BG" dirty="0"/>
              <a:t>Една </a:t>
            </a:r>
            <a:r>
              <a:rPr lang="bg-BG" b="1" dirty="0"/>
              <a:t>ER</a:t>
            </a:r>
            <a:r>
              <a:rPr lang="bg-BG" dirty="0"/>
              <a:t> диаграма съдържа следните компоненти:</a:t>
            </a:r>
          </a:p>
          <a:p>
            <a:pPr marL="144000" indent="0" algn="just"/>
            <a:r>
              <a:rPr lang="bg-BG" b="1" dirty="0"/>
              <a:t>Обект</a:t>
            </a:r>
            <a:r>
              <a:rPr lang="bg-BG" dirty="0"/>
              <a:t> – това е наименованието на реален</a:t>
            </a:r>
            <a:r>
              <a:rPr lang="en-US" dirty="0"/>
              <a:t>/</a:t>
            </a:r>
            <a:r>
              <a:rPr lang="bg-BG" dirty="0"/>
              <a:t>виртуален обект от предметната област. В E</a:t>
            </a:r>
            <a:r>
              <a:rPr lang="en-US" dirty="0"/>
              <a:t>R</a:t>
            </a:r>
            <a:r>
              <a:rPr lang="bg-BG" dirty="0"/>
              <a:t> диаграмата те се изобразяват като правоъгълници: </a:t>
            </a:r>
          </a:p>
          <a:p>
            <a:pPr marL="144000" indent="0" algn="just"/>
            <a:endParaRPr lang="bg-BG" dirty="0"/>
          </a:p>
          <a:p>
            <a:pPr algn="just"/>
            <a:r>
              <a:rPr lang="bg-BG" b="1" dirty="0"/>
              <a:t>Характеризиращ обект </a:t>
            </a:r>
            <a:r>
              <a:rPr lang="bg-BG" dirty="0"/>
              <a:t>– обект, който не може да съществува извън рамките на предметната област:</a:t>
            </a:r>
          </a:p>
          <a:p>
            <a:pPr marL="0" indent="0" algn="just">
              <a:buNone/>
            </a:pPr>
            <a:endParaRPr lang="bg-BG" dirty="0"/>
          </a:p>
          <a:p>
            <a:endParaRPr lang="bg-BG" dirty="0"/>
          </a:p>
        </p:txBody>
      </p:sp>
      <p:sp>
        <p:nvSpPr>
          <p:cNvPr id="7" name="Rectangle 2"/>
          <p:cNvSpPr>
            <a:spLocks noChangeArrowheads="1"/>
          </p:cNvSpPr>
          <p:nvPr/>
        </p:nvSpPr>
        <p:spPr bwMode="auto">
          <a:xfrm>
            <a:off x="-447675"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8" name="Object 7"/>
          <p:cNvGraphicFramePr>
            <a:graphicFrameLocks noChangeAspect="1"/>
          </p:cNvGraphicFramePr>
          <p:nvPr>
            <p:extLst>
              <p:ext uri="{D42A27DB-BD31-4B8C-83A1-F6EECF244321}">
                <p14:modId xmlns:p14="http://schemas.microsoft.com/office/powerpoint/2010/main" val="3307966980"/>
              </p:ext>
            </p:extLst>
          </p:nvPr>
        </p:nvGraphicFramePr>
        <p:xfrm>
          <a:off x="3771900" y="2908300"/>
          <a:ext cx="1558572" cy="596900"/>
        </p:xfrm>
        <a:graphic>
          <a:graphicData uri="http://schemas.openxmlformats.org/presentationml/2006/ole">
            <mc:AlternateContent xmlns:mc="http://schemas.openxmlformats.org/markup-compatibility/2006">
              <mc:Choice xmlns:v="urn:schemas-microsoft-com:vml" Requires="v">
                <p:oleObj spid="_x0000_s1081" name="Visio" r:id="rId3" imgW="1076446" imgH="552620" progId="Visio.Drawing.15">
                  <p:embed/>
                </p:oleObj>
              </mc:Choice>
              <mc:Fallback>
                <p:oleObj name="Visio" r:id="rId3" imgW="1076446" imgH="552620"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1900" y="2908300"/>
                        <a:ext cx="1558572" cy="596900"/>
                      </a:xfrm>
                      <a:prstGeom prst="rect">
                        <a:avLst/>
                      </a:prstGeom>
                      <a:noFill/>
                    </p:spPr>
                  </p:pic>
                </p:oleObj>
              </mc:Fallback>
            </mc:AlternateContent>
          </a:graphicData>
        </a:graphic>
      </p:graphicFrame>
      <p:sp>
        <p:nvSpPr>
          <p:cNvPr id="9" name="Rectangle 4"/>
          <p:cNvSpPr>
            <a:spLocks noChangeArrowheads="1"/>
          </p:cNvSpPr>
          <p:nvPr/>
        </p:nvSpPr>
        <p:spPr bwMode="auto">
          <a:xfrm>
            <a:off x="88900" y="841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0" name="Object 9"/>
          <p:cNvGraphicFramePr>
            <a:graphicFrameLocks noChangeAspect="1"/>
          </p:cNvGraphicFramePr>
          <p:nvPr>
            <p:extLst>
              <p:ext uri="{D42A27DB-BD31-4B8C-83A1-F6EECF244321}">
                <p14:modId xmlns:p14="http://schemas.microsoft.com/office/powerpoint/2010/main" val="1205225698"/>
              </p:ext>
            </p:extLst>
          </p:nvPr>
        </p:nvGraphicFramePr>
        <p:xfrm>
          <a:off x="5648753" y="4627562"/>
          <a:ext cx="4981148" cy="973138"/>
        </p:xfrm>
        <a:graphic>
          <a:graphicData uri="http://schemas.openxmlformats.org/presentationml/2006/ole">
            <mc:AlternateContent xmlns:mc="http://schemas.openxmlformats.org/markup-compatibility/2006">
              <mc:Choice xmlns:v="urn:schemas-microsoft-com:vml" Requires="v">
                <p:oleObj spid="_x0000_s1082" name="Visio" r:id="rId5" imgW="4314860" imgH="847881" progId="Visio.Drawing.15">
                  <p:embed/>
                </p:oleObj>
              </mc:Choice>
              <mc:Fallback>
                <p:oleObj name="Visio" r:id="rId5" imgW="4314860" imgH="847881" progId="Visio.Drawing.15">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48753" y="4627562"/>
                        <a:ext cx="4981148" cy="973138"/>
                      </a:xfrm>
                      <a:prstGeom prst="rect">
                        <a:avLst/>
                      </a:prstGeom>
                      <a:noFill/>
                    </p:spPr>
                  </p:pic>
                </p:oleObj>
              </mc:Fallback>
            </mc:AlternateContent>
          </a:graphicData>
        </a:graphic>
      </p:graphicFrame>
      <p:sp>
        <p:nvSpPr>
          <p:cNvPr id="11"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2954592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11175"/>
          </a:xfrm>
        </p:spPr>
        <p:txBody>
          <a:bodyPr>
            <a:noAutofit/>
          </a:bodyPr>
          <a:lstStyle/>
          <a:p>
            <a:r>
              <a:rPr lang="bg-BG" sz="3200" dirty="0"/>
              <a:t>Компоненти на </a:t>
            </a:r>
            <a:r>
              <a:rPr lang="bg-BG" sz="3200" b="1" dirty="0"/>
              <a:t>ER</a:t>
            </a:r>
            <a:r>
              <a:rPr lang="bg-BG" sz="3200" dirty="0"/>
              <a:t> диаграма - атрибути </a:t>
            </a:r>
          </a:p>
        </p:txBody>
      </p:sp>
      <p:sp>
        <p:nvSpPr>
          <p:cNvPr id="3" name="Content Placeholder 2"/>
          <p:cNvSpPr>
            <a:spLocks noGrp="1"/>
          </p:cNvSpPr>
          <p:nvPr>
            <p:ph idx="1"/>
          </p:nvPr>
        </p:nvSpPr>
        <p:spPr>
          <a:xfrm>
            <a:off x="457200" y="1012825"/>
            <a:ext cx="11252200" cy="5489575"/>
          </a:xfrm>
        </p:spPr>
        <p:txBody>
          <a:bodyPr/>
          <a:lstStyle/>
          <a:p>
            <a:r>
              <a:rPr lang="bg-BG" b="1" dirty="0"/>
              <a:t>Атрибути </a:t>
            </a:r>
            <a:r>
              <a:rPr lang="bg-BG" dirty="0"/>
              <a:t>– това са свойствата на всеки обект в даден клас, изобразя-ват се с елипси:</a:t>
            </a:r>
          </a:p>
          <a:p>
            <a:endParaRPr lang="bg-BG" dirty="0"/>
          </a:p>
          <a:p>
            <a:endParaRPr lang="bg-BG" dirty="0"/>
          </a:p>
          <a:p>
            <a:r>
              <a:rPr lang="bg-BG" dirty="0"/>
              <a:t>Атрибути с множество стойности – атрибут, съставен от повече от една стойност: </a:t>
            </a:r>
          </a:p>
          <a:p>
            <a:endParaRPr lang="bg-BG" dirty="0"/>
          </a:p>
          <a:p>
            <a:r>
              <a:rPr lang="en-US" dirty="0"/>
              <a:t>Derived </a:t>
            </a:r>
            <a:r>
              <a:rPr lang="bg-BG" dirty="0"/>
              <a:t>(получен) атрибут – който може да се извлече от други атрибути на същата или друга релация:</a:t>
            </a:r>
          </a:p>
          <a:p>
            <a:endParaRPr lang="bg-BG" dirty="0"/>
          </a:p>
          <a:p>
            <a:pPr marL="0" indent="0">
              <a:buNone/>
            </a:pPr>
            <a:r>
              <a:rPr lang="bg-BG" dirty="0"/>
              <a:t> </a:t>
            </a:r>
          </a:p>
          <a:p>
            <a:endParaRPr lang="bg-BG" dirty="0"/>
          </a:p>
        </p:txBody>
      </p:sp>
      <p:graphicFrame>
        <p:nvGraphicFramePr>
          <p:cNvPr id="4" name="Object 3"/>
          <p:cNvGraphicFramePr>
            <a:graphicFrameLocks noChangeAspect="1"/>
          </p:cNvGraphicFramePr>
          <p:nvPr>
            <p:extLst>
              <p:ext uri="{D42A27DB-BD31-4B8C-83A1-F6EECF244321}">
                <p14:modId xmlns:p14="http://schemas.microsoft.com/office/powerpoint/2010/main" val="2239076229"/>
              </p:ext>
            </p:extLst>
          </p:nvPr>
        </p:nvGraphicFramePr>
        <p:xfrm>
          <a:off x="4860571" y="1524000"/>
          <a:ext cx="4128133" cy="1244601"/>
        </p:xfrm>
        <a:graphic>
          <a:graphicData uri="http://schemas.openxmlformats.org/presentationml/2006/ole">
            <mc:AlternateContent xmlns:mc="http://schemas.openxmlformats.org/markup-compatibility/2006">
              <mc:Choice xmlns:v="urn:schemas-microsoft-com:vml" Requires="v">
                <p:oleObj spid="_x0000_s2129" name="Visio" r:id="rId3" imgW="4257748" imgH="1276180" progId="Visio.Drawing.15">
                  <p:embed/>
                </p:oleObj>
              </mc:Choice>
              <mc:Fallback>
                <p:oleObj name="Visio" r:id="rId3" imgW="4257748" imgH="1276180" progId="Visio.Drawing.1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571" y="1524000"/>
                        <a:ext cx="4128133" cy="1244601"/>
                      </a:xfrm>
                      <a:prstGeom prst="rect">
                        <a:avLst/>
                      </a:prstGeom>
                      <a:noFill/>
                    </p:spPr>
                  </p:pic>
                </p:oleObj>
              </mc:Fallback>
            </mc:AlternateContent>
          </a:graphicData>
        </a:graphic>
      </p:graphicFrame>
      <p:sp>
        <p:nvSpPr>
          <p:cNvPr id="5" name="Rectangle 2"/>
          <p:cNvSpPr>
            <a:spLocks noChangeArrowheads="1"/>
          </p:cNvSpPr>
          <p:nvPr/>
        </p:nvSpPr>
        <p:spPr bwMode="auto">
          <a:xfrm>
            <a:off x="-114300" y="-92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6" name="Object 5"/>
          <p:cNvGraphicFramePr>
            <a:graphicFrameLocks noChangeAspect="1"/>
          </p:cNvGraphicFramePr>
          <p:nvPr>
            <p:extLst>
              <p:ext uri="{D42A27DB-BD31-4B8C-83A1-F6EECF244321}">
                <p14:modId xmlns:p14="http://schemas.microsoft.com/office/powerpoint/2010/main" val="481769404"/>
              </p:ext>
            </p:extLst>
          </p:nvPr>
        </p:nvGraphicFramePr>
        <p:xfrm>
          <a:off x="4123481" y="3503612"/>
          <a:ext cx="4865223" cy="680244"/>
        </p:xfrm>
        <a:graphic>
          <a:graphicData uri="http://schemas.openxmlformats.org/presentationml/2006/ole">
            <mc:AlternateContent xmlns:mc="http://schemas.openxmlformats.org/markup-compatibility/2006">
              <mc:Choice xmlns:v="urn:schemas-microsoft-com:vml" Requires="v">
                <p:oleObj spid="_x0000_s2130" name="Visio" r:id="rId5" imgW="3133645" imgH="438154" progId="Visio.Drawing.15">
                  <p:embed/>
                </p:oleObj>
              </mc:Choice>
              <mc:Fallback>
                <p:oleObj name="Visio" r:id="rId5" imgW="3133645" imgH="438154"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3481" y="3503612"/>
                        <a:ext cx="4865223" cy="680244"/>
                      </a:xfrm>
                      <a:prstGeom prst="rect">
                        <a:avLst/>
                      </a:prstGeom>
                      <a:noFill/>
                    </p:spPr>
                  </p:pic>
                </p:oleObj>
              </mc:Fallback>
            </mc:AlternateContent>
          </a:graphicData>
        </a:graphic>
      </p:graphicFrame>
      <p:sp>
        <p:nvSpPr>
          <p:cNvPr id="7"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8" name="Object 7"/>
          <p:cNvGraphicFramePr>
            <a:graphicFrameLocks noChangeAspect="1"/>
          </p:cNvGraphicFramePr>
          <p:nvPr>
            <p:extLst>
              <p:ext uri="{D42A27DB-BD31-4B8C-83A1-F6EECF244321}">
                <p14:modId xmlns:p14="http://schemas.microsoft.com/office/powerpoint/2010/main" val="2247912435"/>
              </p:ext>
            </p:extLst>
          </p:nvPr>
        </p:nvGraphicFramePr>
        <p:xfrm>
          <a:off x="6629209" y="5033168"/>
          <a:ext cx="4724591" cy="1469232"/>
        </p:xfrm>
        <a:graphic>
          <a:graphicData uri="http://schemas.openxmlformats.org/presentationml/2006/ole">
            <mc:AlternateContent xmlns:mc="http://schemas.openxmlformats.org/markup-compatibility/2006">
              <mc:Choice xmlns:v="urn:schemas-microsoft-com:vml" Requires="v">
                <p:oleObj spid="_x0000_s2131" name="Visio" r:id="rId7" imgW="3124189" imgH="971443" progId="Visio.Drawing.15">
                  <p:embed/>
                </p:oleObj>
              </mc:Choice>
              <mc:Fallback>
                <p:oleObj name="Visio" r:id="rId7" imgW="3124189" imgH="971443" progId="Visio.Drawing.15">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9209" y="5033168"/>
                        <a:ext cx="4724591" cy="1469232"/>
                      </a:xfrm>
                      <a:prstGeom prst="rect">
                        <a:avLst/>
                      </a:prstGeom>
                      <a:noFill/>
                    </p:spPr>
                  </p:pic>
                </p:oleObj>
              </mc:Fallback>
            </mc:AlternateContent>
          </a:graphicData>
        </a:graphic>
      </p:graphicFrame>
    </p:spTree>
    <p:extLst>
      <p:ext uri="{BB962C8B-B14F-4D97-AF65-F5344CB8AC3E}">
        <p14:creationId xmlns:p14="http://schemas.microsoft.com/office/powerpoint/2010/main" val="1889750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0501"/>
            <a:ext cx="10515600" cy="812799"/>
          </a:xfrm>
        </p:spPr>
        <p:txBody>
          <a:bodyPr>
            <a:normAutofit/>
          </a:bodyPr>
          <a:lstStyle/>
          <a:p>
            <a:r>
              <a:rPr lang="bg-BG" sz="3200" dirty="0"/>
              <a:t>Компоненти на </a:t>
            </a:r>
            <a:r>
              <a:rPr lang="bg-BG" sz="3200" b="1" dirty="0"/>
              <a:t>ER</a:t>
            </a:r>
            <a:r>
              <a:rPr lang="bg-BG" sz="3200" dirty="0"/>
              <a:t> диаграма – връзки ( </a:t>
            </a:r>
            <a:r>
              <a:rPr lang="en-US" sz="3200" dirty="0"/>
              <a:t>relationships)</a:t>
            </a:r>
            <a:endParaRPr lang="bg-BG" sz="3200" dirty="0"/>
          </a:p>
        </p:txBody>
      </p:sp>
      <p:sp>
        <p:nvSpPr>
          <p:cNvPr id="3" name="Content Placeholder 2"/>
          <p:cNvSpPr>
            <a:spLocks noGrp="1"/>
          </p:cNvSpPr>
          <p:nvPr>
            <p:ph idx="1"/>
          </p:nvPr>
        </p:nvSpPr>
        <p:spPr>
          <a:xfrm>
            <a:off x="419100" y="863600"/>
            <a:ext cx="11315700" cy="5313363"/>
          </a:xfrm>
        </p:spPr>
        <p:txBody>
          <a:bodyPr>
            <a:normAutofit/>
          </a:bodyPr>
          <a:lstStyle/>
          <a:p>
            <a:pPr algn="just"/>
            <a:r>
              <a:rPr lang="bg-BG" b="1" dirty="0"/>
              <a:t>Връзка</a:t>
            </a:r>
            <a:r>
              <a:rPr lang="bg-BG" dirty="0"/>
              <a:t> </a:t>
            </a:r>
            <a:r>
              <a:rPr lang="bg-BG" b="1" dirty="0"/>
              <a:t>1:1</a:t>
            </a:r>
            <a:r>
              <a:rPr lang="bg-BG" dirty="0"/>
              <a:t> се получава когато един обект от даден</a:t>
            </a:r>
            <a:r>
              <a:rPr lang="en-US" dirty="0"/>
              <a:t>a</a:t>
            </a:r>
            <a:r>
              <a:rPr lang="bg-BG" dirty="0"/>
              <a:t> релация ще бъде асоцииран  е свързан с точно един обект от друг релация</a:t>
            </a:r>
            <a:r>
              <a:rPr lang="en-US" dirty="0"/>
              <a:t>:</a:t>
            </a:r>
          </a:p>
          <a:p>
            <a:pPr algn="just"/>
            <a:endParaRPr lang="bg-BG" dirty="0"/>
          </a:p>
          <a:p>
            <a:pPr algn="just"/>
            <a:endParaRPr lang="en-US" b="1" dirty="0"/>
          </a:p>
          <a:p>
            <a:pPr algn="just"/>
            <a:endParaRPr lang="bg-BG" b="1" dirty="0"/>
          </a:p>
          <a:p>
            <a:pPr algn="just"/>
            <a:r>
              <a:rPr lang="bg-BG" b="1" dirty="0"/>
              <a:t>Връзка</a:t>
            </a:r>
            <a:r>
              <a:rPr lang="bg-BG" dirty="0"/>
              <a:t> </a:t>
            </a:r>
            <a:r>
              <a:rPr lang="bg-BG" b="1" dirty="0"/>
              <a:t>1: M</a:t>
            </a:r>
            <a:r>
              <a:rPr lang="bg-BG" dirty="0"/>
              <a:t> и </a:t>
            </a:r>
            <a:r>
              <a:rPr lang="en-US" b="1" dirty="0"/>
              <a:t>M: 1 </a:t>
            </a:r>
            <a:r>
              <a:rPr lang="bg-BG" dirty="0"/>
              <a:t>се получава когато един обект от дадена релация може да се асоциира с обект другата релация, но обект от другата релация може да има само една връзка с обект от дадената:</a:t>
            </a:r>
          </a:p>
          <a:p>
            <a:pPr algn="just"/>
            <a:endParaRPr lang="bg-BG" dirty="0"/>
          </a:p>
          <a:p>
            <a:pPr algn="just"/>
            <a:endParaRPr lang="bg-BG" dirty="0"/>
          </a:p>
          <a:p>
            <a:endParaRPr lang="bg-BG" dirty="0"/>
          </a:p>
        </p:txBody>
      </p:sp>
      <p:pic>
        <p:nvPicPr>
          <p:cNvPr id="4" name="Picture 3"/>
          <p:cNvPicPr>
            <a:picLocks noChangeAspect="1"/>
          </p:cNvPicPr>
          <p:nvPr/>
        </p:nvPicPr>
        <p:blipFill>
          <a:blip r:embed="rId2"/>
          <a:stretch>
            <a:fillRect/>
          </a:stretch>
        </p:blipFill>
        <p:spPr>
          <a:xfrm>
            <a:off x="2272791" y="2017391"/>
            <a:ext cx="5352066" cy="901701"/>
          </a:xfrm>
          <a:prstGeom prst="rect">
            <a:avLst/>
          </a:prstGeom>
        </p:spPr>
      </p:pic>
      <p:pic>
        <p:nvPicPr>
          <p:cNvPr id="5" name="Picture 4"/>
          <p:cNvPicPr>
            <a:picLocks noChangeAspect="1"/>
          </p:cNvPicPr>
          <p:nvPr/>
        </p:nvPicPr>
        <p:blipFill>
          <a:blip r:embed="rId3"/>
          <a:stretch>
            <a:fillRect/>
          </a:stretch>
        </p:blipFill>
        <p:spPr>
          <a:xfrm>
            <a:off x="838200" y="4834886"/>
            <a:ext cx="4850249" cy="805172"/>
          </a:xfrm>
          <a:prstGeom prst="rect">
            <a:avLst/>
          </a:prstGeom>
        </p:spPr>
      </p:pic>
      <p:pic>
        <p:nvPicPr>
          <p:cNvPr id="6" name="Picture 5"/>
          <p:cNvPicPr>
            <a:picLocks noChangeAspect="1"/>
          </p:cNvPicPr>
          <p:nvPr/>
        </p:nvPicPr>
        <p:blipFill>
          <a:blip r:embed="rId4"/>
          <a:stretch>
            <a:fillRect/>
          </a:stretch>
        </p:blipFill>
        <p:spPr>
          <a:xfrm>
            <a:off x="6503551" y="4834886"/>
            <a:ext cx="4850249" cy="805172"/>
          </a:xfrm>
          <a:prstGeom prst="rect">
            <a:avLst/>
          </a:prstGeom>
        </p:spPr>
      </p:pic>
    </p:spTree>
    <p:extLst>
      <p:ext uri="{BB962C8B-B14F-4D97-AF65-F5344CB8AC3E}">
        <p14:creationId xmlns:p14="http://schemas.microsoft.com/office/powerpoint/2010/main" val="1571674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6275"/>
          </a:xfrm>
        </p:spPr>
        <p:txBody>
          <a:bodyPr>
            <a:normAutofit/>
          </a:bodyPr>
          <a:lstStyle/>
          <a:p>
            <a:r>
              <a:rPr lang="bg-BG" sz="3200" dirty="0"/>
              <a:t>Компоненти на </a:t>
            </a:r>
            <a:r>
              <a:rPr lang="bg-BG" sz="3200" b="1" dirty="0"/>
              <a:t>ER</a:t>
            </a:r>
            <a:r>
              <a:rPr lang="bg-BG" sz="3200" dirty="0"/>
              <a:t> диаграма – връзки ( </a:t>
            </a:r>
            <a:r>
              <a:rPr lang="en-US" sz="3200" dirty="0"/>
              <a:t>relationships)</a:t>
            </a:r>
            <a:endParaRPr lang="bg-BG" sz="3200" dirty="0"/>
          </a:p>
        </p:txBody>
      </p:sp>
      <p:sp>
        <p:nvSpPr>
          <p:cNvPr id="3" name="Content Placeholder 2"/>
          <p:cNvSpPr>
            <a:spLocks noGrp="1"/>
          </p:cNvSpPr>
          <p:nvPr>
            <p:ph idx="1"/>
          </p:nvPr>
        </p:nvSpPr>
        <p:spPr>
          <a:xfrm>
            <a:off x="381000" y="1041400"/>
            <a:ext cx="11480800" cy="5295900"/>
          </a:xfrm>
        </p:spPr>
        <p:txBody>
          <a:bodyPr/>
          <a:lstStyle/>
          <a:p>
            <a:r>
              <a:rPr lang="bg-BG" b="1" dirty="0"/>
              <a:t>Връзка</a:t>
            </a:r>
            <a:r>
              <a:rPr lang="bg-BG" dirty="0"/>
              <a:t> </a:t>
            </a:r>
            <a:r>
              <a:rPr lang="bg-BG" b="1" dirty="0"/>
              <a:t>М:M</a:t>
            </a:r>
            <a:r>
              <a:rPr lang="bg-BG" dirty="0"/>
              <a:t> (много към много) се получава когато обект от една </a:t>
            </a:r>
            <a:r>
              <a:rPr lang="bg-BG" dirty="0" err="1"/>
              <a:t>рела-ция</a:t>
            </a:r>
            <a:r>
              <a:rPr lang="bg-BG" dirty="0"/>
              <a:t> има повече от една връзка с обекти от другата релация и обратно:</a:t>
            </a:r>
          </a:p>
          <a:p>
            <a:endParaRPr lang="bg-BG" dirty="0"/>
          </a:p>
          <a:p>
            <a:endParaRPr lang="bg-BG" dirty="0"/>
          </a:p>
          <a:p>
            <a:r>
              <a:rPr lang="en-US" b="1" dirty="0"/>
              <a:t>M:M -&gt; 1:M M:1</a:t>
            </a:r>
          </a:p>
          <a:p>
            <a:r>
              <a:rPr lang="bg-BG" b="1" dirty="0"/>
              <a:t>Подклас обекти </a:t>
            </a:r>
            <a:r>
              <a:rPr lang="bg-BG" dirty="0"/>
              <a:t>– имат свойствата на даден обект, но има и свои </a:t>
            </a:r>
            <a:r>
              <a:rPr lang="bg-BG" dirty="0" err="1"/>
              <a:t>допъл-нителни</a:t>
            </a:r>
            <a:r>
              <a:rPr lang="bg-BG" dirty="0"/>
              <a:t> атрибути :</a:t>
            </a:r>
          </a:p>
          <a:p>
            <a:pPr marL="0" indent="0">
              <a:spcBef>
                <a:spcPts val="0"/>
              </a:spcBef>
              <a:buNone/>
            </a:pPr>
            <a:r>
              <a:rPr lang="bg-BG" dirty="0"/>
              <a:t>Учителят е вид работник, но освен атрибутите</a:t>
            </a:r>
          </a:p>
          <a:p>
            <a:pPr marL="0" indent="0">
              <a:spcBef>
                <a:spcPts val="0"/>
              </a:spcBef>
              <a:buNone/>
            </a:pPr>
            <a:r>
              <a:rPr lang="bg-BG" dirty="0"/>
              <a:t>на работника има и свои – квалификация, стаж </a:t>
            </a:r>
          </a:p>
          <a:p>
            <a:endParaRPr lang="bg-BG" dirty="0"/>
          </a:p>
        </p:txBody>
      </p:sp>
      <p:pic>
        <p:nvPicPr>
          <p:cNvPr id="4" name="Picture 3"/>
          <p:cNvPicPr>
            <a:picLocks noChangeAspect="1"/>
          </p:cNvPicPr>
          <p:nvPr/>
        </p:nvPicPr>
        <p:blipFill>
          <a:blip r:embed="rId2"/>
          <a:stretch>
            <a:fillRect/>
          </a:stretch>
        </p:blipFill>
        <p:spPr>
          <a:xfrm>
            <a:off x="2311975" y="2010414"/>
            <a:ext cx="4850249" cy="805172"/>
          </a:xfrm>
          <a:prstGeom prst="rect">
            <a:avLst/>
          </a:prstGeom>
        </p:spPr>
      </p:pic>
      <p:pic>
        <p:nvPicPr>
          <p:cNvPr id="5" name="Picture 4"/>
          <p:cNvPicPr>
            <a:picLocks noChangeAspect="1"/>
          </p:cNvPicPr>
          <p:nvPr/>
        </p:nvPicPr>
        <p:blipFill>
          <a:blip r:embed="rId3"/>
          <a:stretch>
            <a:fillRect/>
          </a:stretch>
        </p:blipFill>
        <p:spPr>
          <a:xfrm>
            <a:off x="8248073" y="3854150"/>
            <a:ext cx="4318000" cy="2890473"/>
          </a:xfrm>
          <a:prstGeom prst="rect">
            <a:avLst/>
          </a:prstGeom>
        </p:spPr>
      </p:pic>
    </p:spTree>
    <p:extLst>
      <p:ext uri="{BB962C8B-B14F-4D97-AF65-F5344CB8AC3E}">
        <p14:creationId xmlns:p14="http://schemas.microsoft.com/office/powerpoint/2010/main" val="3740830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4228"/>
            <a:ext cx="10515600" cy="472937"/>
          </a:xfrm>
        </p:spPr>
        <p:txBody>
          <a:bodyPr>
            <a:noAutofit/>
          </a:bodyPr>
          <a:lstStyle/>
          <a:p>
            <a:r>
              <a:rPr lang="ru-RU" sz="3200" dirty="0">
                <a:latin typeface="Arial" panose="020B0604020202020204" pitchFamily="34" charset="0"/>
                <a:cs typeface="Arial" panose="020B0604020202020204" pitchFamily="34" charset="0"/>
              </a:rPr>
              <a:t>СУБД - структура</a:t>
            </a:r>
            <a:endParaRPr lang="bg-BG" sz="3200" dirty="0"/>
          </a:p>
        </p:txBody>
      </p:sp>
      <p:sp>
        <p:nvSpPr>
          <p:cNvPr id="3" name="Content Placeholder 2"/>
          <p:cNvSpPr>
            <a:spLocks noGrp="1"/>
          </p:cNvSpPr>
          <p:nvPr>
            <p:ph idx="1"/>
          </p:nvPr>
        </p:nvSpPr>
        <p:spPr>
          <a:xfrm>
            <a:off x="384313" y="1179443"/>
            <a:ext cx="11370365" cy="5274365"/>
          </a:xfrm>
        </p:spPr>
        <p:txBody>
          <a:bodyPr>
            <a:normAutofit fontScale="92500" lnSpcReduction="20000"/>
          </a:bodyPr>
          <a:lstStyle/>
          <a:p>
            <a:pPr marL="0" indent="0">
              <a:spcBef>
                <a:spcPts val="0"/>
              </a:spcBef>
              <a:buNone/>
            </a:pPr>
            <a:r>
              <a:rPr lang="ru-RU" sz="2400" dirty="0">
                <a:latin typeface="Arial" panose="020B0604020202020204" pitchFamily="34" charset="0"/>
                <a:cs typeface="Arial" panose="020B0604020202020204" pitchFamily="34" charset="0"/>
              </a:rPr>
              <a:t>Сървър – Софтуерна имплементация за управление и манипулация на данните. Той предоставя необходимия интерфейс за достъп до данните.</a:t>
            </a:r>
          </a:p>
          <a:p>
            <a:pPr marL="0" indent="0">
              <a:spcBef>
                <a:spcPts val="0"/>
              </a:spcBef>
              <a:buNone/>
            </a:pPr>
            <a:r>
              <a:rPr lang="ru-RU" sz="2400" dirty="0">
                <a:latin typeface="Arial" panose="020B0604020202020204" pitchFamily="34" charset="0"/>
                <a:cs typeface="Arial" panose="020B0604020202020204" pitchFamily="34" charset="0"/>
              </a:rPr>
              <a:t>Сервизни програми – програми, грижещи се за създаване на резервни копия, оптимизация и подредба на данните, статистика и тн.</a:t>
            </a:r>
          </a:p>
          <a:p>
            <a:pPr marL="0" indent="0">
              <a:spcBef>
                <a:spcPts val="0"/>
              </a:spcBef>
              <a:buNone/>
            </a:pPr>
            <a:endParaRPr lang="ru-RU" sz="2400" dirty="0">
              <a:latin typeface="Arial" panose="020B0604020202020204" pitchFamily="34" charset="0"/>
              <a:cs typeface="Arial" panose="020B0604020202020204" pitchFamily="34" charset="0"/>
            </a:endParaRPr>
          </a:p>
          <a:p>
            <a:pPr marL="0" indent="0">
              <a:spcBef>
                <a:spcPts val="0"/>
              </a:spcBef>
              <a:buNone/>
            </a:pPr>
            <a:r>
              <a:rPr lang="ru-RU" sz="2400" dirty="0">
                <a:latin typeface="Arial" panose="020B0604020202020204" pitchFamily="34" charset="0"/>
                <a:cs typeface="Arial" panose="020B0604020202020204" pitchFamily="34" charset="0"/>
              </a:rPr>
              <a:t>Под релация в теорията на БД се има предвид множество от записи, които имат едни и същи атрибути. Съществуват определени правила, на които трябва да отговаря една база данни и те са:</a:t>
            </a:r>
          </a:p>
          <a:p>
            <a:pPr marL="0" indent="0">
              <a:spcBef>
                <a:spcPts val="0"/>
              </a:spcBef>
              <a:buNone/>
            </a:pPr>
            <a:endParaRPr lang="ru-RU" sz="2400" dirty="0">
              <a:latin typeface="Arial" panose="020B0604020202020204" pitchFamily="34" charset="0"/>
              <a:cs typeface="Arial" panose="020B0604020202020204" pitchFamily="34" charset="0"/>
            </a:endParaRPr>
          </a:p>
          <a:p>
            <a:pPr marL="0" indent="0">
              <a:spcBef>
                <a:spcPts val="0"/>
              </a:spcBef>
              <a:buNone/>
            </a:pPr>
            <a:r>
              <a:rPr lang="ru-RU" sz="2400" dirty="0">
                <a:latin typeface="Arial" panose="020B0604020202020204" pitchFamily="34" charset="0"/>
                <a:cs typeface="Arial" panose="020B0604020202020204" pitchFamily="34" charset="0"/>
              </a:rPr>
              <a:t>• Всяка релация трябва да има уникално име в рамките на една база данни</a:t>
            </a:r>
          </a:p>
          <a:p>
            <a:pPr marL="0" indent="0">
              <a:spcBef>
                <a:spcPts val="0"/>
              </a:spcBef>
              <a:buNone/>
            </a:pPr>
            <a:r>
              <a:rPr lang="ru-RU" sz="2400" dirty="0">
                <a:latin typeface="Arial" panose="020B0604020202020204" pitchFamily="34" charset="0"/>
                <a:cs typeface="Arial" panose="020B0604020202020204" pitchFamily="34" charset="0"/>
              </a:rPr>
              <a:t>• Всеки атрибут трябва да има уникално име в рамките на една релация</a:t>
            </a:r>
          </a:p>
          <a:p>
            <a:pPr marL="0" indent="0">
              <a:spcBef>
                <a:spcPts val="0"/>
              </a:spcBef>
              <a:buNone/>
            </a:pPr>
            <a:r>
              <a:rPr lang="ru-RU" sz="2400" dirty="0">
                <a:latin typeface="Arial" panose="020B0604020202020204" pitchFamily="34" charset="0"/>
                <a:cs typeface="Arial" panose="020B0604020202020204" pitchFamily="34" charset="0"/>
              </a:rPr>
              <a:t>• Недопустимо е съдържанието на два еднакви реда в една релация</a:t>
            </a:r>
          </a:p>
          <a:p>
            <a:pPr marL="0" indent="0">
              <a:spcBef>
                <a:spcPts val="0"/>
              </a:spcBef>
              <a:buNone/>
            </a:pPr>
            <a:r>
              <a:rPr lang="ru-RU" sz="2400" dirty="0">
                <a:latin typeface="Arial" panose="020B0604020202020204" pitchFamily="34" charset="0"/>
                <a:cs typeface="Arial" panose="020B0604020202020204" pitchFamily="34" charset="0"/>
              </a:rPr>
              <a:t>• Стойностите на всички записа са атомарни – състоят се само от един тип данни и не трябва да са резултат от изчисление</a:t>
            </a:r>
          </a:p>
          <a:p>
            <a:pPr marL="0" indent="0">
              <a:spcBef>
                <a:spcPts val="0"/>
              </a:spcBef>
              <a:buNone/>
            </a:pPr>
            <a:r>
              <a:rPr lang="ru-RU" sz="2400" dirty="0">
                <a:latin typeface="Arial" panose="020B0604020202020204" pitchFamily="34" charset="0"/>
                <a:cs typeface="Arial" panose="020B0604020202020204" pitchFamily="34" charset="0"/>
              </a:rPr>
              <a:t>• Записите в една релация нямат строга подредба</a:t>
            </a:r>
          </a:p>
          <a:p>
            <a:pPr marL="0" indent="0">
              <a:spcBef>
                <a:spcPts val="0"/>
              </a:spcBef>
              <a:buNone/>
            </a:pPr>
            <a:r>
              <a:rPr lang="ru-RU" sz="2400" dirty="0">
                <a:latin typeface="Arial" panose="020B0604020202020204" pitchFamily="34" charset="0"/>
                <a:cs typeface="Arial" panose="020B0604020202020204" pitchFamily="34" charset="0"/>
              </a:rPr>
              <a:t>• Всяка релация трябва да има поне един уникален идентификатор(атрибут/колона), наречен първичен ключ, по който всеки един ред в релацията да може да бъде еднозначно идентифициран.</a:t>
            </a:r>
          </a:p>
          <a:p>
            <a:pPr marL="0" indent="0">
              <a:spcBef>
                <a:spcPts val="0"/>
              </a:spcBef>
              <a:buNone/>
            </a:pPr>
            <a:endParaRPr lang="ru-RU" sz="2400" dirty="0">
              <a:latin typeface="Arial" panose="020B0604020202020204" pitchFamily="34" charset="0"/>
              <a:cs typeface="Arial" panose="020B0604020202020204" pitchFamily="34" charset="0"/>
            </a:endParaRPr>
          </a:p>
          <a:p>
            <a:pPr marL="0" indent="0">
              <a:buNone/>
            </a:pPr>
            <a:r>
              <a:rPr lang="ru-RU" sz="2400" dirty="0">
                <a:latin typeface="Arial" panose="020B0604020202020204" pitchFamily="34" charset="0"/>
                <a:cs typeface="Arial" panose="020B0604020202020204" pitchFamily="34" charset="0"/>
              </a:rPr>
              <a:t> </a:t>
            </a:r>
            <a:endParaRPr lang="bg-BG"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6809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78213"/>
          </a:xfrm>
        </p:spPr>
        <p:txBody>
          <a:bodyPr>
            <a:normAutofit fontScale="90000"/>
          </a:bodyPr>
          <a:lstStyle/>
          <a:p>
            <a:endParaRPr lang="bg-BG" dirty="0"/>
          </a:p>
        </p:txBody>
      </p:sp>
      <p:sp>
        <p:nvSpPr>
          <p:cNvPr id="3" name="Content Placeholder 2"/>
          <p:cNvSpPr>
            <a:spLocks noGrp="1"/>
          </p:cNvSpPr>
          <p:nvPr>
            <p:ph idx="1"/>
          </p:nvPr>
        </p:nvSpPr>
        <p:spPr>
          <a:xfrm>
            <a:off x="463825" y="543340"/>
            <a:ext cx="11052313" cy="5633624"/>
          </a:xfrm>
        </p:spPr>
        <p:txBody>
          <a:bodyPr>
            <a:normAutofit fontScale="77500" lnSpcReduction="20000"/>
          </a:bodyPr>
          <a:lstStyle/>
          <a:p>
            <a:pPr marL="0" indent="0">
              <a:buNone/>
            </a:pPr>
            <a:r>
              <a:rPr lang="ru-RU" sz="3100" b="1" dirty="0">
                <a:latin typeface="Arial" panose="020B0604020202020204" pitchFamily="34" charset="0"/>
                <a:cs typeface="Arial" panose="020B0604020202020204" pitchFamily="34" charset="0"/>
              </a:rPr>
              <a:t>Приложната програма има два компонента:</a:t>
            </a:r>
          </a:p>
          <a:p>
            <a:pPr marL="0" indent="0">
              <a:buNone/>
            </a:pPr>
            <a:endParaRPr lang="ru-RU" sz="3100" b="1" dirty="0">
              <a:latin typeface="Arial" panose="020B0604020202020204" pitchFamily="34" charset="0"/>
              <a:cs typeface="Arial" panose="020B0604020202020204" pitchFamily="34" charset="0"/>
            </a:endParaRPr>
          </a:p>
          <a:p>
            <a:pPr marL="0" indent="0">
              <a:spcBef>
                <a:spcPts val="0"/>
              </a:spcBef>
              <a:buNone/>
            </a:pPr>
            <a:r>
              <a:rPr lang="ru-RU" dirty="0">
                <a:latin typeface="Arial" panose="020B0604020202020204" pitchFamily="34" charset="0"/>
                <a:cs typeface="Arial" panose="020B0604020202020204" pitchFamily="34" charset="0"/>
              </a:rPr>
              <a:t>1</a:t>
            </a:r>
            <a:r>
              <a:rPr lang="ru-RU" sz="3000" dirty="0">
                <a:latin typeface="Arial" panose="020B0604020202020204" pitchFamily="34" charset="0"/>
                <a:cs typeface="Arial" panose="020B0604020202020204" pitchFamily="34" charset="0"/>
              </a:rPr>
              <a:t>. Интерфейс за достъп: Спрямо конкретния програмен език и среда за програмиране се използват библиотеки за връзка до конкретния СУБД. Тъй като всеки сървър за управление на бази от данни има свои специфични особености, то програмистите се нуждаят винаги от специфичен интерфейс за достъп до информацията в него.</a:t>
            </a:r>
          </a:p>
          <a:p>
            <a:pPr marL="0" indent="0">
              <a:spcBef>
                <a:spcPts val="0"/>
              </a:spcBef>
              <a:buNone/>
            </a:pPr>
            <a:r>
              <a:rPr lang="ru-RU" sz="3000" dirty="0">
                <a:latin typeface="Arial" panose="020B0604020202020204" pitchFamily="34" charset="0"/>
                <a:cs typeface="Arial" panose="020B0604020202020204" pitchFamily="34" charset="0"/>
              </a:rPr>
              <a:t>2. Програмен език, обработващ информацията: След като е придобит достъп до базата от данни е нужно за се чете, записва, променя или изтрива информация от нея. </a:t>
            </a:r>
          </a:p>
          <a:p>
            <a:pPr marL="0" indent="0">
              <a:spcBef>
                <a:spcPts val="0"/>
              </a:spcBef>
              <a:buNone/>
            </a:pPr>
            <a:r>
              <a:rPr lang="ru-RU" sz="3000" dirty="0">
                <a:latin typeface="Arial" panose="020B0604020202020204" pitchFamily="34" charset="0"/>
                <a:cs typeface="Arial" panose="020B0604020202020204" pitchFamily="34" charset="0"/>
              </a:rPr>
              <a:t>SQL е разделен най-общо в две направления – структурна дефиниция и манипулация над даннит</a:t>
            </a:r>
          </a:p>
          <a:p>
            <a:pPr marL="0" indent="0">
              <a:spcBef>
                <a:spcPts val="0"/>
              </a:spcBef>
              <a:buNone/>
            </a:pPr>
            <a:r>
              <a:rPr lang="ru-RU" sz="3000" dirty="0">
                <a:latin typeface="Arial" panose="020B0604020202020204" pitchFamily="34" charset="0"/>
                <a:cs typeface="Arial" panose="020B0604020202020204" pitchFamily="34" charset="0"/>
              </a:rPr>
              <a:t>Data Definition Language (DDL) се използва за създаване на схема (описание) на данните. Чрез него абстрактно се дефинира структурата на информацията в базата от данни и се дефинират релации между различните компоненти. Основна грижа на DDL също е да дефинира ограниченията за цялостност на информацията (с цел постигане на интегритет) и да се проектира сигурността на базата от данни.</a:t>
            </a:r>
          </a:p>
          <a:p>
            <a:pPr marL="0" indent="0">
              <a:spcBef>
                <a:spcPts val="0"/>
              </a:spcBef>
              <a:buNone/>
            </a:pPr>
            <a:r>
              <a:rPr lang="ru-RU" sz="3000" dirty="0">
                <a:latin typeface="Arial" panose="020B0604020202020204" pitchFamily="34" charset="0"/>
                <a:cs typeface="Arial" panose="020B0604020202020204" pitchFamily="34" charset="0"/>
              </a:rPr>
              <a:t>Data Manipulation Language (DML) са езиковите средства за обработка на данните. Най-често те се разделят на вътрешни (езика използван от сървъра за базата от данни, например SQL) и външни (езици за програмиране) .</a:t>
            </a:r>
          </a:p>
          <a:p>
            <a:endParaRPr lang="bg-BG" dirty="0"/>
          </a:p>
          <a:p>
            <a:endParaRPr lang="bg-BG" dirty="0"/>
          </a:p>
        </p:txBody>
      </p:sp>
    </p:spTree>
    <p:extLst>
      <p:ext uri="{BB962C8B-B14F-4D97-AF65-F5344CB8AC3E}">
        <p14:creationId xmlns:p14="http://schemas.microsoft.com/office/powerpoint/2010/main" val="751391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257582"/>
            <a:ext cx="10515600" cy="825500"/>
          </a:xfrm>
        </p:spPr>
        <p:txBody>
          <a:bodyPr>
            <a:noAutofit/>
          </a:bodyPr>
          <a:lstStyle/>
          <a:p>
            <a:r>
              <a:rPr lang="ru-RU" sz="3200" b="1" dirty="0"/>
              <a:t>Преминаване от ER-модел </a:t>
            </a:r>
            <a:r>
              <a:rPr lang="ru-RU" sz="3200" b="1"/>
              <a:t>към релационен DB-модел </a:t>
            </a:r>
            <a:r>
              <a:rPr lang="ru-RU" sz="3200" dirty="0"/>
              <a:t>:</a:t>
            </a:r>
            <a:endParaRPr lang="bg-BG" sz="3200" dirty="0"/>
          </a:p>
        </p:txBody>
      </p:sp>
      <p:sp>
        <p:nvSpPr>
          <p:cNvPr id="3" name="Content Placeholder 2"/>
          <p:cNvSpPr>
            <a:spLocks noGrp="1"/>
          </p:cNvSpPr>
          <p:nvPr>
            <p:ph idx="1"/>
          </p:nvPr>
        </p:nvSpPr>
        <p:spPr>
          <a:xfrm>
            <a:off x="419100" y="977901"/>
            <a:ext cx="11341100" cy="5460999"/>
          </a:xfrm>
        </p:spPr>
        <p:txBody>
          <a:bodyPr>
            <a:normAutofit fontScale="92500" lnSpcReduction="20000"/>
          </a:bodyPr>
          <a:lstStyle/>
          <a:p>
            <a:pPr fontAlgn="base"/>
            <a:r>
              <a:rPr lang="ru-RU" b="1" dirty="0"/>
              <a:t>Класовете</a:t>
            </a:r>
            <a:r>
              <a:rPr lang="ru-RU" dirty="0"/>
              <a:t> в ER-диаграмата се превръщат в таблици, а техните </a:t>
            </a:r>
            <a:r>
              <a:rPr lang="ru-RU" b="1" dirty="0"/>
              <a:t>атрибути</a:t>
            </a:r>
            <a:r>
              <a:rPr lang="ru-RU" dirty="0"/>
              <a:t>– в атрибути на таблиците.</a:t>
            </a:r>
          </a:p>
          <a:p>
            <a:pPr fontAlgn="base"/>
            <a:r>
              <a:rPr lang="ru-RU" b="1" dirty="0"/>
              <a:t>Характеризиращите</a:t>
            </a:r>
            <a:r>
              <a:rPr lang="ru-RU" dirty="0"/>
              <a:t> </a:t>
            </a:r>
            <a:r>
              <a:rPr lang="ru-RU" b="1" dirty="0"/>
              <a:t>обекти</a:t>
            </a:r>
            <a:r>
              <a:rPr lang="ru-RU" dirty="0"/>
              <a:t> са обикновени таблици, с външен ключ към таблицата, която характеризират.</a:t>
            </a:r>
          </a:p>
          <a:p>
            <a:pPr fontAlgn="base"/>
            <a:r>
              <a:rPr lang="ru-RU" b="1" dirty="0"/>
              <a:t>Подклас-обектите</a:t>
            </a:r>
            <a:r>
              <a:rPr lang="ru-RU" dirty="0"/>
              <a:t> са си таблици, свързани с таблиците на основните им обекти обикновено чрез връзка 1:1, като в зависимост от спецификата на предметната област е възможно и свързване 1:М.</a:t>
            </a:r>
          </a:p>
          <a:p>
            <a:pPr fontAlgn="base"/>
            <a:r>
              <a:rPr lang="ru-RU" b="1" dirty="0"/>
              <a:t>Връзка от тип 1:1</a:t>
            </a:r>
            <a:r>
              <a:rPr lang="ru-RU" dirty="0"/>
              <a:t> между две таблици се осъществява с налагане ограничение UNIQUE(забранява повтарящи се стойности) върху колона външен ключ във втората таблица, която сочи към първичния ключ от първата.</a:t>
            </a:r>
          </a:p>
          <a:p>
            <a:pPr fontAlgn="base"/>
            <a:r>
              <a:rPr lang="ru-RU" b="1" dirty="0"/>
              <a:t>Връзка тип 1:М</a:t>
            </a:r>
            <a:r>
              <a:rPr lang="ru-RU" dirty="0"/>
              <a:t> между две таблици се осъществява като колона от втората таблица стане външен ключ, сочещ към първичния на първата таблица.</a:t>
            </a:r>
          </a:p>
          <a:p>
            <a:pPr fontAlgn="base"/>
            <a:r>
              <a:rPr lang="ru-RU" b="1" dirty="0"/>
              <a:t>Връзка тип М:М </a:t>
            </a:r>
            <a:r>
              <a:rPr lang="ru-RU" dirty="0"/>
              <a:t>между две таблици с реализира с помощта на трета допълнителна (свързваща) таблица, в която атрибутите са два външни ключа, сочещи съответно към свързваните таблици.</a:t>
            </a:r>
          </a:p>
        </p:txBody>
      </p:sp>
    </p:spTree>
    <p:extLst>
      <p:ext uri="{BB962C8B-B14F-4D97-AF65-F5344CB8AC3E}">
        <p14:creationId xmlns:p14="http://schemas.microsoft.com/office/powerpoint/2010/main" val="820050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6266"/>
          </a:xfrm>
        </p:spPr>
        <p:txBody>
          <a:bodyPr>
            <a:normAutofit fontScale="90000"/>
          </a:bodyPr>
          <a:lstStyle/>
          <a:p>
            <a:endParaRPr lang="bg-BG" dirty="0"/>
          </a:p>
        </p:txBody>
      </p:sp>
      <p:sp>
        <p:nvSpPr>
          <p:cNvPr id="3" name="Content Placeholder 2"/>
          <p:cNvSpPr>
            <a:spLocks noGrp="1"/>
          </p:cNvSpPr>
          <p:nvPr>
            <p:ph idx="1"/>
          </p:nvPr>
        </p:nvSpPr>
        <p:spPr>
          <a:xfrm>
            <a:off x="265043" y="1126434"/>
            <a:ext cx="11449879" cy="5433391"/>
          </a:xfrm>
        </p:spPr>
        <p:txBody>
          <a:bodyPr>
            <a:normAutofit lnSpcReduction="10000"/>
          </a:bodyPr>
          <a:lstStyle/>
          <a:p>
            <a:r>
              <a:rPr lang="ru-RU" b="1" dirty="0"/>
              <a:t>Първичен ключ (PK):</a:t>
            </a:r>
            <a:br>
              <a:rPr lang="ru-RU" dirty="0"/>
            </a:br>
            <a:r>
              <a:rPr lang="ru-RU" sz="2400" dirty="0"/>
              <a:t>Първичен ключ е уникално свойство(атрибут) на всеки обект в базата данни. За първичен ключ в една релация ще избираме такава колона, стойностите на която за всеки обект ще бъдат уникални. Важното е при всички случаи стойностите на записите в избраната колона или комбинация да са уникални и да не са NULL. </a:t>
            </a:r>
          </a:p>
          <a:p>
            <a:r>
              <a:rPr lang="ru-RU" b="1" dirty="0"/>
              <a:t>Външен ключ(FK):</a:t>
            </a:r>
            <a:br>
              <a:rPr lang="ru-RU" dirty="0"/>
            </a:br>
            <a:r>
              <a:rPr lang="ru-RU" sz="2400" dirty="0"/>
              <a:t>Всъщност ключовете са в основата на осъществяване на връзките между отделните релации в релационните бази данни. За да свържем две таблици, казваме че колона от едната таблица(външен ключ) трябва да сочи към колона-първичен ключ от друга таблица. Не е задължително втората да бъде първичен ключ- обратният случай е по-рестриктивният вариант, но затова ще споменем повече, когато говорим за ограничения(constraints). Външен ключ (foreign key) е такава колона от дадена таблица, която може да приема само ограничено множество от стойности, съвпадащо с множеството от стойностите на определена колона – първичен ключ в друга таблица или най-много стойност NULL. Можем да приемем външния ключ като референция на едната към другата таблица.</a:t>
            </a:r>
            <a:endParaRPr lang="bg-BG" sz="2400" dirty="0"/>
          </a:p>
        </p:txBody>
      </p:sp>
    </p:spTree>
    <p:extLst>
      <p:ext uri="{BB962C8B-B14F-4D97-AF65-F5344CB8AC3E}">
        <p14:creationId xmlns:p14="http://schemas.microsoft.com/office/powerpoint/2010/main" val="1063103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1792"/>
            <a:ext cx="10515600" cy="609600"/>
          </a:xfrm>
        </p:spPr>
        <p:txBody>
          <a:bodyPr>
            <a:normAutofit/>
          </a:bodyPr>
          <a:lstStyle/>
          <a:p>
            <a:r>
              <a:rPr lang="bg-BG" sz="3200" dirty="0"/>
              <a:t>Типове данни</a:t>
            </a:r>
            <a:r>
              <a:rPr lang="en-US" sz="3200" dirty="0"/>
              <a:t> </a:t>
            </a:r>
            <a:r>
              <a:rPr lang="bg-BG" sz="3200" dirty="0"/>
              <a:t>в</a:t>
            </a:r>
            <a:r>
              <a:rPr lang="en-US" sz="3200" dirty="0"/>
              <a:t> MySQL</a:t>
            </a:r>
            <a:endParaRPr lang="bg-BG" sz="3200" dirty="0"/>
          </a:p>
        </p:txBody>
      </p:sp>
      <p:sp>
        <p:nvSpPr>
          <p:cNvPr id="3" name="Content Placeholder 2"/>
          <p:cNvSpPr>
            <a:spLocks noGrp="1"/>
          </p:cNvSpPr>
          <p:nvPr>
            <p:ph idx="1"/>
          </p:nvPr>
        </p:nvSpPr>
        <p:spPr>
          <a:xfrm>
            <a:off x="384313" y="954157"/>
            <a:ext cx="11317357" cy="5406886"/>
          </a:xfrm>
        </p:spPr>
        <p:txBody>
          <a:bodyPr>
            <a:normAutofit fontScale="85000" lnSpcReduction="20000"/>
          </a:bodyPr>
          <a:lstStyle/>
          <a:p>
            <a:pPr marL="0" indent="0">
              <a:buNone/>
            </a:pPr>
            <a:r>
              <a:rPr lang="bg-BG" b="1" dirty="0"/>
              <a:t>Цели числа:</a:t>
            </a:r>
            <a:endParaRPr lang="bg-BG" dirty="0"/>
          </a:p>
          <a:p>
            <a:pPr marL="0" indent="0">
              <a:buNone/>
            </a:pPr>
            <a:r>
              <a:rPr lang="en-US" dirty="0"/>
              <a:t>a) TINYINT – </a:t>
            </a:r>
            <a:r>
              <a:rPr lang="bg-BG" dirty="0"/>
              <a:t>цяло число в интервала [-128, 127]. Ако се добави параметър </a:t>
            </a:r>
            <a:r>
              <a:rPr lang="en-US" dirty="0"/>
              <a:t>unsigned </a:t>
            </a:r>
            <a:r>
              <a:rPr lang="bg-BG" dirty="0"/>
              <a:t>става от [0, 255].</a:t>
            </a:r>
          </a:p>
          <a:p>
            <a:pPr marL="0" indent="0">
              <a:buNone/>
            </a:pPr>
            <a:r>
              <a:rPr lang="bg-BG" dirty="0"/>
              <a:t>б) </a:t>
            </a:r>
            <a:r>
              <a:rPr lang="en-US" dirty="0"/>
              <a:t>SMALLINT – </a:t>
            </a:r>
            <a:r>
              <a:rPr lang="bg-BG" dirty="0"/>
              <a:t>цяло число в интервала [-32768, 32767] или [0, 65535] като </a:t>
            </a:r>
            <a:r>
              <a:rPr lang="en-US" dirty="0"/>
              <a:t>unsigned.</a:t>
            </a:r>
          </a:p>
          <a:p>
            <a:pPr marL="0" indent="0">
              <a:buNone/>
            </a:pPr>
            <a:r>
              <a:rPr lang="bg-BG" dirty="0"/>
              <a:t>в) </a:t>
            </a:r>
            <a:r>
              <a:rPr lang="en-US" dirty="0"/>
              <a:t>MEDIUMINT – </a:t>
            </a:r>
            <a:r>
              <a:rPr lang="bg-BG" dirty="0"/>
              <a:t>цяло число в интервала [-8388608, 8388607] или [0, 16777215] като </a:t>
            </a:r>
            <a:r>
              <a:rPr lang="en-US" dirty="0"/>
              <a:t>unsigned.</a:t>
            </a:r>
          </a:p>
          <a:p>
            <a:pPr marL="0" indent="0">
              <a:buNone/>
            </a:pPr>
            <a:r>
              <a:rPr lang="bg-BG" dirty="0"/>
              <a:t>г) </a:t>
            </a:r>
            <a:r>
              <a:rPr lang="en-US" dirty="0"/>
              <a:t>INT – </a:t>
            </a:r>
            <a:r>
              <a:rPr lang="bg-BG" dirty="0"/>
              <a:t>цяло число в интервала [-2147483648, 2147483647] или [0, 4294967295] като </a:t>
            </a:r>
            <a:r>
              <a:rPr lang="en-US" dirty="0"/>
              <a:t>unsigned.</a:t>
            </a:r>
          </a:p>
          <a:p>
            <a:pPr marL="0" indent="0">
              <a:buNone/>
            </a:pPr>
            <a:r>
              <a:rPr lang="bg-BG" dirty="0"/>
              <a:t>д) </a:t>
            </a:r>
            <a:r>
              <a:rPr lang="en-US" dirty="0"/>
              <a:t>BIGINT – </a:t>
            </a:r>
            <a:r>
              <a:rPr lang="bg-BG" dirty="0"/>
              <a:t>цяло число в интервала [-9223372036854775808, 9223372036854775807] или [0, 18446744073709551615] като </a:t>
            </a:r>
            <a:r>
              <a:rPr lang="en-US" dirty="0"/>
              <a:t>unsigned.</a:t>
            </a:r>
          </a:p>
          <a:p>
            <a:pPr marL="0" indent="0">
              <a:buNone/>
            </a:pPr>
            <a:r>
              <a:rPr lang="bg-BG" dirty="0"/>
              <a:t>е) </a:t>
            </a:r>
            <a:r>
              <a:rPr lang="en-US" dirty="0"/>
              <a:t>BIT – </a:t>
            </a:r>
            <a:r>
              <a:rPr lang="bg-BG" dirty="0"/>
              <a:t>приема две стойности – 0 или 1 – ако не се зададе </a:t>
            </a:r>
            <a:r>
              <a:rPr lang="en-US" dirty="0"/>
              <a:t>length </a:t>
            </a:r>
            <a:r>
              <a:rPr lang="bg-BG" dirty="0"/>
              <a:t>или „</a:t>
            </a:r>
            <a:r>
              <a:rPr lang="en-US" dirty="0"/>
              <a:t>N“ </a:t>
            </a:r>
            <a:r>
              <a:rPr lang="bg-BG" dirty="0"/>
              <a:t>на брой бита, ако се зададе </a:t>
            </a:r>
            <a:r>
              <a:rPr lang="en-US" dirty="0"/>
              <a:t>length=N. </a:t>
            </a:r>
            <a:r>
              <a:rPr lang="bg-BG" dirty="0"/>
              <a:t>Максимума е 64 бита.</a:t>
            </a:r>
          </a:p>
          <a:p>
            <a:pPr marL="0" indent="0">
              <a:buNone/>
            </a:pPr>
            <a:r>
              <a:rPr lang="bg-BG" dirty="0"/>
              <a:t>ж) </a:t>
            </a:r>
            <a:r>
              <a:rPr lang="en-US" dirty="0"/>
              <a:t>BOOL, BOOLEAN – </a:t>
            </a:r>
            <a:r>
              <a:rPr lang="bg-BG" dirty="0"/>
              <a:t>синоними на </a:t>
            </a:r>
            <a:r>
              <a:rPr lang="en-US" dirty="0"/>
              <a:t>TINYINT(1). </a:t>
            </a:r>
            <a:r>
              <a:rPr lang="bg-BG" dirty="0"/>
              <a:t>Работи със стойности 0 (</a:t>
            </a:r>
            <a:r>
              <a:rPr lang="en-US" dirty="0"/>
              <a:t>false) </a:t>
            </a:r>
            <a:r>
              <a:rPr lang="bg-BG" dirty="0"/>
              <a:t>или която и да е друга цифра (</a:t>
            </a:r>
            <a:r>
              <a:rPr lang="en-US" dirty="0"/>
              <a:t>true).</a:t>
            </a:r>
          </a:p>
          <a:p>
            <a:pPr marL="0" indent="0">
              <a:buNone/>
            </a:pPr>
            <a:r>
              <a:rPr lang="bg-BG" dirty="0"/>
              <a:t>з) </a:t>
            </a:r>
            <a:r>
              <a:rPr lang="en-US" dirty="0"/>
              <a:t>INTEGER – </a:t>
            </a:r>
            <a:r>
              <a:rPr lang="bg-BG" dirty="0"/>
              <a:t>синоним на </a:t>
            </a:r>
            <a:r>
              <a:rPr lang="en-US" dirty="0"/>
              <a:t>INT.</a:t>
            </a:r>
          </a:p>
          <a:p>
            <a:pPr marL="0" indent="0">
              <a:buNone/>
            </a:pPr>
            <a:r>
              <a:rPr lang="bg-BG" dirty="0"/>
              <a:t>и) </a:t>
            </a:r>
            <a:r>
              <a:rPr lang="en-US" dirty="0"/>
              <a:t>SERIAL – </a:t>
            </a:r>
            <a:r>
              <a:rPr lang="bg-BG" dirty="0"/>
              <a:t>синоним на </a:t>
            </a:r>
            <a:r>
              <a:rPr lang="en-US" dirty="0"/>
              <a:t>BIGINT UNSIGNED NOT NULL AUTO_INCREMENT UNIQUE.</a:t>
            </a:r>
          </a:p>
          <a:p>
            <a:endParaRPr lang="bg-BG" dirty="0"/>
          </a:p>
        </p:txBody>
      </p:sp>
    </p:spTree>
    <p:extLst>
      <p:ext uri="{BB962C8B-B14F-4D97-AF65-F5344CB8AC3E}">
        <p14:creationId xmlns:p14="http://schemas.microsoft.com/office/powerpoint/2010/main" val="558041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2527"/>
          </a:xfrm>
        </p:spPr>
        <p:txBody>
          <a:bodyPr>
            <a:normAutofit/>
          </a:bodyPr>
          <a:lstStyle/>
          <a:p>
            <a:r>
              <a:rPr lang="bg-BG" sz="3200" dirty="0"/>
              <a:t>Типове данни</a:t>
            </a:r>
            <a:r>
              <a:rPr lang="en-US" sz="3200" dirty="0"/>
              <a:t> </a:t>
            </a:r>
            <a:r>
              <a:rPr lang="bg-BG" sz="3200" dirty="0"/>
              <a:t>в</a:t>
            </a:r>
            <a:r>
              <a:rPr lang="en-US" sz="3200" dirty="0"/>
              <a:t> MySQL</a:t>
            </a:r>
            <a:endParaRPr lang="bg-BG" sz="3200" dirty="0"/>
          </a:p>
        </p:txBody>
      </p:sp>
      <p:sp>
        <p:nvSpPr>
          <p:cNvPr id="3" name="Content Placeholder 2"/>
          <p:cNvSpPr>
            <a:spLocks noGrp="1"/>
          </p:cNvSpPr>
          <p:nvPr>
            <p:ph idx="1"/>
          </p:nvPr>
        </p:nvSpPr>
        <p:spPr>
          <a:xfrm>
            <a:off x="384313" y="927652"/>
            <a:ext cx="11304104" cy="5499652"/>
          </a:xfrm>
        </p:spPr>
        <p:txBody>
          <a:bodyPr>
            <a:normAutofit/>
          </a:bodyPr>
          <a:lstStyle/>
          <a:p>
            <a:pPr marL="0" indent="0">
              <a:buNone/>
            </a:pPr>
            <a:r>
              <a:rPr lang="bg-BG" b="1" dirty="0"/>
              <a:t>Числа с плаваща запетая:</a:t>
            </a:r>
            <a:endParaRPr lang="bg-BG" dirty="0"/>
          </a:p>
          <a:p>
            <a:pPr marL="0" indent="0">
              <a:buNone/>
            </a:pPr>
            <a:r>
              <a:rPr lang="en-US" sz="2400" dirty="0"/>
              <a:t>a) FLOAT(length, </a:t>
            </a:r>
            <a:r>
              <a:rPr lang="en-US" sz="2400" dirty="0" err="1"/>
              <a:t>dec</a:t>
            </a:r>
            <a:r>
              <a:rPr lang="en-US" sz="2400" dirty="0"/>
              <a:t>) – </a:t>
            </a:r>
            <a:r>
              <a:rPr lang="bg-BG" sz="2400" dirty="0"/>
              <a:t>стандартно число с плаваща запетая. Параметърът </a:t>
            </a:r>
            <a:r>
              <a:rPr lang="en-US" sz="2400" dirty="0"/>
              <a:t>length </a:t>
            </a:r>
            <a:r>
              <a:rPr lang="bg-BG" sz="2400" dirty="0"/>
              <a:t>ограничава броя на цифрите общо, а </a:t>
            </a:r>
            <a:r>
              <a:rPr lang="en-US" sz="2400" dirty="0" err="1"/>
              <a:t>dec</a:t>
            </a:r>
            <a:r>
              <a:rPr lang="en-US" sz="2400" dirty="0"/>
              <a:t> </a:t>
            </a:r>
            <a:r>
              <a:rPr lang="bg-BG" sz="2400" dirty="0"/>
              <a:t>ограничава броя на цифрите след десетичната запетая.</a:t>
            </a:r>
          </a:p>
          <a:p>
            <a:pPr marL="0" indent="0">
              <a:buNone/>
            </a:pPr>
            <a:r>
              <a:rPr lang="bg-BG" sz="2400" dirty="0"/>
              <a:t>б) </a:t>
            </a:r>
            <a:r>
              <a:rPr lang="en-US" sz="2400" dirty="0"/>
              <a:t>DOUBLE(length, </a:t>
            </a:r>
            <a:r>
              <a:rPr lang="en-US" sz="2400" dirty="0" err="1"/>
              <a:t>dec</a:t>
            </a:r>
            <a:r>
              <a:rPr lang="en-US" sz="2400" dirty="0"/>
              <a:t>) – </a:t>
            </a:r>
            <a:r>
              <a:rPr lang="bg-BG" sz="2400" dirty="0"/>
              <a:t>същото като </a:t>
            </a:r>
            <a:r>
              <a:rPr lang="en-US" sz="2400" dirty="0"/>
              <a:t>FLOAT, </a:t>
            </a:r>
            <a:r>
              <a:rPr lang="bg-BG" sz="2400" dirty="0"/>
              <a:t>но с двойна точност. Максималната стойност на </a:t>
            </a:r>
            <a:r>
              <a:rPr lang="en-US" sz="2400" dirty="0"/>
              <a:t>length </a:t>
            </a:r>
            <a:r>
              <a:rPr lang="bg-BG" sz="2400" dirty="0"/>
              <a:t>е 255.</a:t>
            </a:r>
          </a:p>
          <a:p>
            <a:pPr marL="0" indent="0">
              <a:buNone/>
            </a:pPr>
            <a:r>
              <a:rPr lang="bg-BG" sz="2400" dirty="0"/>
              <a:t>в) </a:t>
            </a:r>
            <a:r>
              <a:rPr lang="en-US" sz="2400" dirty="0"/>
              <a:t>DECIMAL(length, </a:t>
            </a:r>
            <a:r>
              <a:rPr lang="en-US" sz="2400" dirty="0" err="1"/>
              <a:t>dec</a:t>
            </a:r>
            <a:r>
              <a:rPr lang="en-US" sz="2400" dirty="0"/>
              <a:t>) – </a:t>
            </a:r>
            <a:r>
              <a:rPr lang="bg-BG" sz="2400" dirty="0"/>
              <a:t>числото е записано по такъв начин, че различните системи ще прочетат числото с неговата оригинална точност (нещо, което не е вярно за </a:t>
            </a:r>
            <a:r>
              <a:rPr lang="en-US" sz="2400" dirty="0"/>
              <a:t>double, </a:t>
            </a:r>
            <a:r>
              <a:rPr lang="bg-BG" sz="2400" dirty="0"/>
              <a:t>където винаги приемаме, че при четене е възможна „загуба“ поради различна прецизност на закръгляване). За сметка на това предимство, работата с </a:t>
            </a:r>
            <a:r>
              <a:rPr lang="en-US" sz="2400" dirty="0"/>
              <a:t>decimal </a:t>
            </a:r>
            <a:r>
              <a:rPr lang="bg-BG" sz="2400" dirty="0"/>
              <a:t>е по-бавна отколкото с </a:t>
            </a:r>
            <a:r>
              <a:rPr lang="en-US" sz="2400" dirty="0"/>
              <a:t>double. </a:t>
            </a:r>
            <a:r>
              <a:rPr lang="bg-BG" sz="2400" dirty="0"/>
              <a:t>Максималната стойност на </a:t>
            </a:r>
            <a:r>
              <a:rPr lang="en-US" sz="2400" dirty="0"/>
              <a:t>length </a:t>
            </a:r>
            <a:r>
              <a:rPr lang="bg-BG" sz="2400" dirty="0"/>
              <a:t>е 65.</a:t>
            </a:r>
          </a:p>
          <a:p>
            <a:pPr marL="0" indent="0">
              <a:buNone/>
            </a:pPr>
            <a:r>
              <a:rPr lang="bg-BG" sz="2400" dirty="0"/>
              <a:t>г) </a:t>
            </a:r>
            <a:r>
              <a:rPr lang="en-US" sz="2400" dirty="0"/>
              <a:t>NUMERAL(length, </a:t>
            </a:r>
            <a:r>
              <a:rPr lang="en-US" sz="2400" dirty="0" err="1"/>
              <a:t>dec</a:t>
            </a:r>
            <a:r>
              <a:rPr lang="en-US" sz="2400" dirty="0"/>
              <a:t>), DEC(</a:t>
            </a:r>
            <a:r>
              <a:rPr lang="en-US" sz="2400" dirty="0" err="1"/>
              <a:t>length,dec</a:t>
            </a:r>
            <a:r>
              <a:rPr lang="en-US" sz="2400" dirty="0"/>
              <a:t>), FIXED(</a:t>
            </a:r>
            <a:r>
              <a:rPr lang="en-US" sz="2400" dirty="0" err="1"/>
              <a:t>length,dec</a:t>
            </a:r>
            <a:r>
              <a:rPr lang="en-US" sz="2400" dirty="0"/>
              <a:t>) – </a:t>
            </a:r>
            <a:r>
              <a:rPr lang="bg-BG" sz="2400" dirty="0"/>
              <a:t>синоними на </a:t>
            </a:r>
            <a:r>
              <a:rPr lang="en-US" sz="2400" dirty="0"/>
              <a:t>DECIMAL.</a:t>
            </a:r>
          </a:p>
          <a:p>
            <a:endParaRPr lang="bg-BG" dirty="0"/>
          </a:p>
        </p:txBody>
      </p:sp>
    </p:spTree>
    <p:extLst>
      <p:ext uri="{BB962C8B-B14F-4D97-AF65-F5344CB8AC3E}">
        <p14:creationId xmlns:p14="http://schemas.microsoft.com/office/powerpoint/2010/main" val="1327114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8784"/>
            <a:ext cx="10515600" cy="636104"/>
          </a:xfrm>
        </p:spPr>
        <p:txBody>
          <a:bodyPr>
            <a:normAutofit/>
          </a:bodyPr>
          <a:lstStyle/>
          <a:p>
            <a:r>
              <a:rPr lang="bg-BG" sz="3200" dirty="0"/>
              <a:t>Типове данни</a:t>
            </a:r>
            <a:r>
              <a:rPr lang="en-US" sz="3200" dirty="0"/>
              <a:t> </a:t>
            </a:r>
            <a:r>
              <a:rPr lang="bg-BG" sz="3200" dirty="0"/>
              <a:t>в</a:t>
            </a:r>
            <a:r>
              <a:rPr lang="en-US" sz="3200" dirty="0"/>
              <a:t> MySQL</a:t>
            </a:r>
            <a:endParaRPr lang="bg-BG" sz="3200" dirty="0"/>
          </a:p>
        </p:txBody>
      </p:sp>
      <p:sp>
        <p:nvSpPr>
          <p:cNvPr id="3" name="Content Placeholder 2"/>
          <p:cNvSpPr>
            <a:spLocks noGrp="1"/>
          </p:cNvSpPr>
          <p:nvPr>
            <p:ph idx="1"/>
          </p:nvPr>
        </p:nvSpPr>
        <p:spPr>
          <a:xfrm>
            <a:off x="503583" y="993914"/>
            <a:ext cx="11184834" cy="5433390"/>
          </a:xfrm>
        </p:spPr>
        <p:txBody>
          <a:bodyPr>
            <a:normAutofit fontScale="62500" lnSpcReduction="20000"/>
          </a:bodyPr>
          <a:lstStyle/>
          <a:p>
            <a:pPr marL="0" indent="0">
              <a:buNone/>
            </a:pPr>
            <a:r>
              <a:rPr lang="ru-RU" sz="4500" b="1" dirty="0"/>
              <a:t>Текстови типове:</a:t>
            </a:r>
            <a:endParaRPr lang="ru-RU" sz="4500" dirty="0"/>
          </a:p>
          <a:p>
            <a:pPr marL="0" indent="0">
              <a:buNone/>
            </a:pPr>
            <a:r>
              <a:rPr lang="ru-RU" sz="3400" dirty="0"/>
              <a:t>а) CHAR(length) – Съхранява символи с фиксирана дължина. Параметърът length може да бъде от 1 до 255 (по подразбиране 1), което представлява броят символи от въпросната кодировка. Дори да не използвате целия капацитет на полето, то винаги заема максималната си дължина памет.</a:t>
            </a:r>
          </a:p>
          <a:p>
            <a:pPr marL="0" indent="0">
              <a:buNone/>
            </a:pPr>
            <a:r>
              <a:rPr lang="ru-RU" sz="3400" dirty="0"/>
              <a:t>б) VARCHAR(length) – Символни низове с променлива дължина. Параметърът length указва максималния брой символи, а реално се заема точно толкова памет, колкото символа се използват. Теоретично може да е от 1 до 65535 символа, но практически е ограничен от максималната дължина на ред в MySQL (общият сбор байтове, които заемат всички колони), която е 65535 байта! Във версии на MySQL, които са по-стари от 5.0.3, може да се съхраняват не повече от 255 символа.</a:t>
            </a:r>
          </a:p>
          <a:p>
            <a:pPr marL="0" indent="0">
              <a:buNone/>
            </a:pPr>
            <a:r>
              <a:rPr lang="bg-BG" sz="3400"/>
              <a:t>в)</a:t>
            </a:r>
            <a:r>
              <a:rPr lang="ru-RU" sz="3400" dirty="0"/>
              <a:t>TINYTEXT – може да съхранява до 255 символа. TEXT полетата работят както VARCHAR, но за разлика от него самите данни се съхраняват като обекти извън самата таблица, а в таблицата се пазят само референции към тях. По принцип се смята, че работата с полета от тип TEXT е по-бавна. За сметка на това „облекчават“ самата таблица откъм обем и работата с други данни от нея става много по-бърза. Също така те използват малко по-малко памет, но създават риск от фрагментация.</a:t>
            </a:r>
          </a:p>
          <a:p>
            <a:pPr marL="0" indent="0">
              <a:buNone/>
            </a:pPr>
            <a:r>
              <a:rPr lang="ru-RU" sz="3400" dirty="0"/>
              <a:t>г) TEXT – 65535 символа.</a:t>
            </a:r>
          </a:p>
          <a:p>
            <a:pPr marL="0" indent="0">
              <a:buNone/>
            </a:pPr>
            <a:r>
              <a:rPr lang="ru-RU" sz="3400" dirty="0"/>
              <a:t>д) MEDIUMTEXT – 16777215 символа.</a:t>
            </a:r>
          </a:p>
          <a:p>
            <a:pPr marL="0" indent="0">
              <a:buNone/>
            </a:pPr>
            <a:r>
              <a:rPr lang="ru-RU" sz="3400" dirty="0"/>
              <a:t>е) LONGTEXT – 4294967295 символа.</a:t>
            </a:r>
          </a:p>
          <a:p>
            <a:endParaRPr lang="ru-RU" dirty="0"/>
          </a:p>
          <a:p>
            <a:endParaRPr lang="bg-BG" dirty="0"/>
          </a:p>
        </p:txBody>
      </p:sp>
    </p:spTree>
    <p:extLst>
      <p:ext uri="{BB962C8B-B14F-4D97-AF65-F5344CB8AC3E}">
        <p14:creationId xmlns:p14="http://schemas.microsoft.com/office/powerpoint/2010/main" val="2051139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83014"/>
          </a:xfrm>
        </p:spPr>
        <p:txBody>
          <a:bodyPr>
            <a:normAutofit fontScale="90000"/>
          </a:bodyPr>
          <a:lstStyle/>
          <a:p>
            <a:endParaRPr lang="bg-BG" dirty="0"/>
          </a:p>
        </p:txBody>
      </p:sp>
      <p:sp>
        <p:nvSpPr>
          <p:cNvPr id="5" name="Content Placeholder 4"/>
          <p:cNvSpPr>
            <a:spLocks noGrp="1"/>
          </p:cNvSpPr>
          <p:nvPr>
            <p:ph idx="1"/>
          </p:nvPr>
        </p:nvSpPr>
        <p:spPr>
          <a:xfrm>
            <a:off x="437322" y="1152938"/>
            <a:ext cx="10916478" cy="5406887"/>
          </a:xfrm>
        </p:spPr>
        <p:txBody>
          <a:bodyPr>
            <a:normAutofit fontScale="92500"/>
          </a:bodyPr>
          <a:lstStyle/>
          <a:p>
            <a:pPr marL="0" indent="0">
              <a:buNone/>
            </a:pPr>
            <a:r>
              <a:rPr lang="bg-BG" sz="2000" dirty="0"/>
              <a:t>ж)</a:t>
            </a:r>
            <a:r>
              <a:rPr lang="ru-RU" dirty="0"/>
              <a:t> </a:t>
            </a:r>
            <a:r>
              <a:rPr lang="ru-RU" sz="2400" dirty="0"/>
              <a:t>BINARY(bytes) – поле подобно на CHAR, но с тази разлика, че в него текстовите низове се записват като бинарна поредица и нямат кодировка. Това практически означава, че в последствие сравнението между такива низове ще се извършва байт по байт вместо символ по символ Незаетите символи се запълват с 0x00 (нулевия байт). С BINARY обикновено се работи доста по-бързо, отколкото с CHAR. Недостатък в този тип данни се явява липсата на collation (правила за сравнение на низове). Поради тази причина е препоръчително да използвате този тип данни само за бинарна информация или текст, който ще използвате само за четене</a:t>
            </a:r>
            <a:r>
              <a:rPr lang="bg-BG" sz="2400" dirty="0"/>
              <a:t>без сортиране.</a:t>
            </a:r>
          </a:p>
          <a:p>
            <a:pPr marL="0" indent="0">
              <a:spcBef>
                <a:spcPts val="0"/>
              </a:spcBef>
              <a:buNone/>
            </a:pPr>
            <a:r>
              <a:rPr lang="ru-RU" sz="2400" dirty="0"/>
              <a:t>з) VARBINARY(bytes) – аналогично по действие с VARCHAR, но също както BINARY работи с поредица от байтове и сравненията между записани текстови низове ще се правят байт по байт, а не символ по символ. И по същия начин работата с VARBINARY е по-бърза, отколкото с VARCHAR, но липсата на collation го прави неподходящ при сложни сравнения между низове.</a:t>
            </a:r>
          </a:p>
          <a:p>
            <a:pPr marL="0" indent="0">
              <a:spcBef>
                <a:spcPts val="0"/>
              </a:spcBef>
              <a:buNone/>
            </a:pPr>
            <a:r>
              <a:rPr lang="ru-RU" sz="2400" dirty="0"/>
              <a:t>и) TINYBLOB – Същото като TINYTEXT, но съхранява 255 байта, а не символи.</a:t>
            </a:r>
          </a:p>
          <a:p>
            <a:pPr marL="0" indent="0">
              <a:spcBef>
                <a:spcPts val="0"/>
              </a:spcBef>
              <a:buNone/>
            </a:pPr>
            <a:r>
              <a:rPr lang="ru-RU" sz="2400" dirty="0"/>
              <a:t>й) BLOB – Същото като TEXT, но съхранява байтове, а не символи.</a:t>
            </a:r>
          </a:p>
          <a:p>
            <a:pPr marL="0" indent="0">
              <a:spcBef>
                <a:spcPts val="0"/>
              </a:spcBef>
              <a:buNone/>
            </a:pPr>
            <a:r>
              <a:rPr lang="ru-RU" sz="2400" dirty="0"/>
              <a:t>к) MEDIUMBLOB – Същото като MEDIUMTEXT, но съхранява байтове, а не символи.</a:t>
            </a:r>
          </a:p>
          <a:p>
            <a:pPr marL="0" indent="0">
              <a:spcBef>
                <a:spcPts val="0"/>
              </a:spcBef>
              <a:buNone/>
            </a:pPr>
            <a:r>
              <a:rPr lang="ru-RU" sz="2400" dirty="0"/>
              <a:t>л) LONGBLOB – Същото като LONGTEXT, но съхранява байтове, а не символи.</a:t>
            </a:r>
          </a:p>
          <a:p>
            <a:pPr marL="0" indent="0">
              <a:buNone/>
            </a:pPr>
            <a:endParaRPr lang="bg-BG" sz="2400" dirty="0"/>
          </a:p>
        </p:txBody>
      </p:sp>
    </p:spTree>
    <p:extLst>
      <p:ext uri="{BB962C8B-B14F-4D97-AF65-F5344CB8AC3E}">
        <p14:creationId xmlns:p14="http://schemas.microsoft.com/office/powerpoint/2010/main" val="3888337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83014"/>
          </a:xfrm>
        </p:spPr>
        <p:txBody>
          <a:bodyPr>
            <a:noAutofit/>
          </a:bodyPr>
          <a:lstStyle/>
          <a:p>
            <a:r>
              <a:rPr lang="bg-BG" sz="3200" dirty="0"/>
              <a:t>Типове данни</a:t>
            </a:r>
            <a:r>
              <a:rPr lang="en-US" sz="3200" dirty="0"/>
              <a:t> </a:t>
            </a:r>
            <a:r>
              <a:rPr lang="bg-BG" sz="3200" dirty="0"/>
              <a:t>в</a:t>
            </a:r>
            <a:r>
              <a:rPr lang="en-US" sz="3200" dirty="0"/>
              <a:t> MySQL</a:t>
            </a:r>
            <a:endParaRPr lang="bg-BG" sz="3200" dirty="0"/>
          </a:p>
        </p:txBody>
      </p:sp>
      <p:sp>
        <p:nvSpPr>
          <p:cNvPr id="3" name="Content Placeholder 2"/>
          <p:cNvSpPr>
            <a:spLocks noGrp="1"/>
          </p:cNvSpPr>
          <p:nvPr>
            <p:ph idx="1"/>
          </p:nvPr>
        </p:nvSpPr>
        <p:spPr>
          <a:xfrm>
            <a:off x="450573" y="848140"/>
            <a:ext cx="11237843" cy="5645425"/>
          </a:xfrm>
        </p:spPr>
        <p:txBody>
          <a:bodyPr>
            <a:noAutofit/>
          </a:bodyPr>
          <a:lstStyle/>
          <a:p>
            <a:pPr marL="0" indent="0">
              <a:buNone/>
            </a:pPr>
            <a:r>
              <a:rPr lang="ru-RU" b="1" dirty="0"/>
              <a:t>Типове за дата и време:</a:t>
            </a:r>
          </a:p>
          <a:p>
            <a:pPr marL="0" indent="0">
              <a:spcBef>
                <a:spcPts val="0"/>
              </a:spcBef>
              <a:buNone/>
            </a:pPr>
            <a:r>
              <a:rPr lang="ru-RU" sz="2400" dirty="0"/>
              <a:t>а) DATE – Дата във формат YYYY-MM-DD. Минималната стойност е ‘1000-01-01’, а максималната ‘9999-12-31’.</a:t>
            </a:r>
          </a:p>
          <a:p>
            <a:pPr marL="0" indent="0">
              <a:spcBef>
                <a:spcPts val="0"/>
              </a:spcBef>
              <a:buNone/>
            </a:pPr>
            <a:r>
              <a:rPr lang="ru-RU" sz="2400" dirty="0"/>
              <a:t>б) DATETIME – Дата и време във формат YYYY-MM-DD HH:MM:SS. Минималната стойност е ‘1000-01-01 00:00:00’, а максималната ‘9999-12-31 23:59:59’.</a:t>
            </a:r>
          </a:p>
          <a:p>
            <a:pPr marL="0" indent="0">
              <a:spcBef>
                <a:spcPts val="0"/>
              </a:spcBef>
              <a:buNone/>
            </a:pPr>
            <a:r>
              <a:rPr lang="ru-RU" sz="2400" dirty="0"/>
              <a:t>в) TIMESTAMP – Дата и време във формат YYYYMMDDHHMMSS. Отговаря на „Unix епохата“, т.е. започва от ‘1970-01-01 00:00:01’ UTC и завършва максимално в ‘2038-01-19 03:14:07’.</a:t>
            </a:r>
          </a:p>
          <a:p>
            <a:pPr marL="0" indent="0">
              <a:spcBef>
                <a:spcPts val="0"/>
              </a:spcBef>
              <a:buNone/>
            </a:pPr>
            <a:r>
              <a:rPr lang="ru-RU" sz="2400" dirty="0"/>
              <a:t>г) TIME – Време във формат HH:MM:SS.</a:t>
            </a:r>
          </a:p>
          <a:p>
            <a:pPr marL="0" indent="0">
              <a:spcBef>
                <a:spcPts val="0"/>
              </a:spcBef>
              <a:buNone/>
            </a:pPr>
            <a:r>
              <a:rPr lang="ru-RU" sz="2400" dirty="0"/>
              <a:t>д) YEAR(length) – Стойността на length може да е 2 или 4, като по подразбиране е 4. Ако е 4, то това поле представлява година от ‘1901’ до ‘2155’ или стойността ‘0000’ (години извън интервала ще се приемат автоматично за нулевата стойност). Ако length е 2, то възможните стойности са от „70 до </a:t>
            </a:r>
            <a:r>
              <a:rPr lang="en-US" sz="2400"/>
              <a:t>9</a:t>
            </a:r>
            <a:r>
              <a:rPr lang="ru-RU" sz="2400"/>
              <a:t>9</a:t>
            </a:r>
            <a:r>
              <a:rPr lang="ru-RU" sz="2400" dirty="0"/>
              <a:t>“ – числата от 70 до 99 представляват годините от 1970 до 1999, а числата от 0 до 69 представляват годините от 2000 до 2069. Имайте предвид, че от версия 5.5.27 нататък формат YEAR(2) е „deprecated“, т.е. в бъдещи версии няма да го има.</a:t>
            </a:r>
            <a:endParaRPr lang="bg-BG" sz="2400" dirty="0"/>
          </a:p>
        </p:txBody>
      </p:sp>
    </p:spTree>
    <p:extLst>
      <p:ext uri="{BB962C8B-B14F-4D97-AF65-F5344CB8AC3E}">
        <p14:creationId xmlns:p14="http://schemas.microsoft.com/office/powerpoint/2010/main" val="2347191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8783"/>
            <a:ext cx="10515600" cy="728869"/>
          </a:xfrm>
        </p:spPr>
        <p:txBody>
          <a:bodyPr>
            <a:normAutofit/>
          </a:bodyPr>
          <a:lstStyle/>
          <a:p>
            <a:r>
              <a:rPr lang="bg-BG" sz="3200" dirty="0"/>
              <a:t>Типове данни в </a:t>
            </a:r>
            <a:r>
              <a:rPr lang="en-US" sz="3200" dirty="0"/>
              <a:t>MySQL</a:t>
            </a:r>
            <a:endParaRPr lang="bg-BG" sz="3200" dirty="0"/>
          </a:p>
        </p:txBody>
      </p:sp>
      <p:sp>
        <p:nvSpPr>
          <p:cNvPr id="3" name="Content Placeholder 2"/>
          <p:cNvSpPr>
            <a:spLocks noGrp="1"/>
          </p:cNvSpPr>
          <p:nvPr>
            <p:ph idx="1"/>
          </p:nvPr>
        </p:nvSpPr>
        <p:spPr>
          <a:xfrm>
            <a:off x="410817" y="927652"/>
            <a:ext cx="11317357" cy="5420139"/>
          </a:xfrm>
        </p:spPr>
        <p:txBody>
          <a:bodyPr/>
          <a:lstStyle/>
          <a:p>
            <a:pPr marL="0" indent="0">
              <a:buNone/>
            </a:pPr>
            <a:r>
              <a:rPr lang="ru-RU" b="1" dirty="0"/>
              <a:t>Други типове данни</a:t>
            </a:r>
            <a:r>
              <a:rPr lang="ru-RU" dirty="0"/>
              <a:t>:</a:t>
            </a:r>
          </a:p>
          <a:p>
            <a:pPr marL="0" indent="0">
              <a:buNone/>
            </a:pPr>
            <a:r>
              <a:rPr lang="ru-RU" sz="2400" dirty="0"/>
              <a:t>а) ENUM(„o1″,“o2“, …) – Изброим тип данни. Записва се само една стойност от изброените. Може да има максимум 65535 различни стойности.</a:t>
            </a:r>
          </a:p>
          <a:p>
            <a:pPr marL="0" indent="0">
              <a:buNone/>
            </a:pPr>
            <a:r>
              <a:rPr lang="ru-RU" sz="2400" dirty="0"/>
              <a:t>б) SET(„o1″,“o2“, …) – Също като enum е изброим тип данни, но позволява да се записват повече от една стойност в клетка на таблица (това всъщност е единствения тип данни, които позволява това). Може да съдържа максимум 64 елемента.</a:t>
            </a:r>
          </a:p>
          <a:p>
            <a:endParaRPr lang="ru-RU" dirty="0"/>
          </a:p>
          <a:p>
            <a:endParaRPr lang="bg-BG" dirty="0"/>
          </a:p>
        </p:txBody>
      </p:sp>
    </p:spTree>
    <p:extLst>
      <p:ext uri="{BB962C8B-B14F-4D97-AF65-F5344CB8AC3E}">
        <p14:creationId xmlns:p14="http://schemas.microsoft.com/office/powerpoint/2010/main" val="793033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8544"/>
          </a:xfrm>
        </p:spPr>
        <p:txBody>
          <a:bodyPr>
            <a:noAutofit/>
          </a:bodyPr>
          <a:lstStyle/>
          <a:p>
            <a:r>
              <a:rPr lang="bg-BG" sz="3200" b="1" dirty="0"/>
              <a:t>Създаване на база данни:</a:t>
            </a:r>
            <a:endParaRPr lang="bg-BG" sz="3200" dirty="0"/>
          </a:p>
        </p:txBody>
      </p:sp>
      <p:sp>
        <p:nvSpPr>
          <p:cNvPr id="3" name="Content Placeholder 2"/>
          <p:cNvSpPr>
            <a:spLocks noGrp="1"/>
          </p:cNvSpPr>
          <p:nvPr>
            <p:ph idx="1"/>
          </p:nvPr>
        </p:nvSpPr>
        <p:spPr>
          <a:xfrm>
            <a:off x="838200" y="1298713"/>
            <a:ext cx="10515600" cy="5143293"/>
          </a:xfrm>
        </p:spPr>
        <p:txBody>
          <a:bodyPr>
            <a:normAutofit fontScale="70000" lnSpcReduction="20000"/>
          </a:bodyPr>
          <a:lstStyle/>
          <a:p>
            <a:pPr marL="0" indent="0" fontAlgn="base">
              <a:buNone/>
            </a:pPr>
            <a:r>
              <a:rPr lang="en-US" dirty="0"/>
              <a:t>SQL </a:t>
            </a:r>
            <a:r>
              <a:rPr lang="bg-BG" dirty="0"/>
              <a:t>е разделен най-общо в две направления – структурна дефиниция и манипулация над данните. Затова езикът условно се разделя на </a:t>
            </a:r>
            <a:r>
              <a:rPr lang="en-US" dirty="0"/>
              <a:t>DDL(Data Definition Language) </a:t>
            </a:r>
            <a:r>
              <a:rPr lang="bg-BG" dirty="0"/>
              <a:t>и </a:t>
            </a:r>
            <a:r>
              <a:rPr lang="en-US" dirty="0"/>
              <a:t>DML(Data Manipulation Language).</a:t>
            </a:r>
          </a:p>
          <a:p>
            <a:pPr marL="0" indent="0" fontAlgn="base">
              <a:buNone/>
            </a:pPr>
            <a:r>
              <a:rPr lang="en-US" b="1" dirty="0"/>
              <a:t>DDL</a:t>
            </a:r>
            <a:r>
              <a:rPr lang="en-US" dirty="0"/>
              <a:t>– </a:t>
            </a:r>
            <a:r>
              <a:rPr lang="bg-BG" dirty="0"/>
              <a:t>съдържа команди, с които се дефинира структурата на базата данни – схеми, таблици, ограничения и връзки между таблиците. Това са всички заявки от типа:</a:t>
            </a:r>
          </a:p>
          <a:p>
            <a:pPr fontAlgn="base"/>
            <a:r>
              <a:rPr lang="en-US" dirty="0"/>
              <a:t>CREATE DATABASE/ CREATE TABLE – </a:t>
            </a:r>
            <a:r>
              <a:rPr lang="bg-BG" dirty="0"/>
              <a:t>създаване на база данни/ създаване на таблица</a:t>
            </a:r>
          </a:p>
          <a:p>
            <a:pPr fontAlgn="base"/>
            <a:r>
              <a:rPr lang="en-US" dirty="0"/>
              <a:t>ALTER DATABASE/ALTER TABLE – </a:t>
            </a:r>
            <a:r>
              <a:rPr lang="bg-BG" dirty="0"/>
              <a:t>промяна дефиницията на база/ на таблица</a:t>
            </a:r>
          </a:p>
          <a:p>
            <a:pPr fontAlgn="base"/>
            <a:r>
              <a:rPr lang="en-US" dirty="0"/>
              <a:t>DROP DATABASE/ DROP TABLE – </a:t>
            </a:r>
            <a:r>
              <a:rPr lang="bg-BG" dirty="0"/>
              <a:t>изтриване на база/ на таблица</a:t>
            </a:r>
          </a:p>
          <a:p>
            <a:pPr fontAlgn="base"/>
            <a:r>
              <a:rPr lang="en-US" dirty="0"/>
              <a:t>CREATE INDEX – </a:t>
            </a:r>
            <a:r>
              <a:rPr lang="bg-BG" dirty="0"/>
              <a:t>създаване на индекс</a:t>
            </a:r>
          </a:p>
          <a:p>
            <a:pPr fontAlgn="base"/>
            <a:r>
              <a:rPr lang="en-US" dirty="0"/>
              <a:t>DROP INDEX – </a:t>
            </a:r>
            <a:r>
              <a:rPr lang="bg-BG" dirty="0"/>
              <a:t>изтриване на индекс</a:t>
            </a:r>
          </a:p>
          <a:p>
            <a:pPr marL="0" indent="0" fontAlgn="base">
              <a:buNone/>
            </a:pPr>
            <a:r>
              <a:rPr lang="en-US" b="1" dirty="0"/>
              <a:t>DML</a:t>
            </a:r>
            <a:r>
              <a:rPr lang="en-US" dirty="0"/>
              <a:t> – </a:t>
            </a:r>
            <a:r>
              <a:rPr lang="bg-BG" dirty="0"/>
              <a:t>съдържа команди за обработка над данните – вмъкване, извличане, промяна, изтриване на данни:</a:t>
            </a:r>
          </a:p>
          <a:p>
            <a:pPr fontAlgn="base"/>
            <a:r>
              <a:rPr lang="en-US" dirty="0"/>
              <a:t>INSERT- </a:t>
            </a:r>
            <a:r>
              <a:rPr lang="bg-BG" dirty="0"/>
              <a:t>вмъкване на данни</a:t>
            </a:r>
          </a:p>
          <a:p>
            <a:pPr fontAlgn="base"/>
            <a:r>
              <a:rPr lang="en-US" dirty="0"/>
              <a:t>SELECT – </a:t>
            </a:r>
            <a:r>
              <a:rPr lang="bg-BG" dirty="0"/>
              <a:t>извличане на данни</a:t>
            </a:r>
          </a:p>
          <a:p>
            <a:pPr fontAlgn="base"/>
            <a:r>
              <a:rPr lang="en-US" dirty="0"/>
              <a:t>UPDATE – </a:t>
            </a:r>
            <a:r>
              <a:rPr lang="bg-BG" dirty="0"/>
              <a:t>промяна на данни</a:t>
            </a:r>
          </a:p>
          <a:p>
            <a:pPr fontAlgn="base"/>
            <a:r>
              <a:rPr lang="en-US" dirty="0"/>
              <a:t>DELETE – </a:t>
            </a:r>
            <a:r>
              <a:rPr lang="bg-BG" dirty="0"/>
              <a:t>изтриване на данни</a:t>
            </a:r>
          </a:p>
          <a:p>
            <a:endParaRPr lang="bg-BG" dirty="0"/>
          </a:p>
        </p:txBody>
      </p:sp>
    </p:spTree>
    <p:extLst>
      <p:ext uri="{BB962C8B-B14F-4D97-AF65-F5344CB8AC3E}">
        <p14:creationId xmlns:p14="http://schemas.microsoft.com/office/powerpoint/2010/main" val="4155225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8301"/>
          </a:xfrm>
        </p:spPr>
        <p:txBody>
          <a:bodyPr>
            <a:normAutofit/>
          </a:bodyPr>
          <a:lstStyle/>
          <a:p>
            <a:r>
              <a:rPr lang="bg-BG" sz="3200" dirty="0">
                <a:latin typeface="Arial" panose="020B0604020202020204" pitchFamily="34" charset="0"/>
                <a:cs typeface="Arial" panose="020B0604020202020204" pitchFamily="34" charset="0"/>
              </a:rPr>
              <a:t>Синтаксис на заявките:</a:t>
            </a:r>
          </a:p>
        </p:txBody>
      </p:sp>
      <p:sp>
        <p:nvSpPr>
          <p:cNvPr id="3" name="Content Placeholder 2"/>
          <p:cNvSpPr>
            <a:spLocks noGrp="1"/>
          </p:cNvSpPr>
          <p:nvPr>
            <p:ph idx="1"/>
          </p:nvPr>
        </p:nvSpPr>
        <p:spPr>
          <a:xfrm>
            <a:off x="838200" y="1391477"/>
            <a:ext cx="10515600" cy="4785485"/>
          </a:xfrm>
        </p:spPr>
        <p:txBody>
          <a:bodyPr>
            <a:noAutofit/>
          </a:bodyPr>
          <a:lstStyle/>
          <a:p>
            <a:pPr marL="0" indent="0">
              <a:spcBef>
                <a:spcPts val="0"/>
              </a:spcBef>
              <a:buNone/>
            </a:pPr>
            <a:r>
              <a:rPr lang="ru-RU" sz="2400" dirty="0">
                <a:latin typeface="Arial" panose="020B0604020202020204" pitchFamily="34" charset="0"/>
                <a:cs typeface="Arial" panose="020B0604020202020204" pitchFamily="34" charset="0"/>
              </a:rPr>
              <a:t>Заявката за създаване на базата данни е:</a:t>
            </a:r>
          </a:p>
          <a:p>
            <a:pPr marL="0" indent="0">
              <a:spcBef>
                <a:spcPts val="0"/>
              </a:spcBef>
              <a:buNone/>
            </a:pPr>
            <a:r>
              <a:rPr lang="ru-RU" sz="2400" dirty="0">
                <a:latin typeface="Arial" panose="020B0604020202020204" pitchFamily="34" charset="0"/>
                <a:cs typeface="Arial" panose="020B0604020202020204" pitchFamily="34" charset="0"/>
              </a:rPr>
              <a:t>CREATE DATABASE &lt;име на базата&gt;;</a:t>
            </a:r>
          </a:p>
          <a:p>
            <a:pPr marL="0" indent="0">
              <a:spcBef>
                <a:spcPts val="0"/>
              </a:spcBef>
              <a:buNone/>
            </a:pPr>
            <a:endParaRPr lang="ru-RU" sz="2400" dirty="0">
              <a:latin typeface="Arial" panose="020B0604020202020204" pitchFamily="34" charset="0"/>
              <a:cs typeface="Arial" panose="020B0604020202020204" pitchFamily="34" charset="0"/>
            </a:endParaRPr>
          </a:p>
          <a:p>
            <a:pPr marL="0" indent="0">
              <a:spcBef>
                <a:spcPts val="0"/>
              </a:spcBef>
              <a:buNone/>
            </a:pPr>
            <a:r>
              <a:rPr lang="ru-RU" sz="2400" dirty="0">
                <a:latin typeface="Arial" panose="020B0604020202020204" pitchFamily="34" charset="0"/>
                <a:cs typeface="Arial" panose="020B0604020202020204" pitchFamily="34" charset="0"/>
              </a:rPr>
              <a:t>Заявка за използване на базата е :</a:t>
            </a:r>
          </a:p>
          <a:p>
            <a:pPr marL="0" indent="0">
              <a:spcBef>
                <a:spcPts val="0"/>
              </a:spcBef>
              <a:buNone/>
            </a:pPr>
            <a:r>
              <a:rPr lang="ru-RU" sz="2400" dirty="0">
                <a:latin typeface="Arial" panose="020B0604020202020204" pitchFamily="34" charset="0"/>
                <a:cs typeface="Arial" panose="020B0604020202020204" pitchFamily="34" charset="0"/>
              </a:rPr>
              <a:t>USE &lt;име на базата&gt;;</a:t>
            </a:r>
          </a:p>
          <a:p>
            <a:pPr marL="0" indent="0">
              <a:spcBef>
                <a:spcPts val="0"/>
              </a:spcBef>
              <a:buNone/>
            </a:pPr>
            <a:endParaRPr lang="ru-RU" sz="2400" dirty="0">
              <a:latin typeface="Arial" panose="020B0604020202020204" pitchFamily="34" charset="0"/>
              <a:cs typeface="Arial" panose="020B0604020202020204" pitchFamily="34" charset="0"/>
            </a:endParaRPr>
          </a:p>
          <a:p>
            <a:pPr marL="0" indent="0">
              <a:spcBef>
                <a:spcPts val="0"/>
              </a:spcBef>
              <a:buNone/>
            </a:pPr>
            <a:r>
              <a:rPr lang="ru-RU" sz="2400" dirty="0">
                <a:latin typeface="Arial" panose="020B0604020202020204" pitchFamily="34" charset="0"/>
                <a:cs typeface="Arial" panose="020B0604020202020204" pitchFamily="34" charset="0"/>
              </a:rPr>
              <a:t>Синтаксис на CREATE TABLE заявка:</a:t>
            </a:r>
          </a:p>
          <a:p>
            <a:pPr marL="0" indent="0">
              <a:spcBef>
                <a:spcPts val="0"/>
              </a:spcBef>
              <a:buNone/>
            </a:pPr>
            <a:endParaRPr lang="ru-RU" sz="2400" dirty="0">
              <a:latin typeface="Arial" panose="020B0604020202020204" pitchFamily="34" charset="0"/>
              <a:cs typeface="Arial" panose="020B0604020202020204" pitchFamily="34" charset="0"/>
            </a:endParaRPr>
          </a:p>
          <a:p>
            <a:pPr marL="0" indent="0">
              <a:spcBef>
                <a:spcPts val="0"/>
              </a:spcBef>
              <a:buNone/>
            </a:pPr>
            <a:r>
              <a:rPr lang="ru-RU" sz="2400" dirty="0">
                <a:latin typeface="Arial" panose="020B0604020202020204" pitchFamily="34" charset="0"/>
                <a:cs typeface="Arial" panose="020B0604020202020204" pitchFamily="34" charset="0"/>
              </a:rPr>
              <a:t>CREATE TABLE &lt;име на таблицата&gt;(</a:t>
            </a:r>
          </a:p>
          <a:p>
            <a:pPr marL="0" indent="0">
              <a:spcBef>
                <a:spcPts val="0"/>
              </a:spcBef>
              <a:buNone/>
            </a:pPr>
            <a:r>
              <a:rPr lang="ru-RU" sz="2400" dirty="0">
                <a:latin typeface="Arial" panose="020B0604020202020204" pitchFamily="34" charset="0"/>
                <a:cs typeface="Arial" panose="020B0604020202020204" pitchFamily="34" charset="0"/>
              </a:rPr>
              <a:t>колона1 &lt;тип данни&gt;  &lt;…ограничения…&gt;,</a:t>
            </a:r>
          </a:p>
          <a:p>
            <a:pPr marL="0" indent="0">
              <a:spcBef>
                <a:spcPts val="0"/>
              </a:spcBef>
              <a:buNone/>
            </a:pPr>
            <a:r>
              <a:rPr lang="ru-RU" sz="2400" dirty="0">
                <a:latin typeface="Arial" panose="020B0604020202020204" pitchFamily="34" charset="0"/>
                <a:cs typeface="Arial" panose="020B0604020202020204" pitchFamily="34" charset="0"/>
              </a:rPr>
              <a:t>колона2 &lt;тип данни&gt;  &lt;…ограничения…&gt;,</a:t>
            </a:r>
          </a:p>
          <a:p>
            <a:pPr marL="0" indent="0">
              <a:spcBef>
                <a:spcPts val="0"/>
              </a:spcBef>
              <a:buNone/>
            </a:pPr>
            <a:r>
              <a:rPr lang="ru-RU" sz="2400" dirty="0">
                <a:latin typeface="Arial" panose="020B0604020202020204" pitchFamily="34" charset="0"/>
                <a:cs typeface="Arial" panose="020B0604020202020204" pitchFamily="34" charset="0"/>
              </a:rPr>
              <a:t>колона3 &lt;тип данни&gt;  &lt;…ограничения…&gt;</a:t>
            </a:r>
          </a:p>
          <a:p>
            <a:pPr marL="0" indent="0">
              <a:spcBef>
                <a:spcPts val="0"/>
              </a:spcBef>
              <a:buNone/>
            </a:pPr>
            <a:r>
              <a:rPr lang="ru-RU" sz="2400"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t>
            </a:r>
            <a:r>
              <a:rPr lang="en-US" sz="2400" dirty="0">
                <a:solidFill>
                  <a:srgbClr val="0070C0"/>
                </a:solidFill>
                <a:latin typeface="Arial" panose="020B0604020202020204" pitchFamily="34" charset="0"/>
                <a:cs typeface="Arial" panose="020B0604020202020204" pitchFamily="34" charset="0"/>
              </a:rPr>
              <a:t>ENIGINE= </a:t>
            </a:r>
            <a:r>
              <a:rPr lang="en-US" sz="2400" dirty="0" err="1">
                <a:solidFill>
                  <a:srgbClr val="0070C0"/>
                </a:solidFill>
                <a:latin typeface="Arial" panose="020B0604020202020204" pitchFamily="34" charset="0"/>
                <a:cs typeface="Arial" panose="020B0604020202020204" pitchFamily="34" charset="0"/>
              </a:rPr>
              <a:t>InnoDB</a:t>
            </a:r>
            <a:r>
              <a:rPr lang="ru-RU"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30891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9032"/>
          </a:xfrm>
        </p:spPr>
        <p:txBody>
          <a:bodyPr>
            <a:normAutofit fontScale="90000"/>
          </a:bodyPr>
          <a:lstStyle/>
          <a:p>
            <a:endParaRPr lang="bg-BG" dirty="0"/>
          </a:p>
        </p:txBody>
      </p:sp>
      <p:sp>
        <p:nvSpPr>
          <p:cNvPr id="3" name="Content Placeholder 2"/>
          <p:cNvSpPr>
            <a:spLocks noGrp="1"/>
          </p:cNvSpPr>
          <p:nvPr>
            <p:ph idx="1"/>
          </p:nvPr>
        </p:nvSpPr>
        <p:spPr>
          <a:xfrm>
            <a:off x="463825" y="1272209"/>
            <a:ext cx="11158331" cy="5221356"/>
          </a:xfrm>
        </p:spPr>
        <p:txBody>
          <a:bodyPr>
            <a:normAutofit/>
          </a:bodyPr>
          <a:lstStyle/>
          <a:p>
            <a:pPr marL="0" indent="0">
              <a:buNone/>
            </a:pPr>
            <a:r>
              <a:rPr lang="ru-RU" sz="2400" dirty="0">
                <a:latin typeface="Arial" panose="020B0604020202020204" pitchFamily="34" charset="0"/>
                <a:cs typeface="Arial" panose="020B0604020202020204" pitchFamily="34" charset="0"/>
              </a:rPr>
              <a:t>В скобите се изреждат разделени чрез запетая дефиниции на колони; Огра-ниченията са рестрикции върху стойностите, които може да приема дадена колона. Едно от най-често срещаните е NOT NULL. </a:t>
            </a:r>
          </a:p>
          <a:p>
            <a:pPr marL="0" indent="0">
              <a:buNone/>
            </a:pPr>
            <a:r>
              <a:rPr lang="ru-RU" sz="2400" dirty="0">
                <a:latin typeface="Arial" panose="020B0604020202020204" pitchFamily="34" charset="0"/>
                <a:cs typeface="Arial" panose="020B0604020202020204" pitchFamily="34" charset="0"/>
              </a:rPr>
              <a:t>В заявките за създаване на таблици се използват първични и външни ключове. </a:t>
            </a:r>
          </a:p>
          <a:p>
            <a:pPr marL="0" indent="0">
              <a:buNone/>
            </a:pPr>
            <a:r>
              <a:rPr lang="ru-RU" sz="2400" b="1" dirty="0">
                <a:latin typeface="Arial" panose="020B0604020202020204" pitchFamily="34" charset="0"/>
                <a:cs typeface="Arial" panose="020B0604020202020204" pitchFamily="34" charset="0"/>
              </a:rPr>
              <a:t>Първичният ключ </a:t>
            </a:r>
            <a:r>
              <a:rPr lang="ru-RU" sz="2400" dirty="0">
                <a:latin typeface="Arial" panose="020B0604020202020204" pitchFamily="34" charset="0"/>
                <a:cs typeface="Arial" panose="020B0604020202020204" pitchFamily="34" charset="0"/>
              </a:rPr>
              <a:t>попада в графата &lt;…ограничения…&gt; и се реализира като просто напишем PRIMARY KEY</a:t>
            </a:r>
            <a:r>
              <a:rPr lang="ru-RU" dirty="0">
                <a:latin typeface="Arial" panose="020B0604020202020204" pitchFamily="34" charset="0"/>
                <a:cs typeface="Arial" panose="020B0604020202020204" pitchFamily="34" charset="0"/>
              </a:rPr>
              <a:t>.</a:t>
            </a:r>
          </a:p>
          <a:p>
            <a:pPr marL="0" indent="0">
              <a:buNone/>
            </a:pPr>
            <a:r>
              <a:rPr lang="ru-RU" sz="2400" b="1" dirty="0">
                <a:latin typeface="Arial" panose="020B0604020202020204" pitchFamily="34" charset="0"/>
                <a:cs typeface="Arial" panose="020B0604020202020204" pitchFamily="34" charset="0"/>
              </a:rPr>
              <a:t>Външният ключ </a:t>
            </a:r>
            <a:r>
              <a:rPr lang="ru-RU" sz="2400" dirty="0">
                <a:latin typeface="Arial" panose="020B0604020202020204" pitchFamily="34" charset="0"/>
                <a:cs typeface="Arial" panose="020B0604020202020204" pitchFamily="34" charset="0"/>
              </a:rPr>
              <a:t>се създава като се декларира на отделен ред в CREATE TABLE заявката:</a:t>
            </a:r>
          </a:p>
          <a:p>
            <a:pPr marL="0" indent="0">
              <a:buNone/>
            </a:pPr>
            <a:r>
              <a:rPr lang="ru-RU" sz="2400" dirty="0">
                <a:latin typeface="Arial" panose="020B0604020202020204" pitchFamily="34" charset="0"/>
                <a:cs typeface="Arial" panose="020B0604020202020204" pitchFamily="34" charset="0"/>
              </a:rPr>
              <a:t>CONSTRAINT FOREIGN KEY (&lt;име на колона от рефериращата таблица&gt;) REFERENCES &lt;таблица&gt;(&lt;колона от реферираната таблица&gt;);</a:t>
            </a:r>
            <a:endParaRPr lang="bg-BG" sz="2400" dirty="0">
              <a:latin typeface="Arial" panose="020B0604020202020204" pitchFamily="34" charset="0"/>
              <a:cs typeface="Arial" panose="020B0604020202020204" pitchFamily="34" charset="0"/>
            </a:endParaRPr>
          </a:p>
          <a:p>
            <a:endParaRPr lang="bg-BG" dirty="0"/>
          </a:p>
        </p:txBody>
      </p:sp>
    </p:spTree>
    <p:extLst>
      <p:ext uri="{BB962C8B-B14F-4D97-AF65-F5344CB8AC3E}">
        <p14:creationId xmlns:p14="http://schemas.microsoft.com/office/powerpoint/2010/main" val="3027053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16753"/>
          </a:xfrm>
        </p:spPr>
        <p:txBody>
          <a:bodyPr>
            <a:noAutofit/>
          </a:bodyPr>
          <a:lstStyle/>
          <a:p>
            <a:r>
              <a:rPr lang="ru-RU" sz="3200" dirty="0">
                <a:latin typeface="Arial" panose="020B0604020202020204" pitchFamily="34" charset="0"/>
                <a:cs typeface="Arial" panose="020B0604020202020204" pitchFamily="34" charset="0"/>
              </a:rPr>
              <a:t>Синтаксис на ALTER TABLE заявки:</a:t>
            </a:r>
            <a:endParaRPr lang="bg-BG" sz="32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43339" y="993913"/>
            <a:ext cx="11171583" cy="5512904"/>
          </a:xfrm>
        </p:spPr>
        <p:txBody>
          <a:bodyPr>
            <a:normAutofit/>
          </a:bodyPr>
          <a:lstStyle/>
          <a:p>
            <a:pPr marL="0" indent="0">
              <a:spcBef>
                <a:spcPts val="0"/>
              </a:spcBef>
              <a:buNone/>
            </a:pPr>
            <a:r>
              <a:rPr lang="ru-RU" sz="2400" dirty="0"/>
              <a:t>Понякога се налага да добавят нови колони, да се модифицират стари или да се изтрият от дадена таблица. Също така не е възможно да създадете външен ключ към колона, която не е декларирана предварително.  Затова често външния ключ се добавя по-късно. </a:t>
            </a:r>
          </a:p>
          <a:p>
            <a:pPr marL="0" indent="0">
              <a:spcBef>
                <a:spcPts val="0"/>
              </a:spcBef>
              <a:buNone/>
            </a:pPr>
            <a:r>
              <a:rPr lang="ru-RU" sz="2400" dirty="0"/>
              <a:t>Командата ALTER TABLE - ще се добави колона към съществуващата таблица. </a:t>
            </a:r>
          </a:p>
          <a:p>
            <a:pPr marL="0" indent="0">
              <a:spcBef>
                <a:spcPts val="0"/>
              </a:spcBef>
              <a:buNone/>
            </a:pPr>
            <a:endParaRPr lang="ru-RU" sz="2400" dirty="0"/>
          </a:p>
          <a:p>
            <a:pPr marL="0" indent="0">
              <a:spcBef>
                <a:spcPts val="0"/>
              </a:spcBef>
              <a:buNone/>
            </a:pPr>
            <a:r>
              <a:rPr lang="ru-RU" sz="2400" dirty="0"/>
              <a:t>ALTER TABLE &lt;име на табл.&gt; </a:t>
            </a:r>
          </a:p>
          <a:p>
            <a:pPr marL="0" indent="0">
              <a:spcBef>
                <a:spcPts val="0"/>
              </a:spcBef>
              <a:buNone/>
            </a:pPr>
            <a:r>
              <a:rPr lang="ru-RU" sz="2400" dirty="0"/>
              <a:t>ADD колона1 &lt;тип данни&gt; &lt;…ограничения…&gt; </a:t>
            </a:r>
          </a:p>
          <a:p>
            <a:pPr marL="0" indent="0">
              <a:spcBef>
                <a:spcPts val="0"/>
              </a:spcBef>
              <a:buNone/>
            </a:pPr>
            <a:endParaRPr lang="ru-RU" sz="2400" dirty="0"/>
          </a:p>
          <a:p>
            <a:pPr marL="0" indent="0">
              <a:spcBef>
                <a:spcPts val="0"/>
              </a:spcBef>
              <a:buNone/>
            </a:pPr>
            <a:r>
              <a:rPr lang="ru-RU" sz="2400" dirty="0"/>
              <a:t>За да направим  </a:t>
            </a:r>
            <a:r>
              <a:rPr lang="bg-BG" sz="2400"/>
              <a:t>н</a:t>
            </a:r>
            <a:r>
              <a:rPr lang="ru-RU" sz="2400"/>
              <a:t>овата </a:t>
            </a:r>
            <a:r>
              <a:rPr lang="ru-RU" sz="2400" dirty="0"/>
              <a:t>колона външен ключ:</a:t>
            </a:r>
          </a:p>
          <a:p>
            <a:pPr marL="0" indent="0">
              <a:spcBef>
                <a:spcPts val="0"/>
              </a:spcBef>
              <a:buNone/>
            </a:pPr>
            <a:endParaRPr lang="ru-RU" sz="2400" dirty="0"/>
          </a:p>
          <a:p>
            <a:pPr marL="0" indent="0">
              <a:spcBef>
                <a:spcPts val="0"/>
              </a:spcBef>
              <a:buNone/>
            </a:pPr>
            <a:r>
              <a:rPr lang="ru-RU" sz="2400" dirty="0"/>
              <a:t>ALTER TABLE &lt;име на табл.&gt; </a:t>
            </a:r>
          </a:p>
          <a:p>
            <a:pPr marL="0" indent="0">
              <a:spcBef>
                <a:spcPts val="0"/>
              </a:spcBef>
              <a:buNone/>
            </a:pPr>
            <a:r>
              <a:rPr lang="ru-RU" sz="2400" dirty="0"/>
              <a:t>ADD CONSTRAINT FOREIGN KEY (име на колона от рефериращата таблица) REFERENCES &lt;таблица&gt;(&lt;колона от реферираната таблица&gt;);</a:t>
            </a:r>
            <a:endParaRPr lang="bg-BG" sz="2400" dirty="0"/>
          </a:p>
        </p:txBody>
      </p:sp>
    </p:spTree>
    <p:extLst>
      <p:ext uri="{BB962C8B-B14F-4D97-AF65-F5344CB8AC3E}">
        <p14:creationId xmlns:p14="http://schemas.microsoft.com/office/powerpoint/2010/main" val="470021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2527"/>
          </a:xfrm>
        </p:spPr>
        <p:txBody>
          <a:bodyPr>
            <a:normAutofit/>
          </a:bodyPr>
          <a:lstStyle/>
          <a:p>
            <a:r>
              <a:rPr lang="bg-BG" sz="3200" dirty="0">
                <a:latin typeface="Arial" panose="020B0604020202020204" pitchFamily="34" charset="0"/>
                <a:cs typeface="Arial" panose="020B0604020202020204" pitchFamily="34" charset="0"/>
              </a:rPr>
              <a:t>Синтаксис на други заявки:</a:t>
            </a:r>
          </a:p>
        </p:txBody>
      </p:sp>
      <p:sp>
        <p:nvSpPr>
          <p:cNvPr id="3" name="Content Placeholder 2"/>
          <p:cNvSpPr>
            <a:spLocks noGrp="1"/>
          </p:cNvSpPr>
          <p:nvPr>
            <p:ph idx="1"/>
          </p:nvPr>
        </p:nvSpPr>
        <p:spPr>
          <a:xfrm>
            <a:off x="838200" y="1073426"/>
            <a:ext cx="10515600" cy="5103537"/>
          </a:xfrm>
        </p:spPr>
        <p:txBody>
          <a:bodyPr>
            <a:normAutofit/>
          </a:bodyPr>
          <a:lstStyle/>
          <a:p>
            <a:pPr marL="0" indent="0">
              <a:buNone/>
            </a:pPr>
            <a:r>
              <a:rPr lang="bg-BG" sz="2400" dirty="0"/>
              <a:t>Промяна на име на текуща колона:</a:t>
            </a:r>
          </a:p>
          <a:p>
            <a:pPr marL="0" indent="0">
              <a:buNone/>
            </a:pPr>
            <a:r>
              <a:rPr lang="ru-RU" sz="2400" dirty="0"/>
              <a:t>CHANGE &lt;име на колона&gt; &lt;ново име на колона&gt; &lt;тип данни&gt; &lt;ограничения&gt;</a:t>
            </a:r>
          </a:p>
          <a:p>
            <a:pPr marL="0" indent="0">
              <a:buNone/>
            </a:pPr>
            <a:r>
              <a:rPr lang="ru-RU" sz="2400" dirty="0"/>
              <a:t>Изтриване:</a:t>
            </a:r>
          </a:p>
          <a:p>
            <a:pPr marL="0" indent="0">
              <a:buNone/>
            </a:pPr>
            <a:r>
              <a:rPr lang="ru-RU" sz="2400" dirty="0"/>
              <a:t>DROP &lt;име на колона&gt;</a:t>
            </a:r>
            <a:endParaRPr lang="bg-BG" sz="2400" dirty="0"/>
          </a:p>
        </p:txBody>
      </p:sp>
    </p:spTree>
    <p:extLst>
      <p:ext uri="{BB962C8B-B14F-4D97-AF65-F5344CB8AC3E}">
        <p14:creationId xmlns:p14="http://schemas.microsoft.com/office/powerpoint/2010/main" val="314115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2847"/>
            <a:ext cx="10515600" cy="430005"/>
          </a:xfrm>
        </p:spPr>
        <p:txBody>
          <a:bodyPr>
            <a:noAutofit/>
          </a:bodyPr>
          <a:lstStyle/>
          <a:p>
            <a:r>
              <a:rPr lang="bg-BG" sz="3200" dirty="0">
                <a:latin typeface="Arial" panose="020B0604020202020204" pitchFamily="34" charset="0"/>
                <a:cs typeface="Arial" panose="020B0604020202020204" pitchFamily="34" charset="0"/>
              </a:rPr>
              <a:t>Пример</a:t>
            </a:r>
          </a:p>
        </p:txBody>
      </p:sp>
      <p:sp>
        <p:nvSpPr>
          <p:cNvPr id="3" name="Content Placeholder 2"/>
          <p:cNvSpPr>
            <a:spLocks noGrp="1"/>
          </p:cNvSpPr>
          <p:nvPr>
            <p:ph idx="1"/>
          </p:nvPr>
        </p:nvSpPr>
        <p:spPr>
          <a:xfrm>
            <a:off x="838200" y="781878"/>
            <a:ext cx="10515600" cy="5395085"/>
          </a:xfrm>
        </p:spPr>
        <p:txBody>
          <a:bodyPr/>
          <a:lstStyle/>
          <a:p>
            <a:pPr marL="0" indent="0">
              <a:buNone/>
            </a:pPr>
            <a:r>
              <a:rPr lang="ru-RU" i="1" dirty="0"/>
              <a:t>Нека имаме да проектираме фрагмент от база данни за приложение, обслужващо административно отдели и хора, които работят в различните отдели. За сега разглеждаме тази част от персонала, които са ИТ- програмисти и QA-и. За програмистите се пази дали са front end, back end или са full stack, както и на кои езици програмират – един или повече от предварително дефинирани езици. A за QA-ите се пази дали са manual или automation.</a:t>
            </a:r>
            <a:endParaRPr lang="bg-BG" dirty="0"/>
          </a:p>
        </p:txBody>
      </p:sp>
    </p:spTree>
    <p:extLst>
      <p:ext uri="{BB962C8B-B14F-4D97-AF65-F5344CB8AC3E}">
        <p14:creationId xmlns:p14="http://schemas.microsoft.com/office/powerpoint/2010/main" val="2417098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8701"/>
          </a:xfrm>
        </p:spPr>
        <p:txBody>
          <a:bodyPr>
            <a:normAutofit fontScale="90000"/>
          </a:bodyPr>
          <a:lstStyle/>
          <a:p>
            <a:endParaRPr lang="bg-BG" dirty="0"/>
          </a:p>
        </p:txBody>
      </p:sp>
      <p:sp>
        <p:nvSpPr>
          <p:cNvPr id="3" name="Content Placeholder 2"/>
          <p:cNvSpPr>
            <a:spLocks noGrp="1"/>
          </p:cNvSpPr>
          <p:nvPr>
            <p:ph idx="1"/>
          </p:nvPr>
        </p:nvSpPr>
        <p:spPr>
          <a:xfrm>
            <a:off x="344557" y="331304"/>
            <a:ext cx="11009243" cy="5845660"/>
          </a:xfrm>
        </p:spPr>
        <p:txBody>
          <a:bodyPr>
            <a:normAutofit fontScale="70000" lnSpcReduction="20000"/>
          </a:bodyPr>
          <a:lstStyle/>
          <a:p>
            <a:pPr marL="0" indent="0" fontAlgn="base">
              <a:spcBef>
                <a:spcPts val="0"/>
              </a:spcBef>
              <a:buNone/>
            </a:pPr>
            <a:r>
              <a:rPr lang="ru-RU" sz="3100" b="1" dirty="0"/>
              <a:t>Обекти</a:t>
            </a:r>
            <a:r>
              <a:rPr lang="ru-RU" sz="3100" dirty="0"/>
              <a:t> :</a:t>
            </a:r>
          </a:p>
          <a:p>
            <a:pPr fontAlgn="base">
              <a:spcBef>
                <a:spcPts val="0"/>
              </a:spcBef>
            </a:pPr>
            <a:r>
              <a:rPr lang="ru-RU" sz="3100" dirty="0"/>
              <a:t>отдели</a:t>
            </a:r>
          </a:p>
          <a:p>
            <a:pPr fontAlgn="base">
              <a:spcBef>
                <a:spcPts val="0"/>
              </a:spcBef>
            </a:pPr>
            <a:r>
              <a:rPr lang="ru-RU" sz="3100" dirty="0"/>
              <a:t>хора</a:t>
            </a:r>
          </a:p>
          <a:p>
            <a:pPr fontAlgn="base">
              <a:spcBef>
                <a:spcPts val="0"/>
              </a:spcBef>
            </a:pPr>
            <a:r>
              <a:rPr lang="ru-RU" sz="3100" dirty="0"/>
              <a:t>програмисти</a:t>
            </a:r>
          </a:p>
          <a:p>
            <a:pPr fontAlgn="base">
              <a:spcBef>
                <a:spcPts val="0"/>
              </a:spcBef>
            </a:pPr>
            <a:r>
              <a:rPr lang="ru-RU" sz="3100" dirty="0"/>
              <a:t>QA</a:t>
            </a:r>
          </a:p>
          <a:p>
            <a:pPr marL="0" indent="0" fontAlgn="base">
              <a:buNone/>
            </a:pPr>
            <a:r>
              <a:rPr lang="ru-RU" sz="3100" dirty="0"/>
              <a:t>Програмистите и QA-те са подкласове обекти на хората. Причината е, че и двата типа носят характерните черти на всички хора, но добавят и свои характеристики като езици за програмиране, тип тестване и тн.</a:t>
            </a:r>
          </a:p>
          <a:p>
            <a:pPr marL="0" indent="0" fontAlgn="base">
              <a:buNone/>
            </a:pPr>
            <a:r>
              <a:rPr lang="ru-RU" sz="3100" b="1" dirty="0"/>
              <a:t>Връзки между обекти</a:t>
            </a:r>
            <a:r>
              <a:rPr lang="ru-RU" sz="3100" dirty="0"/>
              <a:t>:</a:t>
            </a:r>
          </a:p>
          <a:p>
            <a:pPr fontAlgn="base">
              <a:spcBef>
                <a:spcPts val="0"/>
              </a:spcBef>
            </a:pPr>
            <a:r>
              <a:rPr lang="ru-RU" sz="3100" b="1" dirty="0"/>
              <a:t>отдели</a:t>
            </a:r>
            <a:r>
              <a:rPr lang="ru-RU" sz="3100" dirty="0"/>
              <a:t> –  </a:t>
            </a:r>
            <a:r>
              <a:rPr lang="ru-RU" sz="3100" b="1" dirty="0"/>
              <a:t>хора  </a:t>
            </a:r>
            <a:r>
              <a:rPr lang="ru-RU" sz="3100" dirty="0"/>
              <a:t>(1:М )</a:t>
            </a:r>
          </a:p>
          <a:p>
            <a:pPr fontAlgn="base">
              <a:spcBef>
                <a:spcPts val="0"/>
              </a:spcBef>
            </a:pPr>
            <a:r>
              <a:rPr lang="ru-RU" sz="3100" b="1" dirty="0"/>
              <a:t>хора</a:t>
            </a:r>
            <a:r>
              <a:rPr lang="ru-RU" sz="3100" dirty="0"/>
              <a:t>– </a:t>
            </a:r>
            <a:r>
              <a:rPr lang="ru-RU" sz="3100" b="1" dirty="0"/>
              <a:t>програмисти</a:t>
            </a:r>
            <a:r>
              <a:rPr lang="ru-RU" sz="3100" dirty="0"/>
              <a:t> (1:1)</a:t>
            </a:r>
          </a:p>
          <a:p>
            <a:pPr fontAlgn="base">
              <a:spcBef>
                <a:spcPts val="0"/>
              </a:spcBef>
            </a:pPr>
            <a:r>
              <a:rPr lang="ru-RU" sz="3100" b="1" dirty="0"/>
              <a:t>хора</a:t>
            </a:r>
            <a:r>
              <a:rPr lang="ru-RU" sz="3100" dirty="0"/>
              <a:t>– </a:t>
            </a:r>
            <a:r>
              <a:rPr lang="ru-RU" sz="3100" b="1" dirty="0"/>
              <a:t>QA</a:t>
            </a:r>
            <a:r>
              <a:rPr lang="ru-RU" sz="3100" dirty="0"/>
              <a:t>–</a:t>
            </a:r>
            <a:r>
              <a:rPr lang="ru-RU" sz="3100" b="1" dirty="0"/>
              <a:t>s</a:t>
            </a:r>
            <a:r>
              <a:rPr lang="ru-RU" sz="3100" dirty="0"/>
              <a:t> (1:1)</a:t>
            </a:r>
          </a:p>
          <a:p>
            <a:pPr marL="0" indent="0" fontAlgn="base">
              <a:spcBef>
                <a:spcPts val="0"/>
              </a:spcBef>
              <a:buNone/>
            </a:pPr>
            <a:r>
              <a:rPr lang="ru-RU" sz="3100" dirty="0"/>
              <a:t>В случая последните две връзки са от тип isA са 1:1. Причината е, че точно един обект от таблицата хора можем да го направим точно един път програмист или QA. Не е възможно той да заема повече от една длъжност на програмист или на QA.</a:t>
            </a:r>
          </a:p>
          <a:p>
            <a:pPr marL="0" indent="0" fontAlgn="base">
              <a:spcBef>
                <a:spcPts val="0"/>
              </a:spcBef>
              <a:buNone/>
            </a:pPr>
            <a:r>
              <a:rPr lang="ru-RU" sz="3100" dirty="0"/>
              <a:t>Програмистите могат да знаят повече от един езици за програмиране, които са предварително дефинирани (тоест не са случайни), но могат и да се разширяват .</a:t>
            </a:r>
          </a:p>
          <a:p>
            <a:pPr marL="0" indent="0" fontAlgn="base">
              <a:spcBef>
                <a:spcPts val="0"/>
              </a:spcBef>
              <a:buNone/>
            </a:pPr>
            <a:endParaRPr lang="ru-RU" sz="3100" dirty="0"/>
          </a:p>
          <a:p>
            <a:pPr marL="0" indent="0" fontAlgn="base">
              <a:spcBef>
                <a:spcPts val="0"/>
              </a:spcBef>
              <a:buNone/>
            </a:pPr>
            <a:r>
              <a:rPr lang="ru-RU" sz="3100" dirty="0"/>
              <a:t>Ще използваме някаква номенклатурна таблица с езици. Ако се наложи да се добави даден език – няма проблем – това е просто един insert, което е DML- тоест всичко е наред и за в бъдеще. Имайки предвид условието – това е най-подходящо решение. Връзката между програмисти и езици ще бъде M:M. Така че ще ни трябва и свързваща таблица. </a:t>
            </a:r>
            <a:endParaRPr lang="bg-BG" sz="3100" dirty="0"/>
          </a:p>
        </p:txBody>
      </p:sp>
    </p:spTree>
    <p:extLst>
      <p:ext uri="{BB962C8B-B14F-4D97-AF65-F5344CB8AC3E}">
        <p14:creationId xmlns:p14="http://schemas.microsoft.com/office/powerpoint/2010/main" val="4108767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522"/>
            <a:ext cx="10515600" cy="728869"/>
          </a:xfrm>
        </p:spPr>
        <p:txBody>
          <a:bodyPr>
            <a:normAutofit fontScale="90000"/>
          </a:bodyPr>
          <a:lstStyle/>
          <a:p>
            <a:br>
              <a:rPr lang="ru-RU" sz="3600" dirty="0"/>
            </a:br>
            <a:r>
              <a:rPr lang="ru-RU" sz="3600" dirty="0"/>
              <a:t>Променяме диаграмата така</a:t>
            </a:r>
            <a:br>
              <a:rPr lang="ru-RU" dirty="0"/>
            </a:br>
            <a:endParaRPr lang="bg-BG" dirty="0"/>
          </a:p>
        </p:txBody>
      </p:sp>
      <p:pic>
        <p:nvPicPr>
          <p:cNvPr id="4" name="Content Placeholder 3"/>
          <p:cNvPicPr>
            <a:picLocks noGrp="1" noChangeAspect="1"/>
          </p:cNvPicPr>
          <p:nvPr>
            <p:ph idx="1"/>
          </p:nvPr>
        </p:nvPicPr>
        <p:blipFill>
          <a:blip r:embed="rId2"/>
          <a:stretch>
            <a:fillRect/>
          </a:stretch>
        </p:blipFill>
        <p:spPr>
          <a:xfrm>
            <a:off x="242587" y="1105569"/>
            <a:ext cx="5714602" cy="4757185"/>
          </a:xfrm>
          <a:prstGeom prst="rect">
            <a:avLst/>
          </a:prstGeom>
        </p:spPr>
      </p:pic>
      <p:pic>
        <p:nvPicPr>
          <p:cNvPr id="5" name="Picture 4"/>
          <p:cNvPicPr>
            <a:picLocks noChangeAspect="1"/>
          </p:cNvPicPr>
          <p:nvPr/>
        </p:nvPicPr>
        <p:blipFill>
          <a:blip r:embed="rId3"/>
          <a:stretch>
            <a:fillRect/>
          </a:stretch>
        </p:blipFill>
        <p:spPr>
          <a:xfrm>
            <a:off x="6109252" y="681435"/>
            <a:ext cx="5414810" cy="5605454"/>
          </a:xfrm>
          <a:prstGeom prst="rect">
            <a:avLst/>
          </a:prstGeom>
        </p:spPr>
      </p:pic>
    </p:spTree>
    <p:extLst>
      <p:ext uri="{BB962C8B-B14F-4D97-AF65-F5344CB8AC3E}">
        <p14:creationId xmlns:p14="http://schemas.microsoft.com/office/powerpoint/2010/main" val="3098098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8545"/>
          </a:xfrm>
        </p:spPr>
        <p:txBody>
          <a:bodyPr>
            <a:normAutofit/>
          </a:bodyPr>
          <a:lstStyle/>
          <a:p>
            <a:r>
              <a:rPr lang="bg-BG" sz="3200" dirty="0">
                <a:latin typeface="Arial" panose="020B0604020202020204" pitchFamily="34" charset="0"/>
                <a:cs typeface="Arial" panose="020B0604020202020204" pitchFamily="34" charset="0"/>
              </a:rPr>
              <a:t>Задача:</a:t>
            </a:r>
          </a:p>
        </p:txBody>
      </p:sp>
      <p:sp>
        <p:nvSpPr>
          <p:cNvPr id="3" name="Content Placeholder 2"/>
          <p:cNvSpPr>
            <a:spLocks noGrp="1"/>
          </p:cNvSpPr>
          <p:nvPr>
            <p:ph idx="1"/>
          </p:nvPr>
        </p:nvSpPr>
        <p:spPr>
          <a:xfrm>
            <a:off x="838200" y="1033670"/>
            <a:ext cx="10515600" cy="5143293"/>
          </a:xfrm>
        </p:spPr>
        <p:txBody>
          <a:bodyPr/>
          <a:lstStyle/>
          <a:p>
            <a:pPr marL="0" indent="0" algn="just">
              <a:buNone/>
            </a:pPr>
            <a:r>
              <a:rPr lang="ru-RU" dirty="0"/>
              <a:t>По даден проект училище трябва да организира извънучилищни спортни клубове. Спортните клубове могат да бъдат първоначално два типа– по футбол и по волейбол, а на следващ етап ще се добавят още.  За всеки клуб може да има много наброй групи, които тренират в различни дни и в различни часове. Учениците могат да се присъединят към който и да е от двата типа клуба едновременно като се запишат в определена група в определен ден от седмицата и в определен час. За всяка от клубните групи има по един треньор, който тренира учениците. Всеки ученик може да се идентифицира с уникален номер – </a:t>
            </a:r>
            <a:r>
              <a:rPr lang="en-US" dirty="0"/>
              <a:t>id</a:t>
            </a:r>
            <a:r>
              <a:rPr lang="ru-RU" dirty="0"/>
              <a:t>. </a:t>
            </a:r>
            <a:endParaRPr lang="bg-BG" dirty="0"/>
          </a:p>
        </p:txBody>
      </p:sp>
    </p:spTree>
    <p:extLst>
      <p:ext uri="{BB962C8B-B14F-4D97-AF65-F5344CB8AC3E}">
        <p14:creationId xmlns:p14="http://schemas.microsoft.com/office/powerpoint/2010/main" val="1846026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1797"/>
          </a:xfrm>
        </p:spPr>
        <p:txBody>
          <a:bodyPr>
            <a:normAutofit/>
          </a:bodyPr>
          <a:lstStyle/>
          <a:p>
            <a:r>
              <a:rPr lang="bg-BG" sz="3200" dirty="0">
                <a:latin typeface="Arial" panose="020B0604020202020204" pitchFamily="34" charset="0"/>
                <a:cs typeface="Arial" panose="020B0604020202020204" pitchFamily="34" charset="0"/>
              </a:rPr>
              <a:t>Обекти, връзки, ключови атрибути:</a:t>
            </a:r>
          </a:p>
        </p:txBody>
      </p:sp>
      <p:sp>
        <p:nvSpPr>
          <p:cNvPr id="3" name="Content Placeholder 2"/>
          <p:cNvSpPr>
            <a:spLocks noGrp="1"/>
          </p:cNvSpPr>
          <p:nvPr>
            <p:ph idx="1"/>
          </p:nvPr>
        </p:nvSpPr>
        <p:spPr>
          <a:xfrm>
            <a:off x="397565" y="914399"/>
            <a:ext cx="10956235" cy="5262563"/>
          </a:xfrm>
        </p:spPr>
        <p:txBody>
          <a:bodyPr/>
          <a:lstStyle/>
          <a:p>
            <a:pPr marL="0" indent="0" fontAlgn="base">
              <a:spcBef>
                <a:spcPts val="0"/>
              </a:spcBef>
              <a:buNone/>
            </a:pPr>
            <a:r>
              <a:rPr lang="bg-BG" sz="2400" b="1" dirty="0"/>
              <a:t>Обекти в нашата база данни:</a:t>
            </a:r>
            <a:endParaRPr lang="bg-BG" sz="2400" dirty="0"/>
          </a:p>
          <a:p>
            <a:pPr fontAlgn="base">
              <a:spcBef>
                <a:spcPts val="0"/>
              </a:spcBef>
            </a:pPr>
            <a:r>
              <a:rPr lang="en-US" sz="2400" dirty="0" err="1"/>
              <a:t>SportGroups</a:t>
            </a:r>
            <a:endParaRPr lang="en-US" sz="2400" dirty="0"/>
          </a:p>
          <a:p>
            <a:pPr fontAlgn="base">
              <a:spcBef>
                <a:spcPts val="0"/>
              </a:spcBef>
            </a:pPr>
            <a:r>
              <a:rPr lang="en-US" sz="2400" dirty="0"/>
              <a:t>Students</a:t>
            </a:r>
          </a:p>
          <a:p>
            <a:pPr fontAlgn="base">
              <a:spcBef>
                <a:spcPts val="0"/>
              </a:spcBef>
            </a:pPr>
            <a:r>
              <a:rPr lang="en-US" sz="2400" dirty="0"/>
              <a:t>Coaches</a:t>
            </a:r>
          </a:p>
          <a:p>
            <a:pPr fontAlgn="base">
              <a:spcBef>
                <a:spcPts val="0"/>
              </a:spcBef>
            </a:pPr>
            <a:r>
              <a:rPr lang="en-US" sz="2400" dirty="0"/>
              <a:t>Sports</a:t>
            </a:r>
            <a:endParaRPr lang="bg-BG" sz="2400" dirty="0"/>
          </a:p>
          <a:p>
            <a:pPr marL="0" indent="0" fontAlgn="base">
              <a:spcBef>
                <a:spcPts val="0"/>
              </a:spcBef>
              <a:buNone/>
            </a:pPr>
            <a:r>
              <a:rPr lang="bg-BG" sz="2400" b="1" dirty="0"/>
              <a:t>Връзките между обектите:</a:t>
            </a:r>
          </a:p>
          <a:p>
            <a:pPr marL="0" indent="0" fontAlgn="base">
              <a:spcBef>
                <a:spcPts val="0"/>
              </a:spcBef>
              <a:buNone/>
            </a:pPr>
            <a:endParaRPr lang="bg-BG" sz="2400" b="1" dirty="0"/>
          </a:p>
          <a:p>
            <a:pPr fontAlgn="base">
              <a:spcBef>
                <a:spcPts val="0"/>
              </a:spcBef>
            </a:pPr>
            <a:endParaRPr lang="bg-BG" sz="2400" dirty="0"/>
          </a:p>
          <a:p>
            <a:pPr fontAlgn="base">
              <a:spcBef>
                <a:spcPts val="0"/>
              </a:spcBef>
            </a:pPr>
            <a:endParaRPr lang="en-US" sz="2400" dirty="0"/>
          </a:p>
          <a:p>
            <a:endParaRPr lang="bg-BG" dirty="0"/>
          </a:p>
        </p:txBody>
      </p:sp>
      <p:pic>
        <p:nvPicPr>
          <p:cNvPr id="4" name="Picture 3"/>
          <p:cNvPicPr>
            <a:picLocks noChangeAspect="1"/>
          </p:cNvPicPr>
          <p:nvPr/>
        </p:nvPicPr>
        <p:blipFill>
          <a:blip r:embed="rId2"/>
          <a:stretch>
            <a:fillRect/>
          </a:stretch>
        </p:blipFill>
        <p:spPr>
          <a:xfrm>
            <a:off x="499046" y="3134048"/>
            <a:ext cx="4514812" cy="823266"/>
          </a:xfrm>
          <a:prstGeom prst="rect">
            <a:avLst/>
          </a:prstGeom>
        </p:spPr>
      </p:pic>
      <p:pic>
        <p:nvPicPr>
          <p:cNvPr id="5" name="Picture 4"/>
          <p:cNvPicPr>
            <a:picLocks noChangeAspect="1"/>
          </p:cNvPicPr>
          <p:nvPr/>
        </p:nvPicPr>
        <p:blipFill>
          <a:blip r:embed="rId3"/>
          <a:stretch>
            <a:fillRect/>
          </a:stretch>
        </p:blipFill>
        <p:spPr>
          <a:xfrm>
            <a:off x="526244" y="4261966"/>
            <a:ext cx="4487614" cy="805172"/>
          </a:xfrm>
          <a:prstGeom prst="rect">
            <a:avLst/>
          </a:prstGeom>
        </p:spPr>
      </p:pic>
      <p:pic>
        <p:nvPicPr>
          <p:cNvPr id="6" name="Picture 5"/>
          <p:cNvPicPr>
            <a:picLocks noChangeAspect="1"/>
          </p:cNvPicPr>
          <p:nvPr/>
        </p:nvPicPr>
        <p:blipFill>
          <a:blip r:embed="rId4"/>
          <a:stretch>
            <a:fillRect/>
          </a:stretch>
        </p:blipFill>
        <p:spPr>
          <a:xfrm>
            <a:off x="526244" y="5371790"/>
            <a:ext cx="4487614" cy="805172"/>
          </a:xfrm>
          <a:prstGeom prst="rect">
            <a:avLst/>
          </a:prstGeom>
        </p:spPr>
      </p:pic>
    </p:spTree>
    <p:extLst>
      <p:ext uri="{BB962C8B-B14F-4D97-AF65-F5344CB8AC3E}">
        <p14:creationId xmlns:p14="http://schemas.microsoft.com/office/powerpoint/2010/main" val="1834047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6266"/>
          </a:xfrm>
        </p:spPr>
        <p:txBody>
          <a:bodyPr>
            <a:normAutofit fontScale="90000"/>
          </a:bodyPr>
          <a:lstStyle/>
          <a:p>
            <a:endParaRPr lang="bg-BG" dirty="0"/>
          </a:p>
        </p:txBody>
      </p:sp>
      <p:sp>
        <p:nvSpPr>
          <p:cNvPr id="3" name="Content Placeholder 2"/>
          <p:cNvSpPr>
            <a:spLocks noGrp="1"/>
          </p:cNvSpPr>
          <p:nvPr>
            <p:ph idx="1"/>
          </p:nvPr>
        </p:nvSpPr>
        <p:spPr>
          <a:xfrm>
            <a:off x="838200" y="1152939"/>
            <a:ext cx="10515600" cy="5024024"/>
          </a:xfrm>
        </p:spPr>
        <p:txBody>
          <a:bodyPr>
            <a:normAutofit fontScale="92500" lnSpcReduction="10000"/>
          </a:bodyPr>
          <a:lstStyle/>
          <a:p>
            <a:pPr marL="0" indent="0">
              <a:buNone/>
            </a:pPr>
            <a:r>
              <a:rPr lang="bg-BG" sz="2600" b="1" dirty="0"/>
              <a:t>Определяне на ключови атрибути(</a:t>
            </a:r>
            <a:r>
              <a:rPr lang="en-US" sz="2600" b="1" dirty="0"/>
              <a:t>PK):</a:t>
            </a:r>
          </a:p>
          <a:p>
            <a:r>
              <a:rPr lang="en-US" sz="2600" dirty="0" err="1"/>
              <a:t>SportGroups</a:t>
            </a:r>
            <a:r>
              <a:rPr lang="en-US" sz="2600" dirty="0"/>
              <a:t> – id</a:t>
            </a:r>
          </a:p>
          <a:p>
            <a:r>
              <a:rPr lang="en-US" sz="2600" dirty="0"/>
              <a:t>Students – id</a:t>
            </a:r>
          </a:p>
          <a:p>
            <a:r>
              <a:rPr lang="en-US" sz="2600" dirty="0"/>
              <a:t>Coaches – id</a:t>
            </a:r>
          </a:p>
          <a:p>
            <a:r>
              <a:rPr lang="en-US" sz="2600" dirty="0"/>
              <a:t>Sports – id</a:t>
            </a:r>
            <a:endParaRPr lang="bg-BG" sz="2600" dirty="0"/>
          </a:p>
          <a:p>
            <a:endParaRPr lang="en-US" sz="2600" dirty="0"/>
          </a:p>
          <a:p>
            <a:pPr marL="0" indent="0">
              <a:buNone/>
            </a:pPr>
            <a:r>
              <a:rPr lang="bg-BG" sz="2600" b="1" dirty="0"/>
              <a:t>Определяне на останалите атрибути</a:t>
            </a:r>
            <a:r>
              <a:rPr lang="bg-BG" dirty="0"/>
              <a:t>:</a:t>
            </a:r>
          </a:p>
          <a:p>
            <a:r>
              <a:rPr lang="en-US" dirty="0" err="1"/>
              <a:t>SportGroups</a:t>
            </a:r>
            <a:r>
              <a:rPr lang="en-US" dirty="0"/>
              <a:t> – location, </a:t>
            </a:r>
            <a:r>
              <a:rPr lang="en-US" dirty="0" err="1"/>
              <a:t>dayOfWeek</a:t>
            </a:r>
            <a:r>
              <a:rPr lang="en-US" dirty="0"/>
              <a:t>, hour, </a:t>
            </a:r>
            <a:r>
              <a:rPr lang="en-US" u="sng" dirty="0" err="1"/>
              <a:t>coach_id</a:t>
            </a:r>
            <a:r>
              <a:rPr lang="en-US" u="sng" dirty="0"/>
              <a:t>, </a:t>
            </a:r>
            <a:r>
              <a:rPr lang="en-US" u="sng" dirty="0" err="1"/>
              <a:t>sport_id</a:t>
            </a:r>
            <a:endParaRPr lang="en-US" u="sng" dirty="0"/>
          </a:p>
          <a:p>
            <a:r>
              <a:rPr lang="en-US" dirty="0"/>
              <a:t>Students- name, </a:t>
            </a:r>
            <a:r>
              <a:rPr lang="en-US" dirty="0" err="1"/>
              <a:t>egn</a:t>
            </a:r>
            <a:r>
              <a:rPr lang="en-US" dirty="0"/>
              <a:t>, address, phone, class,</a:t>
            </a:r>
          </a:p>
          <a:p>
            <a:r>
              <a:rPr lang="en-US" dirty="0"/>
              <a:t>Coaches- name, </a:t>
            </a:r>
            <a:r>
              <a:rPr lang="en-US" dirty="0" err="1"/>
              <a:t>egn</a:t>
            </a:r>
            <a:r>
              <a:rPr lang="en-US" dirty="0"/>
              <a:t>,</a:t>
            </a:r>
          </a:p>
          <a:p>
            <a:r>
              <a:rPr lang="en-US" dirty="0"/>
              <a:t>Sports – name</a:t>
            </a:r>
            <a:endParaRPr lang="bg-BG" dirty="0"/>
          </a:p>
        </p:txBody>
      </p:sp>
    </p:spTree>
    <p:extLst>
      <p:ext uri="{BB962C8B-B14F-4D97-AF65-F5344CB8AC3E}">
        <p14:creationId xmlns:p14="http://schemas.microsoft.com/office/powerpoint/2010/main" val="1995907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6023"/>
          </a:xfrm>
        </p:spPr>
        <p:txBody>
          <a:bodyPr>
            <a:normAutofit/>
          </a:bodyPr>
          <a:lstStyle/>
          <a:p>
            <a:r>
              <a:rPr lang="en-US" sz="3200" dirty="0">
                <a:latin typeface="Arial" panose="020B0604020202020204" pitchFamily="34" charset="0"/>
                <a:cs typeface="Arial" panose="020B0604020202020204" pitchFamily="34" charset="0"/>
              </a:rPr>
              <a:t>ER </a:t>
            </a:r>
            <a:r>
              <a:rPr lang="bg-BG" sz="3200" dirty="0">
                <a:latin typeface="Arial" panose="020B0604020202020204" pitchFamily="34" charset="0"/>
                <a:cs typeface="Arial" panose="020B0604020202020204" pitchFamily="34" charset="0"/>
              </a:rPr>
              <a:t>диаграма</a:t>
            </a:r>
          </a:p>
        </p:txBody>
      </p:sp>
      <p:pic>
        <p:nvPicPr>
          <p:cNvPr id="5" name="Content Placeholder 4"/>
          <p:cNvPicPr>
            <a:picLocks noGrp="1" noChangeAspect="1"/>
          </p:cNvPicPr>
          <p:nvPr>
            <p:ph idx="1"/>
          </p:nvPr>
        </p:nvPicPr>
        <p:blipFill>
          <a:blip r:embed="rId2"/>
          <a:stretch>
            <a:fillRect/>
          </a:stretch>
        </p:blipFill>
        <p:spPr>
          <a:xfrm>
            <a:off x="4126541" y="633136"/>
            <a:ext cx="6441013" cy="5537696"/>
          </a:xfrm>
          <a:prstGeom prst="rect">
            <a:avLst/>
          </a:prstGeom>
        </p:spPr>
      </p:pic>
    </p:spTree>
    <p:extLst>
      <p:ext uri="{BB962C8B-B14F-4D97-AF65-F5344CB8AC3E}">
        <p14:creationId xmlns:p14="http://schemas.microsoft.com/office/powerpoint/2010/main" val="1749716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3541</Words>
  <Application>Microsoft Office PowerPoint</Application>
  <PresentationFormat>Widescreen</PresentationFormat>
  <Paragraphs>200</Paragraphs>
  <Slides>29</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4" baseType="lpstr">
      <vt:lpstr>Arial</vt:lpstr>
      <vt:lpstr>Calibri</vt:lpstr>
      <vt:lpstr>Calibri Light</vt:lpstr>
      <vt:lpstr>Office Theme</vt:lpstr>
      <vt:lpstr>Visio</vt:lpstr>
      <vt:lpstr>Структура на СУБД.  ER модел. Анализ и проектиране на релации. Типове данни. Създаване на БД с помощта на SQL</vt:lpstr>
      <vt:lpstr>БД </vt:lpstr>
      <vt:lpstr>Концептуален модел на БД; ER диаграма</vt:lpstr>
      <vt:lpstr>Компоненти на ER диаграма - обекти </vt:lpstr>
      <vt:lpstr>Компоненти на ER диаграма - атрибути </vt:lpstr>
      <vt:lpstr>Компоненти на ER диаграма – връзки ( relationships)</vt:lpstr>
      <vt:lpstr>Компоненти на ER диаграма – връзки ( relationships)</vt:lpstr>
      <vt:lpstr>СУБД - структура</vt:lpstr>
      <vt:lpstr>PowerPoint Presentation</vt:lpstr>
      <vt:lpstr>Преминаване от ER-модел към релационен DB-модел :</vt:lpstr>
      <vt:lpstr>PowerPoint Presentation</vt:lpstr>
      <vt:lpstr>Типове данни в MySQL</vt:lpstr>
      <vt:lpstr>Типове данни в MySQL</vt:lpstr>
      <vt:lpstr>Типове данни в MySQL</vt:lpstr>
      <vt:lpstr>PowerPoint Presentation</vt:lpstr>
      <vt:lpstr>Типове данни в MySQL</vt:lpstr>
      <vt:lpstr>Типове данни в MySQL</vt:lpstr>
      <vt:lpstr>Създаване на база данни:</vt:lpstr>
      <vt:lpstr>Синтаксис на заявките:</vt:lpstr>
      <vt:lpstr>PowerPoint Presentation</vt:lpstr>
      <vt:lpstr>Синтаксис на ALTER TABLE заявки:</vt:lpstr>
      <vt:lpstr>Синтаксис на други заявки:</vt:lpstr>
      <vt:lpstr>Пример</vt:lpstr>
      <vt:lpstr>PowerPoint Presentation</vt:lpstr>
      <vt:lpstr> Променяме диаграмата така </vt:lpstr>
      <vt:lpstr>Задача:</vt:lpstr>
      <vt:lpstr>Обекти, връзки, ключови атрибути:</vt:lpstr>
      <vt:lpstr>PowerPoint Presentation</vt:lpstr>
      <vt:lpstr>ER диаграма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Структура на СУБД.  ER модел. Анализ и проектиране на релации. Типове данни. Създаване на БД с помощта на SQL</dc:title>
  <dc:creator>Mihaela</dc:creator>
  <cp:lastModifiedBy>T2101A</cp:lastModifiedBy>
  <cp:revision>37</cp:revision>
  <dcterms:created xsi:type="dcterms:W3CDTF">2024-02-18T15:17:54Z</dcterms:created>
  <dcterms:modified xsi:type="dcterms:W3CDTF">2026-02-25T12:37:22Z</dcterms:modified>
</cp:coreProperties>
</file>